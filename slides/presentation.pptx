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We are Group [XX], and our project asks a very practical question: after a major earthquake, can a simple, transparent model tell inspectors which buildings to visit first? We worked with records of 260,601 buildings surveyed after the 2015 Gorkha earthquake in Nepal, and we deliberately limited ourselves to logistic regression so that every prediction can be explained. Over the next fifteen minutes, six of us will walk you through the data, our preprocessing, the two ideas we are most proud of, how we trained and tested the models, what we found, and where we would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 come from the DrivenData competition Richter's Predictor, based on Nepal's post-earthquake building survey. There are 260,601 labelled buildings, each described by 38 features, plus 86,868 unlabelled buildings that we only use for a competition submission. The features fall into four groups. Location is given as three nested region levels, from 31 broad regions down to 11,595 local areas. Then size and age, construction details such as foundation, roof and eleven superstructure-material flags, and finally use and ownership. The data are clean, with no missing values, but the categorical codes are anonymised letters, so we can say a foundation of type 'i' is safer, not exactly what 'i'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problem statement. After an earthquake, inspection teams are scarce and there are hundreds of thousands of buildings. If a model can estimate how badly each building was damaged from information that is already on record, its structure and its location, teams can visit the most dangerous buildings first. Technically this is a three-class classification problem, and the classes are ordered, grade 1 to grade 3. We report micro-F1, which is the competition metric and equals accuracy, and macro-F1, which gives the rare low-damage class equal weight. Because the real goal is prioritisation, we also rank buildings by their predicted probability of grade 3 and measure how many destroyed buildings an inspection list catches. Finally, we restricted ourselves to logistic regression, a model that is transparent and easy to audit.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exploratory analysis, done on the training split only so the holdout stayed untouched. The biggest structural signal is the building material. About 76% of buildings are built from mud-mortar stone, and 38% of those were essentially destroyed. Compare engineered reinforced concrete: only 2% reached grade 3, and 64% had only low damage. Foundation and roof types show the same pattern, which you can see in our report. Notice also that the classes are imbalanced: grade 2 is 57% of buildings and grade 1 only 10%, so always guessing grade 2 already scores 0.57, and grade 1 will be the hardest class.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key finding is geography. Each bar is one of the 31 top-level regions, sorted by its share of destroyed buildings. In region 26 only 9% of buildings reached grade 3; in region 17 it was 81%. The same mud-stone house fares very differently depending on how strongly the ground shook, and location is our best proxy for that. This told us two things: location must be in the model, and the finer location levels, with thousands of local areas, probably carry even more signal, if we can encode them without overfitting. That is one of our highlights.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preprocessing step lives inside a single scikit-learn pipeline, so in cross-validation each step is re-fitted on the training folds only. That is how we avoid data leakage. The data had no missing values, but 1,390 buildings have an age of 995 years, which is clearly a placeholder. Instead of treating them as very old buildings, we add a flag and replace the age with the training median; the flag matters because these buildings are actually damaged less often. Age, area and height are right-skewed, so we log-transform and standardise them. Categorical columns and the top region level are one-hot encoded, and the two fine location levels are target-encoded, which we'll explain next. For feature engineering we tested four candidates, each added on its own and compared fold by fold. We kept only features that improved the mean and won in at least four of five folds: floors_x_log_age. Overall, engineered features changed micro-F1 by +0.02 pp, which is small. Most of the signal is already in the raw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highlight is how we used location. The finest level has 11,595 villages. One-hot encoding that would create thousands of sparse columns and overfit. Instead, we used target encoding: each village is replaced by three numbers, its observed share of grade 1, 2 and 3 buildings, smoothed toward the overall mix when a village is small. The danger with target encoding is leakage, because a building's own label would leak into its feature. scikit-learn's TargetEncoder cross-fits internally, so a building's encoding is always computed from other buildings, and because it sits in our pipeline it is re-fitted inside every CV fold. The effect is the biggest jump in the whole project. Structure alone gives 0.591; adding the region one-hot gives 0.672; and the target-encoded villages take us to 0.735, a gain of +6.3 pp from this one idea. Intuitively, the model now knows how badly each neighbourhood was hit, which is exactly the information an inspector would ask for first. Villages that never appear in training, 0.4% of the test set, simply receive the overall class mix.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highlight tests whether the ordering of the damage grades can be exploited. A standard multinomial model treats grades 1, 2 and 3 as unrelated labels. Our ordinal version instead fits two binary logistic models: one for 'worse than grade 1' and one for 'worse than grade 2', then turns them into three class probabilities. Compared with the multinomial model on identical features, the ordinal approach changed micro-F1 by -0.06 pp and macro-F1 by -0.04 pp, so it made no real difference. This is a negative result, but an informative one: with only three classes the multinomial model is flexible enough to learn the ordering on its own. We also tried class weighting. It lowered macro-F1 by 0.88 pp and raised grade-1 recall from 0.47 to 0.83, but micro-F1 moved by -4.43 pp. Macro-F1 does not improve either, because many grade-2 buildings are now wrongly called grade 1, so grade-1 precision collapses. So weighting is a policy choice, not a free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we trained and tested. We first split the labelled data 80 to 20, stratified by damage grade. The 20 percent holdout, 52,121 buildings, was locked away and used exactly once at the very end. Everything else, comparing experiments and tuning, used stratified five-fold cross-validation on the 80 percent. Because every preprocessing step lives in the pipeline, encoders and scalers are re-fitted inside each fold, so no fold ever sees statistics from its validation data. We ran seven experiments, each adding one idea: a majority baseline, structure only, plus region, plus target-encoded villages, plus engineered features, then a class-balanced and an ordinal variant. The best of the last three, E4, was tuned with GridSearchCV over C from 0.01 to 100, and the best C was 0.3. We checked convergence for every single fit. Finally, after the holdout evaluation, the model was refit on all labelled data to produce our competition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shows cross-validated micro-F1 for every experiment, with error bars across the five folds. The majority baseline scores 0.569. Structure alone lifts this to 0.591, which is useful but modest. Adding the 31 regions gains +8.1 pp, and the target-encoded village levels add another +6.3 pp, the largest single step. Engineered features change micro-F1 by only +0.02 pp. The balanced and ordinal variants score 0.691 and 0.735. The fold-to-fold standard deviations are tiny, at most 0.19 percentage points, so the big steps are not noise. The orange bar marks the configuration we carried forward to tuning. Two lessons stand out. First, what a building is made of matters, but on its own it cannot tell a mud-stone house near the epicentre from one far away; location supplies that context. Second, once location is in, extra hand-made features add almost nothing, so in this problem better information beats cleverer transformations.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moment of truth: the holdout, used once. The tuned model scores a micro-F1 of 0.740 and a macro-F1 of 0.680. That is almost identical to the cross-validated estimate of 0.735, which tells us we did not overfit our model selection. The confusion matrix shows where the model succeeds and fails. Grade 2 is recalled 85% of the time and grade 3 63%. Grade 1 is the hardest, at 48%, because it is rare and often looks like grade 2. Importantly, mistakes are almost always between neighbouring grades: only 0.5% of destroyed buildings are mistaken for low damage, which is the costly error for inspectors. The largest error is grade-3 buildings predicted as grade 2, 36% of them. Many destroyed buildings look structurally ordinary on paper, and what tipped them over, such as local shaking, is not in the data. Precision tells the other side: when the model says grade 3, it is right 76% of the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model back to our problem statement. We ranked every holdout building by its predicted probability of grade 3, the near-destroyed class, and asked: if inspectors work down this list, how many destroyed buildings do they find? Inspecting the top 10 percent finds 28% of all grade-3 buildings; the top 20 percent finds 50%; the top 30 percent finds 66%. A random order would find only 10, 20 and 30 percent, so the ranking is 2.8 times better than random at the top of the list. Within the top 10 percent, 93% of buildings really are grade 3. To make this concrete: in our holdout of 52,121 buildings, the first 5,212 visits on the list would reach about 4,865 destroyed buildings, while a random order would reach about 1,744. In practice, that means the first teams sent out spend most of their time at the buildings that need them most. The curve also shows diminishing returns: after about half the list, most remaining buildings are lower risk, which is useful when planning how many teams to deploy.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we used logistic regression, we can open the model and read it. This chart shows odds ratios for grade-3 damage; red bars raise the odds and blue bars lower them. The strongest risk factors are superstructure: mud mortar stone, age and superstructure: stone flag. The strongest protective factors are foundation type = i, roof type = x and superstructure: cement mortar brick. For materials, mud-mortar stone multiplies the odds of destruction by about 1.4, while cement-mortar brick multiplies them by 0.63 and engineered reinforced concrete by 0.84. In plain language, heavy, brittle construction such as stone held together with mud fails badly in strong shaking, while engineered reinforced concrete and cement-bonded walls hold together. This matches engineering intuition, which gives us confidence that the model learned real physics rather than quirks of the data. We left two things out of this chart: location features, which are the strongest predictors but describe how hard the ground shook rather than the building, and very rare flags, whose estimates are unreliable.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Our final logistic regression reaches a holdout micro-F1 of 0.740, +17.2 pp above the majority baseline. Translated into the problem statement, inspecting just the top 20 percent of buildings on our list finds 50% of the destroyed ones. The single biggest technical contribution was leakage-safe target encoding of the village-level location. We were strict about methodology: every transformation is inside one pipeline, and the holdout was scored once. We ran seven controlled experiments and report the ones that did not help as honestly as the ones that did. And the whole project, from raw CSV to this deck, is reproducible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where would we go next? The most valuable addition would be measured ground shaking, for example peak ground acceleration from USGS ShakeMap, instead of letting region ids act as a proxy. Second, interactions such as material by region would let the model learn that mud-stone is especially dangerous where shaking was strongest, while staying linear and interpretable. Third, a proportional-odds model with shared slopes might use the ordering better. Fourth, decision thresholds should come from inspection capacity, with calibrated probabilities. Lastly, a gradient-boosting benchmark would show how much accuracy we trade for transparency. Thank you for listening;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40"/>
        </a:solidFill>
        <a:effectLst/>
      </p:bgPr>
    </p:bg>
    <p:spTree>
      <p:nvGrpSpPr>
        <p:cNvPr id="1" name=""/>
        <p:cNvGrpSpPr/>
        <p:nvPr/>
      </p:nvGrpSpPr>
      <p:grpSpPr/>
      <p:sp>
        <p:nvSpPr>
          <p:cNvPr id="2" name="Rounded Rectangle 1"/>
          <p:cNvSpPr/>
          <p:nvPr/>
        </p:nvSpPr>
        <p:spPr>
          <a:xfrm>
            <a:off x="548640" y="822960"/>
            <a:ext cx="292608" cy="292608"/>
          </a:xfrm>
          <a:prstGeom prst="roundRect">
            <a:avLst>
              <a:gd name="adj" fmla="val 15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32688" y="822960"/>
            <a:ext cx="292608" cy="292608"/>
          </a:xfrm>
          <a:prstGeom prst="roundRect">
            <a:avLst>
              <a:gd name="adj" fmla="val 15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16736" y="822960"/>
            <a:ext cx="292608" cy="292608"/>
          </a:xfrm>
          <a:prstGeom prst="roundRect">
            <a:avLst>
              <a:gd name="adj" fmla="val 15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10515600" cy="1828800"/>
          </a:xfrm>
          <a:prstGeom prst="rect">
            <a:avLst/>
          </a:prstGeom>
          <a:noFill/>
        </p:spPr>
        <p:txBody>
          <a:bodyPr wrap="square" lIns="0" rIns="0" tIns="0" bIns="0" anchor="t">
            <a:spAutoFit/>
          </a:bodyPr>
          <a:lstStyle/>
          <a:p>
            <a:pPr algn="l"/>
            <a:r>
              <a:rPr sz="4400" b="1" i="0">
                <a:solidFill>
                  <a:srgbClr val="FFFFFF"/>
                </a:solidFill>
                <a:latin typeface="Cambria"/>
              </a:rPr>
              <a:t>Predicting Earthquake Damage to Prioritise Building Inspections</a:t>
            </a:r>
          </a:p>
        </p:txBody>
      </p:sp>
      <p:sp>
        <p:nvSpPr>
          <p:cNvPr id="6" name="TextBox 5"/>
          <p:cNvSpPr txBox="1"/>
          <p:nvPr/>
        </p:nvSpPr>
        <p:spPr>
          <a:xfrm>
            <a:off x="548640" y="3246120"/>
            <a:ext cx="10058400" cy="822960"/>
          </a:xfrm>
          <a:prstGeom prst="rect">
            <a:avLst/>
          </a:prstGeom>
          <a:noFill/>
        </p:spPr>
        <p:txBody>
          <a:bodyPr wrap="square" lIns="0" rIns="0" tIns="0" bIns="0" anchor="t">
            <a:spAutoFit/>
          </a:bodyPr>
          <a:lstStyle/>
          <a:p>
            <a:pPr algn="l"/>
            <a:r>
              <a:rPr sz="2000" b="0" i="0">
                <a:solidFill>
                  <a:srgbClr val="86B6EF"/>
                </a:solidFill>
                <a:latin typeface="Calibri"/>
              </a:rPr>
              <a:t>Logistic regression on 260,601 buildings from the 2015 Gorkha earthquake, Nepal</a:t>
            </a:r>
          </a:p>
        </p:txBody>
      </p:sp>
      <p:sp>
        <p:nvSpPr>
          <p:cNvPr id="7" name="TextBox 6"/>
          <p:cNvSpPr txBox="1"/>
          <p:nvPr/>
        </p:nvSpPr>
        <p:spPr>
          <a:xfrm>
            <a:off x="548640" y="4572000"/>
            <a:ext cx="10058400" cy="1280160"/>
          </a:xfrm>
          <a:prstGeom prst="rect">
            <a:avLst/>
          </a:prstGeom>
          <a:noFill/>
        </p:spPr>
        <p:txBody>
          <a:bodyPr wrap="square" lIns="0" rIns="0" tIns="0" bIns="0" anchor="t">
            <a:spAutoFit/>
          </a:bodyPr>
          <a:lstStyle/>
          <a:p>
            <a:pPr algn="l">
              <a:spcAft>
                <a:spcPts val="600"/>
              </a:spcAft>
            </a:pPr>
            <a:r>
              <a:rPr sz="1500" b="1" i="0">
                <a:solidFill>
                  <a:srgbClr val="FFFFFF"/>
                </a:solidFill>
                <a:latin typeface="Calibri"/>
              </a:rPr>
              <a:t>Course: </a:t>
            </a:r>
            <a:r>
              <a:rPr sz="1500" b="0" i="0">
                <a:solidFill>
                  <a:srgbClr val="FFFFFF"/>
                </a:solidFill>
                <a:latin typeface="Calibri"/>
              </a:rPr>
              <a:t>[COURSE CODE] – [COURSE NAME]</a:t>
            </a:r>
          </a:p>
          <a:p>
            <a:pPr algn="l">
              <a:spcAft>
                <a:spcPts val="600"/>
              </a:spcAft>
            </a:pPr>
            <a:r>
              <a:rPr sz="1500" b="1" i="0">
                <a:solidFill>
                  <a:srgbClr val="FFFFFF"/>
                </a:solidFill>
                <a:latin typeface="Calibri"/>
              </a:rPr>
              <a:t>Group [XX]: </a:t>
            </a:r>
            <a:r>
              <a:rPr sz="1500" b="0" i="0">
                <a:solidFill>
                  <a:srgbClr val="FFFFFF"/>
                </a:solidFill>
                <a:latin typeface="Calibri"/>
              </a:rPr>
              <a:t>[Member 1 (ID)] · [Member 2 (ID)] · [Member 3 (ID)] · [Member 4 (ID)] · [Member 5 (ID)] · [Member 6 (ID)]</a:t>
            </a:r>
          </a:p>
        </p:txBody>
      </p:sp>
      <p:sp>
        <p:nvSpPr>
          <p:cNvPr id="8" name="TextBox 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6B6EF"/>
                </a:solidFill>
                <a:latin typeface="Calibri"/>
              </a:rPr>
              <a:t>Group [XX]  ·  Earthquake damage prediction with logistic regression</a:t>
            </a:r>
          </a:p>
        </p:txBody>
      </p:sp>
      <p:sp>
        <p:nvSpPr>
          <p:cNvPr id="9" name="TextBox 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6B6E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 SET DESCRIPTION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Richter's Predictor: one row per building, three damage grades</a:t>
            </a:r>
          </a:p>
        </p:txBody>
      </p:sp>
      <p:sp>
        <p:nvSpPr>
          <p:cNvPr id="4" name="TextBox 3"/>
          <p:cNvSpPr txBox="1"/>
          <p:nvPr/>
        </p:nvSpPr>
        <p:spPr>
          <a:xfrm>
            <a:off x="548640" y="1600200"/>
            <a:ext cx="2651760" cy="685800"/>
          </a:xfrm>
          <a:prstGeom prst="rect">
            <a:avLst/>
          </a:prstGeom>
          <a:noFill/>
        </p:spPr>
        <p:txBody>
          <a:bodyPr wrap="square" lIns="0" rIns="0" tIns="0" bIns="0" anchor="t">
            <a:spAutoFit/>
          </a:bodyPr>
          <a:lstStyle/>
          <a:p>
            <a:pPr algn="l"/>
            <a:r>
              <a:rPr sz="4000" b="1" i="0">
                <a:solidFill>
                  <a:srgbClr val="EB6834"/>
                </a:solidFill>
                <a:latin typeface="Cambria"/>
              </a:rPr>
              <a:t>260,601</a:t>
            </a:r>
          </a:p>
        </p:txBody>
      </p:sp>
      <p:sp>
        <p:nvSpPr>
          <p:cNvPr id="5" name="TextBox 4"/>
          <p:cNvSpPr txBox="1"/>
          <p:nvPr/>
        </p:nvSpPr>
        <p:spPr>
          <a:xfrm>
            <a:off x="54864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labelled buildings</a:t>
            </a:r>
          </a:p>
        </p:txBody>
      </p:sp>
      <p:sp>
        <p:nvSpPr>
          <p:cNvPr id="6" name="TextBox 5"/>
          <p:cNvSpPr txBox="1"/>
          <p:nvPr/>
        </p:nvSpPr>
        <p:spPr>
          <a:xfrm>
            <a:off x="338328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38</a:t>
            </a:r>
          </a:p>
        </p:txBody>
      </p:sp>
      <p:sp>
        <p:nvSpPr>
          <p:cNvPr id="7" name="TextBox 6"/>
          <p:cNvSpPr txBox="1"/>
          <p:nvPr/>
        </p:nvSpPr>
        <p:spPr>
          <a:xfrm>
            <a:off x="338328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features per building</a:t>
            </a:r>
          </a:p>
        </p:txBody>
      </p:sp>
      <p:sp>
        <p:nvSpPr>
          <p:cNvPr id="8" name="TextBox 7"/>
          <p:cNvSpPr txBox="1"/>
          <p:nvPr/>
        </p:nvSpPr>
        <p:spPr>
          <a:xfrm>
            <a:off x="621792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a:t>
            </a:r>
          </a:p>
        </p:txBody>
      </p:sp>
      <p:sp>
        <p:nvSpPr>
          <p:cNvPr id="9" name="TextBox 8"/>
          <p:cNvSpPr txBox="1"/>
          <p:nvPr/>
        </p:nvSpPr>
        <p:spPr>
          <a:xfrm>
            <a:off x="621792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ordered damage grades</a:t>
            </a:r>
          </a:p>
        </p:txBody>
      </p:sp>
      <p:sp>
        <p:nvSpPr>
          <p:cNvPr id="10" name="TextBox 9"/>
          <p:cNvSpPr txBox="1"/>
          <p:nvPr/>
        </p:nvSpPr>
        <p:spPr>
          <a:xfrm>
            <a:off x="905256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86,868</a:t>
            </a:r>
          </a:p>
        </p:txBody>
      </p:sp>
      <p:sp>
        <p:nvSpPr>
          <p:cNvPr id="11" name="TextBox 10"/>
          <p:cNvSpPr txBox="1"/>
          <p:nvPr/>
        </p:nvSpPr>
        <p:spPr>
          <a:xfrm>
            <a:off x="905256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unlabelled test buildings</a:t>
            </a:r>
          </a:p>
        </p:txBody>
      </p:sp>
      <p:sp>
        <p:nvSpPr>
          <p:cNvPr id="12" name="Rounded Rectangle 11"/>
          <p:cNvSpPr/>
          <p:nvPr/>
        </p:nvSpPr>
        <p:spPr>
          <a:xfrm>
            <a:off x="54864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4" name="TextBox 13"/>
          <p:cNvSpPr txBox="1"/>
          <p:nvPr/>
        </p:nvSpPr>
        <p:spPr>
          <a:xfrm>
            <a:off x="77724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Location</a:t>
            </a:r>
          </a:p>
        </p:txBody>
      </p:sp>
      <p:sp>
        <p:nvSpPr>
          <p:cNvPr id="15" name="TextBox 14"/>
          <p:cNvSpPr txBox="1"/>
          <p:nvPr/>
        </p:nvSpPr>
        <p:spPr>
          <a:xfrm>
            <a:off x="77724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3 nested region levels: 31 / 1,414 / 11,595 ids</a:t>
            </a:r>
          </a:p>
        </p:txBody>
      </p:sp>
      <p:sp>
        <p:nvSpPr>
          <p:cNvPr id="16" name="Rounded Rectangle 15"/>
          <p:cNvSpPr/>
          <p:nvPr/>
        </p:nvSpPr>
        <p:spPr>
          <a:xfrm>
            <a:off x="338328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1188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8" name="TextBox 17"/>
          <p:cNvSpPr txBox="1"/>
          <p:nvPr/>
        </p:nvSpPr>
        <p:spPr>
          <a:xfrm>
            <a:off x="361188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Size &amp; age</a:t>
            </a:r>
          </a:p>
        </p:txBody>
      </p:sp>
      <p:sp>
        <p:nvSpPr>
          <p:cNvPr id="19" name="TextBox 18"/>
          <p:cNvSpPr txBox="1"/>
          <p:nvPr/>
        </p:nvSpPr>
        <p:spPr>
          <a:xfrm>
            <a:off x="361188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age, footprint area, height, number of floors</a:t>
            </a:r>
          </a:p>
        </p:txBody>
      </p:sp>
      <p:sp>
        <p:nvSpPr>
          <p:cNvPr id="20" name="Rounded Rectangle 19"/>
          <p:cNvSpPr/>
          <p:nvPr/>
        </p:nvSpPr>
        <p:spPr>
          <a:xfrm>
            <a:off x="621792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22" name="TextBox 21"/>
          <p:cNvSpPr txBox="1"/>
          <p:nvPr/>
        </p:nvSpPr>
        <p:spPr>
          <a:xfrm>
            <a:off x="644652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Construction</a:t>
            </a:r>
          </a:p>
        </p:txBody>
      </p:sp>
      <p:sp>
        <p:nvSpPr>
          <p:cNvPr id="23" name="TextBox 22"/>
          <p:cNvSpPr txBox="1"/>
          <p:nvPr/>
        </p:nvSpPr>
        <p:spPr>
          <a:xfrm>
            <a:off x="644652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foundation, roof, floor types and 11 superstructure-material flags</a:t>
            </a:r>
          </a:p>
        </p:txBody>
      </p:sp>
      <p:sp>
        <p:nvSpPr>
          <p:cNvPr id="24" name="Rounded Rectangle 23"/>
          <p:cNvSpPr/>
          <p:nvPr/>
        </p:nvSpPr>
        <p:spPr>
          <a:xfrm>
            <a:off x="905256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28116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6" name="TextBox 25"/>
          <p:cNvSpPr txBox="1"/>
          <p:nvPr/>
        </p:nvSpPr>
        <p:spPr>
          <a:xfrm>
            <a:off x="928116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Use &amp; ownership</a:t>
            </a:r>
          </a:p>
        </p:txBody>
      </p:sp>
      <p:sp>
        <p:nvSpPr>
          <p:cNvPr id="27" name="TextBox 26"/>
          <p:cNvSpPr txBox="1"/>
          <p:nvPr/>
        </p:nvSpPr>
        <p:spPr>
          <a:xfrm>
            <a:off x="928116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secondary uses, legal ownership, number of families</a:t>
            </a:r>
          </a:p>
        </p:txBody>
      </p:sp>
      <p:sp>
        <p:nvSpPr>
          <p:cNvPr id="28" name="TextBox 27"/>
          <p:cNvSpPr txBox="1"/>
          <p:nvPr/>
        </p:nvSpPr>
        <p:spPr>
          <a:xfrm>
            <a:off x="548640" y="5760720"/>
            <a:ext cx="10972800" cy="457200"/>
          </a:xfrm>
          <a:prstGeom prst="rect">
            <a:avLst/>
          </a:prstGeom>
          <a:noFill/>
        </p:spPr>
        <p:txBody>
          <a:bodyPr wrap="square" lIns="0" rIns="0" tIns="0" bIns="0" anchor="t">
            <a:spAutoFit/>
          </a:bodyPr>
          <a:lstStyle/>
          <a:p>
            <a:pPr algn="l"/>
            <a:r>
              <a:rPr sz="1200" b="0" i="0">
                <a:solidFill>
                  <a:srgbClr val="8A8984"/>
                </a:solidFill>
                <a:latin typeface="Calibri"/>
              </a:rPr>
              <a:t>Clean data: 0 missing values. Category codes are anonymised letters. Source: DrivenData / Nepal 2015 earthquake building survey.</a:t>
            </a:r>
          </a:p>
        </p:txBody>
      </p:sp>
      <p:sp>
        <p:nvSpPr>
          <p:cNvPr id="29" name="TextBox 28"/>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30" name="TextBox 29"/>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PROBLEM STATEMENT</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Which buildings should inspectors visit first?</a:t>
            </a:r>
          </a:p>
        </p:txBody>
      </p:sp>
      <p:sp>
        <p:nvSpPr>
          <p:cNvPr id="4" name="Rounded Rectangle 3"/>
          <p:cNvSpPr/>
          <p:nvPr/>
        </p:nvSpPr>
        <p:spPr>
          <a:xfrm>
            <a:off x="548640" y="1600200"/>
            <a:ext cx="5852160" cy="41605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5212080" cy="3566160"/>
          </a:xfrm>
          <a:prstGeom prst="rect">
            <a:avLst/>
          </a:prstGeom>
          <a:noFill/>
        </p:spPr>
        <p:txBody>
          <a:bodyPr wrap="square" lIns="0" rIns="0" tIns="0" bIns="0" anchor="ctr">
            <a:spAutoFit/>
          </a:bodyPr>
          <a:lstStyle/>
          <a:p>
            <a:pPr algn="l"/>
            <a:r>
              <a:rPr sz="2200" b="0" i="1">
                <a:solidFill>
                  <a:srgbClr val="FFFFFF"/>
                </a:solidFill>
                <a:latin typeface="Cambria"/>
              </a:rPr>
              <a:t>“Can we predict how badly a building was damaged in the 2015 Gorkha earthquake from its structure and location, so post-disaster inspectors can prioritise which buildings to assess first?”</a:t>
            </a:r>
          </a:p>
        </p:txBody>
      </p:sp>
      <p:sp>
        <p:nvSpPr>
          <p:cNvPr id="6" name="Oval 5"/>
          <p:cNvSpPr/>
          <p:nvPr/>
        </p:nvSpPr>
        <p:spPr>
          <a:xfrm>
            <a:off x="6812280" y="164592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7406640" y="1600200"/>
            <a:ext cx="4297680" cy="320040"/>
          </a:xfrm>
          <a:prstGeom prst="rect">
            <a:avLst/>
          </a:prstGeom>
          <a:noFill/>
        </p:spPr>
        <p:txBody>
          <a:bodyPr wrap="square" lIns="0" rIns="0" tIns="0" bIns="0" anchor="t">
            <a:spAutoFit/>
          </a:bodyPr>
          <a:lstStyle/>
          <a:p>
            <a:pPr algn="l"/>
            <a:r>
              <a:rPr sz="1700" b="1" i="0">
                <a:solidFill>
                  <a:srgbClr val="142340"/>
                </a:solidFill>
                <a:latin typeface="Calibri"/>
              </a:rPr>
              <a:t>Task</a:t>
            </a:r>
          </a:p>
        </p:txBody>
      </p:sp>
      <p:sp>
        <p:nvSpPr>
          <p:cNvPr id="8" name="TextBox 7"/>
          <p:cNvSpPr txBox="1"/>
          <p:nvPr/>
        </p:nvSpPr>
        <p:spPr>
          <a:xfrm>
            <a:off x="7406640" y="1938528"/>
            <a:ext cx="4297680" cy="685800"/>
          </a:xfrm>
          <a:prstGeom prst="rect">
            <a:avLst/>
          </a:prstGeom>
          <a:noFill/>
        </p:spPr>
        <p:txBody>
          <a:bodyPr wrap="square" lIns="0" rIns="0" tIns="0" bIns="0" anchor="t">
            <a:spAutoFit/>
          </a:bodyPr>
          <a:lstStyle/>
          <a:p>
            <a:pPr algn="l"/>
            <a:r>
              <a:rPr sz="1400" b="0" i="0">
                <a:solidFill>
                  <a:srgbClr val="52514E"/>
                </a:solidFill>
                <a:latin typeface="Calibri"/>
              </a:rPr>
              <a:t>3-class ordinal classification: grade 1 (low), 2 (medium), 3 (near-destroyed).</a:t>
            </a:r>
          </a:p>
        </p:txBody>
      </p:sp>
      <p:sp>
        <p:nvSpPr>
          <p:cNvPr id="9" name="Oval 8"/>
          <p:cNvSpPr/>
          <p:nvPr/>
        </p:nvSpPr>
        <p:spPr>
          <a:xfrm>
            <a:off x="6812280" y="2715768"/>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7406640" y="2670048"/>
            <a:ext cx="4297680" cy="320040"/>
          </a:xfrm>
          <a:prstGeom prst="rect">
            <a:avLst/>
          </a:prstGeom>
          <a:noFill/>
        </p:spPr>
        <p:txBody>
          <a:bodyPr wrap="square" lIns="0" rIns="0" tIns="0" bIns="0" anchor="t">
            <a:spAutoFit/>
          </a:bodyPr>
          <a:lstStyle/>
          <a:p>
            <a:pPr algn="l"/>
            <a:r>
              <a:rPr sz="1700" b="1" i="0">
                <a:solidFill>
                  <a:srgbClr val="142340"/>
                </a:solidFill>
                <a:latin typeface="Calibri"/>
              </a:rPr>
              <a:t>Metric</a:t>
            </a:r>
          </a:p>
        </p:txBody>
      </p:sp>
      <p:sp>
        <p:nvSpPr>
          <p:cNvPr id="11" name="TextBox 10"/>
          <p:cNvSpPr txBox="1"/>
          <p:nvPr/>
        </p:nvSpPr>
        <p:spPr>
          <a:xfrm>
            <a:off x="7406640" y="3008376"/>
            <a:ext cx="4297680" cy="685800"/>
          </a:xfrm>
          <a:prstGeom prst="rect">
            <a:avLst/>
          </a:prstGeom>
          <a:noFill/>
        </p:spPr>
        <p:txBody>
          <a:bodyPr wrap="square" lIns="0" rIns="0" tIns="0" bIns="0" anchor="t">
            <a:spAutoFit/>
          </a:bodyPr>
          <a:lstStyle/>
          <a:p>
            <a:pPr algn="l"/>
            <a:r>
              <a:rPr sz="1400" b="0" i="0">
                <a:solidFill>
                  <a:srgbClr val="52514E"/>
                </a:solidFill>
                <a:latin typeface="Calibri"/>
              </a:rPr>
              <a:t>Micro-F1 (the competition metric, equal to accuracy) plus macro-F1 so that the rare grade 1 counts too.</a:t>
            </a:r>
          </a:p>
        </p:txBody>
      </p:sp>
      <p:sp>
        <p:nvSpPr>
          <p:cNvPr id="12" name="Oval 11"/>
          <p:cNvSpPr/>
          <p:nvPr/>
        </p:nvSpPr>
        <p:spPr>
          <a:xfrm>
            <a:off x="6812280" y="3785615"/>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3" name="TextBox 12"/>
          <p:cNvSpPr txBox="1"/>
          <p:nvPr/>
        </p:nvSpPr>
        <p:spPr>
          <a:xfrm>
            <a:off x="7406640" y="3739896"/>
            <a:ext cx="4297680" cy="320040"/>
          </a:xfrm>
          <a:prstGeom prst="rect">
            <a:avLst/>
          </a:prstGeom>
          <a:noFill/>
        </p:spPr>
        <p:txBody>
          <a:bodyPr wrap="square" lIns="0" rIns="0" tIns="0" bIns="0" anchor="t">
            <a:spAutoFit/>
          </a:bodyPr>
          <a:lstStyle/>
          <a:p>
            <a:pPr algn="l"/>
            <a:r>
              <a:rPr sz="1700" b="1" i="0">
                <a:solidFill>
                  <a:srgbClr val="142340"/>
                </a:solidFill>
                <a:latin typeface="Calibri"/>
              </a:rPr>
              <a:t>Use</a:t>
            </a:r>
          </a:p>
        </p:txBody>
      </p:sp>
      <p:sp>
        <p:nvSpPr>
          <p:cNvPr id="14" name="TextBox 13"/>
          <p:cNvSpPr txBox="1"/>
          <p:nvPr/>
        </p:nvSpPr>
        <p:spPr>
          <a:xfrm>
            <a:off x="7406640" y="4078224"/>
            <a:ext cx="4297680" cy="685800"/>
          </a:xfrm>
          <a:prstGeom prst="rect">
            <a:avLst/>
          </a:prstGeom>
          <a:noFill/>
        </p:spPr>
        <p:txBody>
          <a:bodyPr wrap="square" lIns="0" rIns="0" tIns="0" bIns="0" anchor="t">
            <a:spAutoFit/>
          </a:bodyPr>
          <a:lstStyle/>
          <a:p>
            <a:pPr algn="l"/>
            <a:r>
              <a:rPr sz="1400" b="0" i="0">
                <a:solidFill>
                  <a:srgbClr val="52514E"/>
                </a:solidFill>
                <a:latin typeface="Calibri"/>
              </a:rPr>
              <a:t>Rank buildings by predicted P(grade 3) and measure how many destroyed buildings an inspection list finds.</a:t>
            </a:r>
          </a:p>
        </p:txBody>
      </p:sp>
      <p:sp>
        <p:nvSpPr>
          <p:cNvPr id="15" name="Oval 14"/>
          <p:cNvSpPr/>
          <p:nvPr/>
        </p:nvSpPr>
        <p:spPr>
          <a:xfrm>
            <a:off x="6812280" y="4855464"/>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6" name="TextBox 15"/>
          <p:cNvSpPr txBox="1"/>
          <p:nvPr/>
        </p:nvSpPr>
        <p:spPr>
          <a:xfrm>
            <a:off x="7406640" y="4809744"/>
            <a:ext cx="4297680" cy="320040"/>
          </a:xfrm>
          <a:prstGeom prst="rect">
            <a:avLst/>
          </a:prstGeom>
          <a:noFill/>
        </p:spPr>
        <p:txBody>
          <a:bodyPr wrap="square" lIns="0" rIns="0" tIns="0" bIns="0" anchor="t">
            <a:spAutoFit/>
          </a:bodyPr>
          <a:lstStyle/>
          <a:p>
            <a:pPr algn="l"/>
            <a:r>
              <a:rPr sz="1700" b="1" i="0">
                <a:solidFill>
                  <a:srgbClr val="142340"/>
                </a:solidFill>
                <a:latin typeface="Calibri"/>
              </a:rPr>
              <a:t>Constraint</a:t>
            </a:r>
          </a:p>
        </p:txBody>
      </p:sp>
      <p:sp>
        <p:nvSpPr>
          <p:cNvPr id="17" name="TextBox 16"/>
          <p:cNvSpPr txBox="1"/>
          <p:nvPr/>
        </p:nvSpPr>
        <p:spPr>
          <a:xfrm>
            <a:off x="7406640" y="5148072"/>
            <a:ext cx="4297680" cy="685800"/>
          </a:xfrm>
          <a:prstGeom prst="rect">
            <a:avLst/>
          </a:prstGeom>
          <a:noFill/>
        </p:spPr>
        <p:txBody>
          <a:bodyPr wrap="square" lIns="0" rIns="0" tIns="0" bIns="0" anchor="t">
            <a:spAutoFit/>
          </a:bodyPr>
          <a:lstStyle/>
          <a:p>
            <a:pPr algn="l"/>
            <a:r>
              <a:rPr sz="1400" b="0" i="0">
                <a:solidFill>
                  <a:srgbClr val="52514E"/>
                </a:solidFill>
                <a:latin typeface="Calibri"/>
              </a:rPr>
              <a:t>Logistic regression only: transparent, fast and easy to audit.</a:t>
            </a:r>
          </a:p>
        </p:txBody>
      </p:sp>
      <p:sp>
        <p:nvSpPr>
          <p:cNvPr id="18" name="TextBox 1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19" name="TextBox 1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Building material is the clearest structural signal</a:t>
            </a:r>
          </a:p>
        </p:txBody>
      </p:sp>
      <p:pic>
        <p:nvPicPr>
          <p:cNvPr id="4" name="Picture 3" descr="fig03_damage_by_superstructure.png"/>
          <p:cNvPicPr>
            <a:picLocks noChangeAspect="1"/>
          </p:cNvPicPr>
          <p:nvPr/>
        </p:nvPicPr>
        <p:blipFill>
          <a:blip r:embed="rId2"/>
          <a:stretch>
            <a:fillRect/>
          </a:stretch>
        </p:blipFill>
        <p:spPr>
          <a:xfrm>
            <a:off x="457199" y="2045507"/>
            <a:ext cx="7223760" cy="3635664"/>
          </a:xfrm>
          <a:prstGeom prst="rect">
            <a:avLst/>
          </a:prstGeom>
        </p:spPr>
      </p:pic>
      <p:sp>
        <p:nvSpPr>
          <p:cNvPr id="5" name="Rounded Rectangle 4"/>
          <p:cNvSpPr/>
          <p:nvPr/>
        </p:nvSpPr>
        <p:spPr>
          <a:xfrm>
            <a:off x="8001000" y="1554480"/>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0" y="1664207"/>
            <a:ext cx="1463040" cy="640080"/>
          </a:xfrm>
          <a:prstGeom prst="rect">
            <a:avLst/>
          </a:prstGeom>
          <a:noFill/>
        </p:spPr>
        <p:txBody>
          <a:bodyPr wrap="square" lIns="0" rIns="0" tIns="0" bIns="0" anchor="t">
            <a:spAutoFit/>
          </a:bodyPr>
          <a:lstStyle/>
          <a:p>
            <a:pPr algn="l"/>
            <a:r>
              <a:rPr sz="3000" b="1" i="0">
                <a:solidFill>
                  <a:srgbClr val="EB6834"/>
                </a:solidFill>
                <a:latin typeface="Cambria"/>
              </a:rPr>
              <a:t>76%</a:t>
            </a:r>
          </a:p>
        </p:txBody>
      </p:sp>
      <p:sp>
        <p:nvSpPr>
          <p:cNvPr id="7" name="TextBox 6"/>
          <p:cNvSpPr txBox="1"/>
          <p:nvPr/>
        </p:nvSpPr>
        <p:spPr>
          <a:xfrm>
            <a:off x="9646920" y="1709928"/>
            <a:ext cx="1920240" cy="640080"/>
          </a:xfrm>
          <a:prstGeom prst="rect">
            <a:avLst/>
          </a:prstGeom>
          <a:noFill/>
        </p:spPr>
        <p:txBody>
          <a:bodyPr wrap="square" lIns="0" rIns="0" tIns="0" bIns="0" anchor="t">
            <a:spAutoFit/>
          </a:bodyPr>
          <a:lstStyle/>
          <a:p>
            <a:pPr algn="l"/>
            <a:r>
              <a:rPr sz="1400" b="1" i="0">
                <a:solidFill>
                  <a:srgbClr val="142340"/>
                </a:solidFill>
                <a:latin typeface="Calibri"/>
              </a:rPr>
              <a:t>of buildings use mud-mortar stone</a:t>
            </a:r>
          </a:p>
        </p:txBody>
      </p:sp>
      <p:sp>
        <p:nvSpPr>
          <p:cNvPr id="8" name="TextBox 7"/>
          <p:cNvSpPr txBox="1"/>
          <p:nvPr/>
        </p:nvSpPr>
        <p:spPr>
          <a:xfrm>
            <a:off x="8229600" y="2359152"/>
            <a:ext cx="3291840" cy="548640"/>
          </a:xfrm>
          <a:prstGeom prst="rect">
            <a:avLst/>
          </a:prstGeom>
          <a:noFill/>
        </p:spPr>
        <p:txBody>
          <a:bodyPr wrap="square" lIns="0" rIns="0" tIns="0" bIns="0" anchor="t">
            <a:spAutoFit/>
          </a:bodyPr>
          <a:lstStyle/>
          <a:p>
            <a:pPr algn="l"/>
            <a:r>
              <a:rPr sz="1300" b="0" i="0">
                <a:solidFill>
                  <a:srgbClr val="52514E"/>
                </a:solidFill>
                <a:latin typeface="Calibri"/>
              </a:rPr>
              <a:t>38% of them were destroyed (grade 3)</a:t>
            </a:r>
          </a:p>
        </p:txBody>
      </p:sp>
      <p:sp>
        <p:nvSpPr>
          <p:cNvPr id="9" name="Rounded Rectangle 8"/>
          <p:cNvSpPr/>
          <p:nvPr/>
        </p:nvSpPr>
        <p:spPr>
          <a:xfrm>
            <a:off x="8001000" y="3127248"/>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236976"/>
            <a:ext cx="1463040" cy="640080"/>
          </a:xfrm>
          <a:prstGeom prst="rect">
            <a:avLst/>
          </a:prstGeom>
          <a:noFill/>
        </p:spPr>
        <p:txBody>
          <a:bodyPr wrap="square" lIns="0" rIns="0" tIns="0" bIns="0" anchor="t">
            <a:spAutoFit/>
          </a:bodyPr>
          <a:lstStyle/>
          <a:p>
            <a:pPr algn="l"/>
            <a:r>
              <a:rPr sz="3000" b="1" i="0">
                <a:solidFill>
                  <a:srgbClr val="142340"/>
                </a:solidFill>
                <a:latin typeface="Cambria"/>
              </a:rPr>
              <a:t>2%</a:t>
            </a:r>
          </a:p>
        </p:txBody>
      </p:sp>
      <p:sp>
        <p:nvSpPr>
          <p:cNvPr id="11" name="TextBox 10"/>
          <p:cNvSpPr txBox="1"/>
          <p:nvPr/>
        </p:nvSpPr>
        <p:spPr>
          <a:xfrm>
            <a:off x="9646920" y="3282696"/>
            <a:ext cx="1920240" cy="640080"/>
          </a:xfrm>
          <a:prstGeom prst="rect">
            <a:avLst/>
          </a:prstGeom>
          <a:noFill/>
        </p:spPr>
        <p:txBody>
          <a:bodyPr wrap="square" lIns="0" rIns="0" tIns="0" bIns="0" anchor="t">
            <a:spAutoFit/>
          </a:bodyPr>
          <a:lstStyle/>
          <a:p>
            <a:pPr algn="l"/>
            <a:r>
              <a:rPr sz="1400" b="1" i="0">
                <a:solidFill>
                  <a:srgbClr val="142340"/>
                </a:solidFill>
                <a:latin typeface="Calibri"/>
              </a:rPr>
              <a:t>grade-3 rate for engineered RC</a:t>
            </a:r>
          </a:p>
        </p:txBody>
      </p:sp>
      <p:sp>
        <p:nvSpPr>
          <p:cNvPr id="12" name="TextBox 11"/>
          <p:cNvSpPr txBox="1"/>
          <p:nvPr/>
        </p:nvSpPr>
        <p:spPr>
          <a:xfrm>
            <a:off x="8229600" y="3931920"/>
            <a:ext cx="3291840" cy="548640"/>
          </a:xfrm>
          <a:prstGeom prst="rect">
            <a:avLst/>
          </a:prstGeom>
          <a:noFill/>
        </p:spPr>
        <p:txBody>
          <a:bodyPr wrap="square" lIns="0" rIns="0" tIns="0" bIns="0" anchor="t">
            <a:spAutoFit/>
          </a:bodyPr>
          <a:lstStyle/>
          <a:p>
            <a:pPr algn="l"/>
            <a:r>
              <a:rPr sz="1300" b="0" i="0">
                <a:solidFill>
                  <a:srgbClr val="52514E"/>
                </a:solidFill>
                <a:latin typeface="Calibri"/>
              </a:rPr>
              <a:t>64% of RC buildings had only low damage</a:t>
            </a:r>
          </a:p>
        </p:txBody>
      </p:sp>
      <p:sp>
        <p:nvSpPr>
          <p:cNvPr id="13" name="Rounded Rectangle 12"/>
          <p:cNvSpPr/>
          <p:nvPr/>
        </p:nvSpPr>
        <p:spPr>
          <a:xfrm>
            <a:off x="8001000" y="4700016"/>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809744"/>
            <a:ext cx="1463040" cy="640080"/>
          </a:xfrm>
          <a:prstGeom prst="rect">
            <a:avLst/>
          </a:prstGeom>
          <a:noFill/>
        </p:spPr>
        <p:txBody>
          <a:bodyPr wrap="square" lIns="0" rIns="0" tIns="0" bIns="0" anchor="t">
            <a:spAutoFit/>
          </a:bodyPr>
          <a:lstStyle/>
          <a:p>
            <a:pPr algn="l"/>
            <a:r>
              <a:rPr sz="3000" b="1" i="0">
                <a:solidFill>
                  <a:srgbClr val="142340"/>
                </a:solidFill>
                <a:latin typeface="Cambria"/>
              </a:rPr>
              <a:t>10%</a:t>
            </a:r>
          </a:p>
        </p:txBody>
      </p:sp>
      <p:sp>
        <p:nvSpPr>
          <p:cNvPr id="15" name="TextBox 14"/>
          <p:cNvSpPr txBox="1"/>
          <p:nvPr/>
        </p:nvSpPr>
        <p:spPr>
          <a:xfrm>
            <a:off x="9646920" y="4855464"/>
            <a:ext cx="1920240" cy="640080"/>
          </a:xfrm>
          <a:prstGeom prst="rect">
            <a:avLst/>
          </a:prstGeom>
          <a:noFill/>
        </p:spPr>
        <p:txBody>
          <a:bodyPr wrap="square" lIns="0" rIns="0" tIns="0" bIns="0" anchor="t">
            <a:spAutoFit/>
          </a:bodyPr>
          <a:lstStyle/>
          <a:p>
            <a:pPr algn="l"/>
            <a:r>
              <a:rPr sz="1400" b="1" i="0">
                <a:solidFill>
                  <a:srgbClr val="142340"/>
                </a:solidFill>
                <a:latin typeface="Calibri"/>
              </a:rPr>
              <a:t>of buildings are grade 1</a:t>
            </a:r>
          </a:p>
        </p:txBody>
      </p:sp>
      <p:sp>
        <p:nvSpPr>
          <p:cNvPr id="16" name="TextBox 15"/>
          <p:cNvSpPr txBox="1"/>
          <p:nvPr/>
        </p:nvSpPr>
        <p:spPr>
          <a:xfrm>
            <a:off x="8229600" y="5504688"/>
            <a:ext cx="3291840" cy="548640"/>
          </a:xfrm>
          <a:prstGeom prst="rect">
            <a:avLst/>
          </a:prstGeom>
          <a:noFill/>
        </p:spPr>
        <p:txBody>
          <a:bodyPr wrap="square" lIns="0" rIns="0" tIns="0" bIns="0" anchor="t">
            <a:spAutoFit/>
          </a:bodyPr>
          <a:lstStyle/>
          <a:p>
            <a:pPr algn="l"/>
            <a:r>
              <a:rPr sz="1300" b="0" i="0">
                <a:solidFill>
                  <a:srgbClr val="52514E"/>
                </a:solidFill>
                <a:latin typeface="Calibri"/>
              </a:rPr>
              <a:t>Imbalanced: grade 2 is 57% of all buildings</a:t>
            </a:r>
          </a:p>
        </p:txBody>
      </p:sp>
      <p:sp>
        <p:nvSpPr>
          <p:cNvPr id="17" name="TextBox 1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18" name="TextBox 1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matters as much as structure</a:t>
            </a:r>
          </a:p>
        </p:txBody>
      </p:sp>
      <p:pic>
        <p:nvPicPr>
          <p:cNvPr id="4" name="Picture 3" descr="fig04_damage_by_geo1.png"/>
          <p:cNvPicPr>
            <a:picLocks noChangeAspect="1"/>
          </p:cNvPicPr>
          <p:nvPr/>
        </p:nvPicPr>
        <p:blipFill>
          <a:blip r:embed="rId2"/>
          <a:stretch>
            <a:fillRect/>
          </a:stretch>
        </p:blipFill>
        <p:spPr>
          <a:xfrm>
            <a:off x="1900203" y="1463040"/>
            <a:ext cx="8361112" cy="3931920"/>
          </a:xfrm>
          <a:prstGeom prst="rect">
            <a:avLst/>
          </a:prstGeom>
        </p:spPr>
      </p:pic>
      <p:sp>
        <p:nvSpPr>
          <p:cNvPr id="5" name="Rounded Rectangle 4"/>
          <p:cNvSpPr/>
          <p:nvPr/>
        </p:nvSpPr>
        <p:spPr>
          <a:xfrm>
            <a:off x="548640" y="5486400"/>
            <a:ext cx="11109960" cy="7315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532120"/>
            <a:ext cx="10698480" cy="640080"/>
          </a:xfrm>
          <a:prstGeom prst="rect">
            <a:avLst/>
          </a:prstGeom>
          <a:noFill/>
        </p:spPr>
        <p:txBody>
          <a:bodyPr wrap="square" lIns="0" rIns="0" tIns="0" bIns="0" anchor="ctr">
            <a:spAutoFit/>
          </a:bodyPr>
          <a:lstStyle/>
          <a:p>
            <a:pPr algn="l"/>
            <a:r>
              <a:rPr sz="1500" b="0" i="0">
                <a:solidFill>
                  <a:srgbClr val="52514E"/>
                </a:solidFill>
                <a:latin typeface="Calibri"/>
              </a:rPr>
              <a:t>Grade-3 share ranges from </a:t>
            </a:r>
            <a:r>
              <a:rPr sz="1500" b="1" i="0">
                <a:solidFill>
                  <a:srgbClr val="142340"/>
                </a:solidFill>
                <a:latin typeface="Calibri"/>
              </a:rPr>
              <a:t>9%</a:t>
            </a:r>
            <a:r>
              <a:rPr sz="1500" b="0" i="0">
                <a:solidFill>
                  <a:srgbClr val="52514E"/>
                </a:solidFill>
                <a:latin typeface="Calibri"/>
              </a:rPr>
              <a:t> (region 26) to </a:t>
            </a:r>
            <a:r>
              <a:rPr sz="1500" b="1" i="0">
                <a:solidFill>
                  <a:srgbClr val="EB6834"/>
                </a:solidFill>
                <a:latin typeface="Calibri"/>
              </a:rPr>
              <a:t>81%</a:t>
            </a:r>
            <a:r>
              <a:rPr sz="1500" b="0" i="0">
                <a:solidFill>
                  <a:srgbClr val="52514E"/>
                </a:solidFill>
                <a:latin typeface="Calibri"/>
              </a:rPr>
              <a:t> (region 17). Region is a proxy for shaking intensity, so finer location levels should help even more.</a:t>
            </a:r>
          </a:p>
        </p:txBody>
      </p:sp>
      <p:sp>
        <p:nvSpPr>
          <p:cNvPr id="7" name="TextBox 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8" name="TextBox 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CLEANING &amp; FEATURE ENGINEERING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Every step lives inside one leakage-safe sklearn Pipeline</a:t>
            </a:r>
          </a:p>
        </p:txBody>
      </p:sp>
      <p:sp>
        <p:nvSpPr>
          <p:cNvPr id="4" name="Rounded Rectangle 3"/>
          <p:cNvSpPr/>
          <p:nvPr/>
        </p:nvSpPr>
        <p:spPr>
          <a:xfrm>
            <a:off x="548640"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Age clean</a:t>
            </a:r>
          </a:p>
        </p:txBody>
      </p:sp>
      <p:sp>
        <p:nvSpPr>
          <p:cNvPr id="6" name="TextBox 5"/>
          <p:cNvSpPr txBox="1"/>
          <p:nvPr/>
        </p:nvSpPr>
        <p:spPr>
          <a:xfrm>
            <a:off x="685800"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995 → flag +
training median</a:t>
            </a:r>
          </a:p>
        </p:txBody>
      </p:sp>
      <p:cxnSp>
        <p:nvCxnSpPr>
          <p:cNvPr id="7" name="Connector 6"/>
          <p:cNvCxnSpPr/>
          <p:nvPr/>
        </p:nvCxnSpPr>
        <p:spPr>
          <a:xfrm>
            <a:off x="2258568"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32304"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9464"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Engineer</a:t>
            </a:r>
          </a:p>
        </p:txBody>
      </p:sp>
      <p:sp>
        <p:nvSpPr>
          <p:cNvPr id="10" name="TextBox 9"/>
          <p:cNvSpPr txBox="1"/>
          <p:nvPr/>
        </p:nvSpPr>
        <p:spPr>
          <a:xfrm>
            <a:off x="2569464"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kept: floors_x_log_age</a:t>
            </a:r>
          </a:p>
        </p:txBody>
      </p:sp>
      <p:cxnSp>
        <p:nvCxnSpPr>
          <p:cNvPr id="11" name="Connector 10"/>
          <p:cNvCxnSpPr/>
          <p:nvPr/>
        </p:nvCxnSpPr>
        <p:spPr>
          <a:xfrm>
            <a:off x="4142231"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15968"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Scale</a:t>
            </a:r>
          </a:p>
        </p:txBody>
      </p:sp>
      <p:sp>
        <p:nvSpPr>
          <p:cNvPr id="14" name="TextBox 13"/>
          <p:cNvSpPr txBox="1"/>
          <p:nvPr/>
        </p:nvSpPr>
        <p:spPr>
          <a:xfrm>
            <a:off x="4453128"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log1p + standardise
age, area, height</a:t>
            </a:r>
          </a:p>
        </p:txBody>
      </p:sp>
      <p:cxnSp>
        <p:nvCxnSpPr>
          <p:cNvPr id="15" name="Connector 14"/>
          <p:cNvCxnSpPr/>
          <p:nvPr/>
        </p:nvCxnSpPr>
        <p:spPr>
          <a:xfrm>
            <a:off x="6025896"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9631"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One-hot</a:t>
            </a:r>
          </a:p>
        </p:txBody>
      </p:sp>
      <p:sp>
        <p:nvSpPr>
          <p:cNvPr id="18" name="TextBox 17"/>
          <p:cNvSpPr txBox="1"/>
          <p:nvPr/>
        </p:nvSpPr>
        <p:spPr>
          <a:xfrm>
            <a:off x="6336792"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8 categoricals +
region level 1</a:t>
            </a:r>
          </a:p>
        </p:txBody>
      </p:sp>
      <p:cxnSp>
        <p:nvCxnSpPr>
          <p:cNvPr id="19" name="Connector 18"/>
          <p:cNvCxnSpPr/>
          <p:nvPr/>
        </p:nvCxnSpPr>
        <p:spPr>
          <a:xfrm>
            <a:off x="7909559"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83296"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Target-encode</a:t>
            </a:r>
          </a:p>
        </p:txBody>
      </p:sp>
      <p:sp>
        <p:nvSpPr>
          <p:cNvPr id="22" name="TextBox 21"/>
          <p:cNvSpPr txBox="1"/>
          <p:nvPr/>
        </p:nvSpPr>
        <p:spPr>
          <a:xfrm>
            <a:off x="8220456"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geo levels 2 &amp; 3
(multiclass, cross-fit)</a:t>
            </a:r>
          </a:p>
        </p:txBody>
      </p:sp>
      <p:cxnSp>
        <p:nvCxnSpPr>
          <p:cNvPr id="23" name="Connector 22"/>
          <p:cNvCxnSpPr/>
          <p:nvPr/>
        </p:nvCxnSpPr>
        <p:spPr>
          <a:xfrm>
            <a:off x="9793224"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66960" y="1600200"/>
            <a:ext cx="1691640" cy="173736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04120" y="1737360"/>
            <a:ext cx="1417320" cy="685800"/>
          </a:xfrm>
          <a:prstGeom prst="rect">
            <a:avLst/>
          </a:prstGeom>
          <a:noFill/>
        </p:spPr>
        <p:txBody>
          <a:bodyPr wrap="square" lIns="0" rIns="0" tIns="0" bIns="0" anchor="t">
            <a:spAutoFit/>
          </a:bodyPr>
          <a:lstStyle/>
          <a:p>
            <a:pPr algn="l"/>
            <a:r>
              <a:rPr sz="1600" b="1" i="0">
                <a:solidFill>
                  <a:srgbClr val="FFFFFF"/>
                </a:solidFill>
                <a:latin typeface="Calibri"/>
              </a:rPr>
              <a:t>Logistic
regression</a:t>
            </a:r>
          </a:p>
        </p:txBody>
      </p:sp>
      <p:sp>
        <p:nvSpPr>
          <p:cNvPr id="26" name="TextBox 25"/>
          <p:cNvSpPr txBox="1"/>
          <p:nvPr/>
        </p:nvSpPr>
        <p:spPr>
          <a:xfrm>
            <a:off x="10104120" y="2423160"/>
            <a:ext cx="1417320" cy="868680"/>
          </a:xfrm>
          <a:prstGeom prst="rect">
            <a:avLst/>
          </a:prstGeom>
          <a:noFill/>
        </p:spPr>
        <p:txBody>
          <a:bodyPr wrap="square" lIns="0" rIns="0" tIns="0" bIns="0" anchor="t">
            <a:spAutoFit/>
          </a:bodyPr>
          <a:lstStyle/>
          <a:p>
            <a:pPr algn="l"/>
            <a:r>
              <a:rPr sz="1250" b="0" i="0">
                <a:solidFill>
                  <a:srgbClr val="86B6EF"/>
                </a:solidFill>
                <a:latin typeface="Calibri"/>
              </a:rPr>
              <a:t>lbfgs, L2, tuned C</a:t>
            </a:r>
          </a:p>
        </p:txBody>
      </p:sp>
      <p:sp>
        <p:nvSpPr>
          <p:cNvPr id="27" name="TextBox 26"/>
          <p:cNvSpPr txBox="1"/>
          <p:nvPr/>
        </p:nvSpPr>
        <p:spPr>
          <a:xfrm>
            <a:off x="548640" y="3611880"/>
            <a:ext cx="5486400" cy="365760"/>
          </a:xfrm>
          <a:prstGeom prst="rect">
            <a:avLst/>
          </a:prstGeom>
          <a:noFill/>
        </p:spPr>
        <p:txBody>
          <a:bodyPr wrap="square" lIns="0" rIns="0" tIns="0" bIns="0" anchor="t">
            <a:spAutoFit/>
          </a:bodyPr>
          <a:lstStyle/>
          <a:p>
            <a:pPr algn="l"/>
            <a:r>
              <a:rPr sz="1800" b="1" i="0">
                <a:solidFill>
                  <a:srgbClr val="142340"/>
                </a:solidFill>
                <a:latin typeface="Calibri"/>
              </a:rPr>
              <a:t>Cleaning</a:t>
            </a:r>
          </a:p>
        </p:txBody>
      </p:sp>
      <p:sp>
        <p:nvSpPr>
          <p:cNvPr id="28" name="TextBox 27"/>
          <p:cNvSpPr txBox="1"/>
          <p:nvPr/>
        </p:nvSpPr>
        <p:spPr>
          <a:xfrm>
            <a:off x="548640" y="4023360"/>
            <a:ext cx="5303520" cy="2194560"/>
          </a:xfrm>
          <a:prstGeom prst="rect">
            <a:avLst/>
          </a:prstGeom>
          <a:noFill/>
        </p:spPr>
        <p:txBody>
          <a:bodyPr wrap="square" lIns="0" rIns="0" tIns="0" bIns="0" anchor="t">
            <a:spAutoFit/>
          </a:bodyPr>
          <a:lstStyle/>
          <a:p>
            <a:pPr algn="l">
              <a:spcAft>
                <a:spcPts val="800"/>
              </a:spcAft>
            </a:pPr>
            <a:r>
              <a:rPr sz="1400" b="0" i="0">
                <a:solidFill>
                  <a:srgbClr val="52514E"/>
                </a:solidFill>
                <a:latin typeface="Calibri"/>
              </a:rPr>
              <a:t>No missing values, but 1,390 buildings have age = 995, a placeholder (the next real age is 200).</a:t>
            </a:r>
          </a:p>
          <a:p>
            <a:pPr algn="l">
              <a:spcAft>
                <a:spcPts val="800"/>
              </a:spcAft>
            </a:pPr>
            <a:r>
              <a:rPr sz="1400" b="0" i="0">
                <a:solidFill>
                  <a:srgbClr val="52514E"/>
                </a:solidFill>
                <a:latin typeface="Calibri"/>
              </a:rPr>
              <a:t>These have a lower grade-3 rate (29% vs 33%), so we keep an indicator flag and impute the training-fold median.</a:t>
            </a:r>
          </a:p>
          <a:p>
            <a:pPr algn="l">
              <a:spcAft>
                <a:spcPts val="800"/>
              </a:spcAft>
            </a:pPr>
            <a:r>
              <a:rPr sz="1400" b="0" i="0">
                <a:solidFill>
                  <a:srgbClr val="52514E"/>
                </a:solidFill>
                <a:latin typeface="Calibri"/>
              </a:rPr>
              <a:t>Skewed numerics: area skew 3.5 → 0.4 after log1p.</a:t>
            </a:r>
          </a:p>
        </p:txBody>
      </p:sp>
      <p:sp>
        <p:nvSpPr>
          <p:cNvPr id="29" name="TextBox 28"/>
          <p:cNvSpPr txBox="1"/>
          <p:nvPr/>
        </p:nvSpPr>
        <p:spPr>
          <a:xfrm>
            <a:off x="6400800" y="3611880"/>
            <a:ext cx="5486400" cy="365760"/>
          </a:xfrm>
          <a:prstGeom prst="rect">
            <a:avLst/>
          </a:prstGeom>
          <a:noFill/>
        </p:spPr>
        <p:txBody>
          <a:bodyPr wrap="square" lIns="0" rIns="0" tIns="0" bIns="0" anchor="t">
            <a:spAutoFit/>
          </a:bodyPr>
          <a:lstStyle/>
          <a:p>
            <a:pPr algn="l"/>
            <a:r>
              <a:rPr sz="1800" b="1" i="0">
                <a:solidFill>
                  <a:srgbClr val="142340"/>
                </a:solidFill>
                <a:latin typeface="Calibri"/>
              </a:rPr>
              <a:t>Feature engineering (paired add-one test)</a:t>
            </a:r>
          </a:p>
        </p:txBody>
      </p:sp>
      <p:sp>
        <p:nvSpPr>
          <p:cNvPr id="30" name="Rounded Rectangle 29"/>
          <p:cNvSpPr/>
          <p:nvPr/>
        </p:nvSpPr>
        <p:spPr>
          <a:xfrm>
            <a:off x="6400800" y="4069080"/>
            <a:ext cx="5257800" cy="420624"/>
          </a:xfrm>
          <a:prstGeom prst="roundRect">
            <a:avLst>
              <a:gd name="adj" fmla="val 8000"/>
            </a:avLst>
          </a:prstGeom>
          <a:solidFill>
            <a:srgbClr val="FD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0" y="4142232"/>
            <a:ext cx="2743200" cy="274320"/>
          </a:xfrm>
          <a:prstGeom prst="rect">
            <a:avLst/>
          </a:prstGeom>
          <a:noFill/>
        </p:spPr>
        <p:txBody>
          <a:bodyPr wrap="square" lIns="0" rIns="0" tIns="0" bIns="0" anchor="t">
            <a:spAutoFit/>
          </a:bodyPr>
          <a:lstStyle/>
          <a:p>
            <a:pPr algn="l"/>
            <a:r>
              <a:rPr sz="1300" b="1" i="0">
                <a:solidFill>
                  <a:srgbClr val="0B0B0B"/>
                </a:solidFill>
                <a:latin typeface="Calibri"/>
              </a:rPr>
              <a:t>floors_x_log_age</a:t>
            </a:r>
          </a:p>
        </p:txBody>
      </p:sp>
      <p:sp>
        <p:nvSpPr>
          <p:cNvPr id="32" name="TextBox 31"/>
          <p:cNvSpPr txBox="1"/>
          <p:nvPr/>
        </p:nvSpPr>
        <p:spPr>
          <a:xfrm>
            <a:off x="9144000" y="4142232"/>
            <a:ext cx="1188720" cy="274320"/>
          </a:xfrm>
          <a:prstGeom prst="rect">
            <a:avLst/>
          </a:prstGeom>
          <a:noFill/>
        </p:spPr>
        <p:txBody>
          <a:bodyPr wrap="square" lIns="0" rIns="0" tIns="0" bIns="0" anchor="t">
            <a:spAutoFit/>
          </a:bodyPr>
          <a:lstStyle/>
          <a:p>
            <a:pPr algn="l"/>
            <a:r>
              <a:rPr sz="1300" b="0" i="0">
                <a:solidFill>
                  <a:srgbClr val="52514E"/>
                </a:solidFill>
                <a:latin typeface="Calibri"/>
              </a:rPr>
              <a:t>+0.02 pp</a:t>
            </a:r>
          </a:p>
        </p:txBody>
      </p:sp>
      <p:sp>
        <p:nvSpPr>
          <p:cNvPr id="33" name="TextBox 32"/>
          <p:cNvSpPr txBox="1"/>
          <p:nvPr/>
        </p:nvSpPr>
        <p:spPr>
          <a:xfrm>
            <a:off x="10287000" y="4142232"/>
            <a:ext cx="1280160" cy="274320"/>
          </a:xfrm>
          <a:prstGeom prst="rect">
            <a:avLst/>
          </a:prstGeom>
          <a:noFill/>
        </p:spPr>
        <p:txBody>
          <a:bodyPr wrap="square" lIns="0" rIns="0" tIns="0" bIns="0" anchor="t">
            <a:spAutoFit/>
          </a:bodyPr>
          <a:lstStyle/>
          <a:p>
            <a:pPr algn="l"/>
            <a:r>
              <a:rPr sz="1300" b="1" i="0">
                <a:solidFill>
                  <a:srgbClr val="EB6834"/>
                </a:solidFill>
                <a:latin typeface="Calibri"/>
              </a:rPr>
              <a:t>kept (5/5)</a:t>
            </a:r>
          </a:p>
        </p:txBody>
      </p:sp>
      <p:sp>
        <p:nvSpPr>
          <p:cNvPr id="34" name="Rounded Rectangle 33"/>
          <p:cNvSpPr/>
          <p:nvPr/>
        </p:nvSpPr>
        <p:spPr>
          <a:xfrm>
            <a:off x="6400800" y="457200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4645152"/>
            <a:ext cx="2743200" cy="274320"/>
          </a:xfrm>
          <a:prstGeom prst="rect">
            <a:avLst/>
          </a:prstGeom>
          <a:noFill/>
        </p:spPr>
        <p:txBody>
          <a:bodyPr wrap="square" lIns="0" rIns="0" tIns="0" bIns="0" anchor="t">
            <a:spAutoFit/>
          </a:bodyPr>
          <a:lstStyle/>
          <a:p>
            <a:pPr algn="l"/>
            <a:r>
              <a:rPr sz="1300" b="0" i="0">
                <a:solidFill>
                  <a:srgbClr val="0B0B0B"/>
                </a:solidFill>
                <a:latin typeface="Calibri"/>
              </a:rPr>
              <a:t>height_per_floor</a:t>
            </a:r>
          </a:p>
        </p:txBody>
      </p:sp>
      <p:sp>
        <p:nvSpPr>
          <p:cNvPr id="36" name="TextBox 35"/>
          <p:cNvSpPr txBox="1"/>
          <p:nvPr/>
        </p:nvSpPr>
        <p:spPr>
          <a:xfrm>
            <a:off x="9144000" y="464515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37" name="TextBox 36"/>
          <p:cNvSpPr txBox="1"/>
          <p:nvPr/>
        </p:nvSpPr>
        <p:spPr>
          <a:xfrm>
            <a:off x="10287000" y="464515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(1/5)</a:t>
            </a:r>
          </a:p>
        </p:txBody>
      </p:sp>
      <p:sp>
        <p:nvSpPr>
          <p:cNvPr id="38" name="Rounded Rectangle 37"/>
          <p:cNvSpPr/>
          <p:nvPr/>
        </p:nvSpPr>
        <p:spPr>
          <a:xfrm>
            <a:off x="6400800" y="507492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0" y="5148072"/>
            <a:ext cx="2743200" cy="274320"/>
          </a:xfrm>
          <a:prstGeom prst="rect">
            <a:avLst/>
          </a:prstGeom>
          <a:noFill/>
        </p:spPr>
        <p:txBody>
          <a:bodyPr wrap="square" lIns="0" rIns="0" tIns="0" bIns="0" anchor="t">
            <a:spAutoFit/>
          </a:bodyPr>
          <a:lstStyle/>
          <a:p>
            <a:pPr algn="l"/>
            <a:r>
              <a:rPr sz="1300" b="0" i="0">
                <a:solidFill>
                  <a:srgbClr val="0B0B0B"/>
                </a:solidFill>
                <a:latin typeface="Calibri"/>
              </a:rPr>
              <a:t>log_area_height_ratio</a:t>
            </a:r>
          </a:p>
        </p:txBody>
      </p:sp>
      <p:sp>
        <p:nvSpPr>
          <p:cNvPr id="40" name="TextBox 39"/>
          <p:cNvSpPr txBox="1"/>
          <p:nvPr/>
        </p:nvSpPr>
        <p:spPr>
          <a:xfrm>
            <a:off x="9144000" y="514807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41" name="TextBox 40"/>
          <p:cNvSpPr txBox="1"/>
          <p:nvPr/>
        </p:nvSpPr>
        <p:spPr>
          <a:xfrm>
            <a:off x="10287000" y="514807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(2/5)</a:t>
            </a:r>
          </a:p>
        </p:txBody>
      </p:sp>
      <p:sp>
        <p:nvSpPr>
          <p:cNvPr id="42" name="Rounded Rectangle 41"/>
          <p:cNvSpPr/>
          <p:nvPr/>
        </p:nvSpPr>
        <p:spPr>
          <a:xfrm>
            <a:off x="6400800" y="557784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0" y="5650992"/>
            <a:ext cx="2743200" cy="274320"/>
          </a:xfrm>
          <a:prstGeom prst="rect">
            <a:avLst/>
          </a:prstGeom>
          <a:noFill/>
        </p:spPr>
        <p:txBody>
          <a:bodyPr wrap="square" lIns="0" rIns="0" tIns="0" bIns="0" anchor="t">
            <a:spAutoFit/>
          </a:bodyPr>
          <a:lstStyle/>
          <a:p>
            <a:pPr algn="l"/>
            <a:r>
              <a:rPr sz="1300" b="0" i="0">
                <a:solidFill>
                  <a:srgbClr val="0B0B0B"/>
                </a:solidFill>
                <a:latin typeface="Calibri"/>
              </a:rPr>
              <a:t>n_superstructure</a:t>
            </a:r>
          </a:p>
        </p:txBody>
      </p:sp>
      <p:sp>
        <p:nvSpPr>
          <p:cNvPr id="44" name="TextBox 43"/>
          <p:cNvSpPr txBox="1"/>
          <p:nvPr/>
        </p:nvSpPr>
        <p:spPr>
          <a:xfrm>
            <a:off x="9144000" y="565099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45" name="TextBox 44"/>
          <p:cNvSpPr txBox="1"/>
          <p:nvPr/>
        </p:nvSpPr>
        <p:spPr>
          <a:xfrm>
            <a:off x="10287000" y="565099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(2/5)</a:t>
            </a:r>
          </a:p>
        </p:txBody>
      </p:sp>
      <p:sp>
        <p:nvSpPr>
          <p:cNvPr id="46" name="TextBox 4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47" name="TextBox 4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GEO TARGET ENCODING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Encoding 11,595 villages as damage rates</a:t>
            </a:r>
          </a:p>
        </p:txBody>
      </p:sp>
      <p:sp>
        <p:nvSpPr>
          <p:cNvPr id="4" name="Rounded Rectangle 3"/>
          <p:cNvSpPr/>
          <p:nvPr/>
        </p:nvSpPr>
        <p:spPr>
          <a:xfrm>
            <a:off x="548640" y="1600200"/>
            <a:ext cx="4663440" cy="45262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114800" cy="365760"/>
          </a:xfrm>
          <a:prstGeom prst="rect">
            <a:avLst/>
          </a:prstGeom>
          <a:noFill/>
        </p:spPr>
        <p:txBody>
          <a:bodyPr wrap="square" lIns="0" rIns="0" tIns="0" bIns="0" anchor="t">
            <a:spAutoFit/>
          </a:bodyPr>
          <a:lstStyle/>
          <a:p>
            <a:pPr algn="l"/>
            <a:r>
              <a:rPr sz="1600" b="1" i="0">
                <a:solidFill>
                  <a:srgbClr val="86B6EF"/>
                </a:solidFill>
                <a:latin typeface="Calibri"/>
              </a:rPr>
              <a:t>CV micro-F1</a:t>
            </a:r>
          </a:p>
        </p:txBody>
      </p:sp>
      <p:sp>
        <p:nvSpPr>
          <p:cNvPr id="6" name="TextBox 5"/>
          <p:cNvSpPr txBox="1"/>
          <p:nvPr/>
        </p:nvSpPr>
        <p:spPr>
          <a:xfrm>
            <a:off x="868680" y="2331720"/>
            <a:ext cx="2011680" cy="640080"/>
          </a:xfrm>
          <a:prstGeom prst="rect">
            <a:avLst/>
          </a:prstGeom>
          <a:noFill/>
        </p:spPr>
        <p:txBody>
          <a:bodyPr wrap="square" lIns="0" rIns="0" tIns="0" bIns="0" anchor="t">
            <a:spAutoFit/>
          </a:bodyPr>
          <a:lstStyle/>
          <a:p>
            <a:pPr algn="l"/>
            <a:r>
              <a:rPr sz="3600" b="1" i="0">
                <a:solidFill>
                  <a:srgbClr val="FFFFFF"/>
                </a:solidFill>
                <a:latin typeface="Cambria"/>
              </a:rPr>
              <a:t>0.591</a:t>
            </a:r>
          </a:p>
        </p:txBody>
      </p:sp>
      <p:sp>
        <p:nvSpPr>
          <p:cNvPr id="7" name="TextBox 6"/>
          <p:cNvSpPr txBox="1"/>
          <p:nvPr/>
        </p:nvSpPr>
        <p:spPr>
          <a:xfrm>
            <a:off x="2788920" y="2514600"/>
            <a:ext cx="2286000" cy="548640"/>
          </a:xfrm>
          <a:prstGeom prst="rect">
            <a:avLst/>
          </a:prstGeom>
          <a:noFill/>
        </p:spPr>
        <p:txBody>
          <a:bodyPr wrap="square" lIns="0" rIns="0" tIns="0" bIns="0" anchor="t">
            <a:spAutoFit/>
          </a:bodyPr>
          <a:lstStyle/>
          <a:p>
            <a:pPr algn="l"/>
            <a:r>
              <a:rPr sz="1400" b="0" i="0">
                <a:solidFill>
                  <a:srgbClr val="FFFFFF"/>
                </a:solidFill>
                <a:latin typeface="Calibri"/>
              </a:rPr>
              <a:t>E1: structure only</a:t>
            </a:r>
          </a:p>
        </p:txBody>
      </p:sp>
      <p:sp>
        <p:nvSpPr>
          <p:cNvPr id="8" name="TextBox 7"/>
          <p:cNvSpPr txBox="1"/>
          <p:nvPr/>
        </p:nvSpPr>
        <p:spPr>
          <a:xfrm>
            <a:off x="868680" y="3520439"/>
            <a:ext cx="2011680" cy="640080"/>
          </a:xfrm>
          <a:prstGeom prst="rect">
            <a:avLst/>
          </a:prstGeom>
          <a:noFill/>
        </p:spPr>
        <p:txBody>
          <a:bodyPr wrap="square" lIns="0" rIns="0" tIns="0" bIns="0" anchor="t">
            <a:spAutoFit/>
          </a:bodyPr>
          <a:lstStyle/>
          <a:p>
            <a:pPr algn="l"/>
            <a:r>
              <a:rPr sz="3600" b="1" i="0">
                <a:solidFill>
                  <a:srgbClr val="FFFFFF"/>
                </a:solidFill>
                <a:latin typeface="Cambria"/>
              </a:rPr>
              <a:t>0.672</a:t>
            </a:r>
          </a:p>
        </p:txBody>
      </p:sp>
      <p:sp>
        <p:nvSpPr>
          <p:cNvPr id="9" name="TextBox 8"/>
          <p:cNvSpPr txBox="1"/>
          <p:nvPr/>
        </p:nvSpPr>
        <p:spPr>
          <a:xfrm>
            <a:off x="2788920" y="3703320"/>
            <a:ext cx="2286000" cy="548640"/>
          </a:xfrm>
          <a:prstGeom prst="rect">
            <a:avLst/>
          </a:prstGeom>
          <a:noFill/>
        </p:spPr>
        <p:txBody>
          <a:bodyPr wrap="square" lIns="0" rIns="0" tIns="0" bIns="0" anchor="t">
            <a:spAutoFit/>
          </a:bodyPr>
          <a:lstStyle/>
          <a:p>
            <a:pPr algn="l"/>
            <a:r>
              <a:rPr sz="1400" b="0" i="0">
                <a:solidFill>
                  <a:srgbClr val="FFFFFF"/>
                </a:solidFill>
                <a:latin typeface="Calibri"/>
              </a:rPr>
              <a:t>E2: + region (one-hot)</a:t>
            </a:r>
          </a:p>
        </p:txBody>
      </p:sp>
      <p:sp>
        <p:nvSpPr>
          <p:cNvPr id="10" name="TextBox 9"/>
          <p:cNvSpPr txBox="1"/>
          <p:nvPr/>
        </p:nvSpPr>
        <p:spPr>
          <a:xfrm>
            <a:off x="868680" y="4709160"/>
            <a:ext cx="2011680" cy="640080"/>
          </a:xfrm>
          <a:prstGeom prst="rect">
            <a:avLst/>
          </a:prstGeom>
          <a:noFill/>
        </p:spPr>
        <p:txBody>
          <a:bodyPr wrap="square" lIns="0" rIns="0" tIns="0" bIns="0" anchor="t">
            <a:spAutoFit/>
          </a:bodyPr>
          <a:lstStyle/>
          <a:p>
            <a:pPr algn="l"/>
            <a:r>
              <a:rPr sz="3600" b="1" i="0">
                <a:solidFill>
                  <a:srgbClr val="EB6834"/>
                </a:solidFill>
                <a:latin typeface="Cambria"/>
              </a:rPr>
              <a:t>0.735</a:t>
            </a:r>
          </a:p>
        </p:txBody>
      </p:sp>
      <p:sp>
        <p:nvSpPr>
          <p:cNvPr id="11" name="TextBox 10"/>
          <p:cNvSpPr txBox="1"/>
          <p:nvPr/>
        </p:nvSpPr>
        <p:spPr>
          <a:xfrm>
            <a:off x="2788920" y="4892040"/>
            <a:ext cx="2286000" cy="548640"/>
          </a:xfrm>
          <a:prstGeom prst="rect">
            <a:avLst/>
          </a:prstGeom>
          <a:noFill/>
        </p:spPr>
        <p:txBody>
          <a:bodyPr wrap="square" lIns="0" rIns="0" tIns="0" bIns="0" anchor="t">
            <a:spAutoFit/>
          </a:bodyPr>
          <a:lstStyle/>
          <a:p>
            <a:pPr algn="l"/>
            <a:r>
              <a:rPr sz="1400" b="0" i="0">
                <a:solidFill>
                  <a:srgbClr val="FFFFFF"/>
                </a:solidFill>
                <a:latin typeface="Calibri"/>
              </a:rPr>
              <a:t>E3: + target-encoded geo 2 &amp; 3</a:t>
            </a:r>
          </a:p>
        </p:txBody>
      </p:sp>
      <p:sp>
        <p:nvSpPr>
          <p:cNvPr id="12" name="TextBox 11"/>
          <p:cNvSpPr txBox="1"/>
          <p:nvPr/>
        </p:nvSpPr>
        <p:spPr>
          <a:xfrm>
            <a:off x="868680" y="5623560"/>
            <a:ext cx="4114800" cy="365760"/>
          </a:xfrm>
          <a:prstGeom prst="rect">
            <a:avLst/>
          </a:prstGeom>
          <a:noFill/>
        </p:spPr>
        <p:txBody>
          <a:bodyPr wrap="square" lIns="0" rIns="0" tIns="0" bIns="0" anchor="t">
            <a:spAutoFit/>
          </a:bodyPr>
          <a:lstStyle/>
          <a:p>
            <a:pPr algn="l"/>
            <a:r>
              <a:rPr sz="1500" b="1" i="0">
                <a:solidFill>
                  <a:srgbClr val="EB6834"/>
                </a:solidFill>
                <a:latin typeface="Calibri"/>
              </a:rPr>
              <a:t>Target encoding alone: +6.3 pp</a:t>
            </a:r>
          </a:p>
        </p:txBody>
      </p:sp>
      <p:sp>
        <p:nvSpPr>
          <p:cNvPr id="13" name="TextBox 12"/>
          <p:cNvSpPr txBox="1"/>
          <p:nvPr/>
        </p:nvSpPr>
        <p:spPr>
          <a:xfrm>
            <a:off x="5669280" y="1645920"/>
            <a:ext cx="5943600" cy="365760"/>
          </a:xfrm>
          <a:prstGeom prst="rect">
            <a:avLst/>
          </a:prstGeom>
          <a:noFill/>
        </p:spPr>
        <p:txBody>
          <a:bodyPr wrap="square" lIns="0" rIns="0" tIns="0" bIns="0" anchor="t">
            <a:spAutoFit/>
          </a:bodyPr>
          <a:lstStyle/>
          <a:p>
            <a:pPr algn="l"/>
            <a:r>
              <a:rPr sz="1800" b="1" i="0">
                <a:solidFill>
                  <a:srgbClr val="142340"/>
                </a:solidFill>
                <a:latin typeface="Calibri"/>
              </a:rPr>
              <a:t>How it works</a:t>
            </a:r>
          </a:p>
        </p:txBody>
      </p:sp>
      <p:sp>
        <p:nvSpPr>
          <p:cNvPr id="14" name="Rounded Rectangle 13"/>
          <p:cNvSpPr/>
          <p:nvPr/>
        </p:nvSpPr>
        <p:spPr>
          <a:xfrm>
            <a:off x="5669280" y="2103120"/>
            <a:ext cx="1737360" cy="914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2194560"/>
            <a:ext cx="1554480" cy="731520"/>
          </a:xfrm>
          <a:prstGeom prst="rect">
            <a:avLst/>
          </a:prstGeom>
          <a:noFill/>
        </p:spPr>
        <p:txBody>
          <a:bodyPr wrap="square" lIns="0" rIns="0" tIns="0" bIns="0" anchor="ctr">
            <a:spAutoFit/>
          </a:bodyPr>
          <a:lstStyle/>
          <a:p>
            <a:pPr algn="ctr"/>
            <a:r>
              <a:rPr sz="1300" b="0" i="0">
                <a:solidFill>
                  <a:srgbClr val="142340"/>
                </a:solidFill>
                <a:latin typeface="Calibri"/>
              </a:rPr>
              <a:t>village id
(11,595 levels)</a:t>
            </a:r>
          </a:p>
        </p:txBody>
      </p:sp>
      <p:cxnSp>
        <p:nvCxnSpPr>
          <p:cNvPr id="16" name="Connector 15"/>
          <p:cNvCxnSpPr/>
          <p:nvPr/>
        </p:nvCxnSpPr>
        <p:spPr>
          <a:xfrm>
            <a:off x="7452360" y="2560320"/>
            <a:ext cx="54864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92440" y="2103120"/>
            <a:ext cx="1051560" cy="914400"/>
          </a:xfrm>
          <a:prstGeom prst="roundRect">
            <a:avLst>
              <a:gd name="adj" fmla="val 8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2103120"/>
            <a:ext cx="1051560" cy="914400"/>
          </a:xfrm>
          <a:prstGeom prst="rect">
            <a:avLst/>
          </a:prstGeom>
          <a:noFill/>
        </p:spPr>
        <p:txBody>
          <a:bodyPr wrap="square" lIns="0" rIns="0" tIns="0" bIns="0" anchor="ctr">
            <a:spAutoFit/>
          </a:bodyPr>
          <a:lstStyle/>
          <a:p>
            <a:pPr algn="ctr"/>
            <a:r>
              <a:rPr sz="1400" b="1" i="0">
                <a:solidFill>
                  <a:srgbClr val="0B0B0B"/>
                </a:solidFill>
                <a:latin typeface="Calibri"/>
              </a:rPr>
              <a:t>P(g1)</a:t>
            </a:r>
          </a:p>
        </p:txBody>
      </p:sp>
      <p:sp>
        <p:nvSpPr>
          <p:cNvPr id="19" name="Rounded Rectangle 18"/>
          <p:cNvSpPr/>
          <p:nvPr/>
        </p:nvSpPr>
        <p:spPr>
          <a:xfrm>
            <a:off x="9281160" y="2103120"/>
            <a:ext cx="1051560" cy="9144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116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P(g2)</a:t>
            </a:r>
          </a:p>
        </p:txBody>
      </p:sp>
      <p:sp>
        <p:nvSpPr>
          <p:cNvPr id="21" name="Rounded Rectangle 20"/>
          <p:cNvSpPr/>
          <p:nvPr/>
        </p:nvSpPr>
        <p:spPr>
          <a:xfrm>
            <a:off x="10469880" y="2103120"/>
            <a:ext cx="1051560" cy="914400"/>
          </a:xfrm>
          <a:prstGeom prst="roundRect">
            <a:avLst>
              <a:gd name="adj" fmla="val 8000"/>
            </a:avLst>
          </a:prstGeom>
          <a:solidFill>
            <a:srgbClr val="1042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6988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P(g3)</a:t>
            </a:r>
          </a:p>
        </p:txBody>
      </p:sp>
      <p:sp>
        <p:nvSpPr>
          <p:cNvPr id="23" name="TextBox 22"/>
          <p:cNvSpPr txBox="1"/>
          <p:nvPr/>
        </p:nvSpPr>
        <p:spPr>
          <a:xfrm>
            <a:off x="5669280" y="3291840"/>
            <a:ext cx="5989320" cy="2834640"/>
          </a:xfrm>
          <a:prstGeom prst="rect">
            <a:avLst/>
          </a:prstGeom>
          <a:noFill/>
        </p:spPr>
        <p:txBody>
          <a:bodyPr wrap="square" lIns="0" rIns="0" tIns="0" bIns="0" anchor="t">
            <a:spAutoFit/>
          </a:bodyPr>
          <a:lstStyle/>
          <a:p>
            <a:pPr algn="l">
              <a:spcAft>
                <a:spcPts val="1000"/>
              </a:spcAft>
            </a:pPr>
            <a:r>
              <a:rPr sz="1500" b="1" i="0">
                <a:solidFill>
                  <a:srgbClr val="142340"/>
                </a:solidFill>
                <a:latin typeface="Calibri"/>
              </a:rPr>
              <a:t>Compact: </a:t>
            </a:r>
            <a:r>
              <a:rPr sz="1500" b="0" i="0">
                <a:solidFill>
                  <a:srgbClr val="52514E"/>
                </a:solidFill>
                <a:latin typeface="Calibri"/>
              </a:rPr>
              <a:t>3 numbers per level instead of 13,009 one-hot columns.</a:t>
            </a:r>
          </a:p>
          <a:p>
            <a:pPr algn="l">
              <a:spcAft>
                <a:spcPts val="1000"/>
              </a:spcAft>
            </a:pPr>
            <a:r>
              <a:rPr sz="1500" b="1" i="0">
                <a:solidFill>
                  <a:srgbClr val="142340"/>
                </a:solidFill>
                <a:latin typeface="Calibri"/>
              </a:rPr>
              <a:t>Smoothed: </a:t>
            </a:r>
            <a:r>
              <a:rPr sz="1500" b="0" i="0">
                <a:solidFill>
                  <a:srgbClr val="52514E"/>
                </a:solidFill>
                <a:latin typeface="Calibri"/>
              </a:rPr>
              <a:t>rare villages shrink toward the overall class mix.</a:t>
            </a:r>
          </a:p>
          <a:p>
            <a:pPr algn="l">
              <a:spcAft>
                <a:spcPts val="1000"/>
              </a:spcAft>
            </a:pPr>
            <a:r>
              <a:rPr sz="1500" b="1" i="0">
                <a:solidFill>
                  <a:srgbClr val="142340"/>
                </a:solidFill>
                <a:latin typeface="Calibri"/>
              </a:rPr>
              <a:t>Leakage-safe: </a:t>
            </a:r>
            <a:r>
              <a:rPr sz="1500" b="0" i="0">
                <a:solidFill>
                  <a:srgbClr val="52514E"/>
                </a:solidFill>
                <a:latin typeface="Calibri"/>
              </a:rPr>
              <a:t>cross-fitted, so no building ever sees its own label, and re-fitted inside every CV fold.</a:t>
            </a:r>
          </a:p>
          <a:p>
            <a:pPr algn="l">
              <a:spcAft>
                <a:spcPts val="1000"/>
              </a:spcAft>
            </a:pPr>
            <a:r>
              <a:rPr sz="1500" b="1" i="0">
                <a:solidFill>
                  <a:srgbClr val="142340"/>
                </a:solidFill>
                <a:latin typeface="Calibri"/>
              </a:rPr>
              <a:t>Interpretable: </a:t>
            </a:r>
            <a:r>
              <a:rPr sz="1500" b="0" i="0">
                <a:solidFill>
                  <a:srgbClr val="52514E"/>
                </a:solidFill>
                <a:latin typeface="Calibri"/>
              </a:rPr>
              <a:t>“how badly was this neighbourhood hit?”</a:t>
            </a:r>
          </a:p>
        </p:txBody>
      </p:sp>
      <p:sp>
        <p:nvSpPr>
          <p:cNvPr id="24" name="TextBox 23"/>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25" name="TextBox 24"/>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ORDINAL VS MULTINOMIAL</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Does respecting the order of damage grades help?</a:t>
            </a:r>
          </a:p>
        </p:txBody>
      </p:sp>
      <p:pic>
        <p:nvPicPr>
          <p:cNvPr id="4" name="Picture 3" descr="fig12_recall_comparison.png"/>
          <p:cNvPicPr>
            <a:picLocks noChangeAspect="1"/>
          </p:cNvPicPr>
          <p:nvPr/>
        </p:nvPicPr>
        <p:blipFill>
          <a:blip r:embed="rId2"/>
          <a:stretch>
            <a:fillRect/>
          </a:stretch>
        </p:blipFill>
        <p:spPr>
          <a:xfrm>
            <a:off x="457200" y="1748030"/>
            <a:ext cx="6949439" cy="4184898"/>
          </a:xfrm>
          <a:prstGeom prst="rect">
            <a:avLst/>
          </a:prstGeom>
        </p:spPr>
      </p:pic>
      <p:sp>
        <p:nvSpPr>
          <p:cNvPr id="5" name="Rounded Rectangle 4"/>
          <p:cNvSpPr/>
          <p:nvPr/>
        </p:nvSpPr>
        <p:spPr>
          <a:xfrm>
            <a:off x="7726679" y="1554480"/>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91640"/>
            <a:ext cx="3566160" cy="365760"/>
          </a:xfrm>
          <a:prstGeom prst="rect">
            <a:avLst/>
          </a:prstGeom>
          <a:noFill/>
        </p:spPr>
        <p:txBody>
          <a:bodyPr wrap="square" lIns="0" rIns="0" tIns="0" bIns="0" anchor="t">
            <a:spAutoFit/>
          </a:bodyPr>
          <a:lstStyle/>
          <a:p>
            <a:pPr algn="l"/>
            <a:r>
              <a:rPr sz="1700" b="1" i="0">
                <a:solidFill>
                  <a:srgbClr val="142340"/>
                </a:solidFill>
                <a:latin typeface="Calibri"/>
              </a:rPr>
              <a:t>Ordinal logistic (E6)</a:t>
            </a:r>
          </a:p>
        </p:txBody>
      </p:sp>
      <p:sp>
        <p:nvSpPr>
          <p:cNvPr id="7" name="TextBox 6"/>
          <p:cNvSpPr txBox="1"/>
          <p:nvPr/>
        </p:nvSpPr>
        <p:spPr>
          <a:xfrm>
            <a:off x="7955279" y="210312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Two binary models, P(grade &gt; 1) and P(grade &gt; 2), combined into 3 class probabilities.</a:t>
            </a:r>
          </a:p>
          <a:p>
            <a:pPr algn="l">
              <a:spcAft>
                <a:spcPts val="600"/>
              </a:spcAft>
            </a:pPr>
            <a:r>
              <a:rPr sz="1400" b="0" i="0">
                <a:solidFill>
                  <a:srgbClr val="52514E"/>
                </a:solidFill>
                <a:latin typeface="Calibri"/>
              </a:rPr>
              <a:t>Micro-F1 </a:t>
            </a:r>
            <a:r>
              <a:rPr sz="1400" b="1" i="0">
                <a:solidFill>
                  <a:srgbClr val="EB6834"/>
                </a:solidFill>
                <a:latin typeface="Calibri"/>
              </a:rPr>
              <a:t>-0.06 pp</a:t>
            </a:r>
            <a:r>
              <a:rPr sz="1400" b="0" i="0">
                <a:solidFill>
                  <a:srgbClr val="52514E"/>
                </a:solidFill>
                <a:latin typeface="Calibri"/>
              </a:rPr>
              <a:t>, macro-F1 </a:t>
            </a:r>
            <a:r>
              <a:rPr sz="1400" b="1" i="0">
                <a:solidFill>
                  <a:srgbClr val="EB6834"/>
                </a:solidFill>
                <a:latin typeface="Calibri"/>
              </a:rPr>
              <a:t>-0.04 pp</a:t>
            </a:r>
            <a:r>
              <a:rPr sz="1400" b="0" i="0">
                <a:solidFill>
                  <a:srgbClr val="52514E"/>
                </a:solidFill>
                <a:latin typeface="Calibri"/>
              </a:rPr>
              <a:t> vs multinomial: it made no real difference.</a:t>
            </a:r>
          </a:p>
        </p:txBody>
      </p:sp>
      <p:sp>
        <p:nvSpPr>
          <p:cNvPr id="8" name="Rounded Rectangle 7"/>
          <p:cNvSpPr/>
          <p:nvPr/>
        </p:nvSpPr>
        <p:spPr>
          <a:xfrm>
            <a:off x="7726679" y="3977639"/>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4114800"/>
            <a:ext cx="3566160" cy="365760"/>
          </a:xfrm>
          <a:prstGeom prst="rect">
            <a:avLst/>
          </a:prstGeom>
          <a:noFill/>
        </p:spPr>
        <p:txBody>
          <a:bodyPr wrap="square" lIns="0" rIns="0" tIns="0" bIns="0" anchor="t">
            <a:spAutoFit/>
          </a:bodyPr>
          <a:lstStyle/>
          <a:p>
            <a:pPr algn="l"/>
            <a:r>
              <a:rPr sz="1700" b="1" i="0">
                <a:solidFill>
                  <a:srgbClr val="142340"/>
                </a:solidFill>
                <a:latin typeface="Calibri"/>
              </a:rPr>
              <a:t>Class weighting (E5)</a:t>
            </a:r>
          </a:p>
        </p:txBody>
      </p:sp>
      <p:sp>
        <p:nvSpPr>
          <p:cNvPr id="10" name="TextBox 9"/>
          <p:cNvSpPr txBox="1"/>
          <p:nvPr/>
        </p:nvSpPr>
        <p:spPr>
          <a:xfrm>
            <a:off x="7955279" y="452628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Grade-1 recall </a:t>
            </a:r>
            <a:r>
              <a:rPr sz="1400" b="1" i="0">
                <a:solidFill>
                  <a:srgbClr val="EB6834"/>
                </a:solidFill>
                <a:latin typeface="Calibri"/>
              </a:rPr>
              <a:t>0.47 → 0.83</a:t>
            </a:r>
          </a:p>
          <a:p>
            <a:pPr algn="l">
              <a:spcAft>
                <a:spcPts val="600"/>
              </a:spcAft>
            </a:pPr>
            <a:r>
              <a:rPr sz="1400" b="0" i="0">
                <a:solidFill>
                  <a:srgbClr val="52514E"/>
                </a:solidFill>
                <a:latin typeface="Calibri"/>
              </a:rPr>
              <a:t>Micro-F1 </a:t>
            </a:r>
            <a:r>
              <a:rPr sz="1400" b="1" i="0">
                <a:solidFill>
                  <a:srgbClr val="EB6834"/>
                </a:solidFill>
                <a:latin typeface="Calibri"/>
              </a:rPr>
              <a:t>-4.43 pp</a:t>
            </a:r>
            <a:r>
              <a:rPr sz="1400" b="0" i="0">
                <a:solidFill>
                  <a:srgbClr val="52514E"/>
                </a:solidFill>
                <a:latin typeface="Calibri"/>
              </a:rPr>
              <a:t>, macro-F1 </a:t>
            </a:r>
            <a:r>
              <a:rPr sz="1400" b="1" i="0">
                <a:solidFill>
                  <a:srgbClr val="EB6834"/>
                </a:solidFill>
                <a:latin typeface="Calibri"/>
              </a:rPr>
              <a:t>-0.88 pp</a:t>
            </a:r>
          </a:p>
          <a:p>
            <a:pPr algn="l">
              <a:spcAft>
                <a:spcPts val="600"/>
              </a:spcAft>
            </a:pPr>
            <a:r>
              <a:rPr sz="1400" b="0" i="0">
                <a:solidFill>
                  <a:srgbClr val="52514E"/>
                </a:solidFill>
                <a:latin typeface="Calibri"/>
              </a:rPr>
              <a:t>A trade-off: it finds more low-damage buildings but costs overall accuracy.</a:t>
            </a:r>
          </a:p>
        </p:txBody>
      </p:sp>
      <p:sp>
        <p:nvSpPr>
          <p:cNvPr id="11" name="TextBox 10"/>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12" name="TextBox 11"/>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TRAINING AND TESTING PROCEDURE</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Select on cross-validation, test once on the holdout</a:t>
            </a:r>
          </a:p>
        </p:txBody>
      </p:sp>
      <p:sp>
        <p:nvSpPr>
          <p:cNvPr id="4" name="Rounded Rectangle 3"/>
          <p:cNvSpPr/>
          <p:nvPr/>
        </p:nvSpPr>
        <p:spPr>
          <a:xfrm>
            <a:off x="548640" y="1645920"/>
            <a:ext cx="2377440" cy="11887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377440" cy="1188720"/>
          </a:xfrm>
          <a:prstGeom prst="rect">
            <a:avLst/>
          </a:prstGeom>
          <a:noFill/>
        </p:spPr>
        <p:txBody>
          <a:bodyPr wrap="square" lIns="0" rIns="0" tIns="0" bIns="0" anchor="ctr">
            <a:spAutoFit/>
          </a:bodyPr>
          <a:lstStyle/>
          <a:p>
            <a:pPr algn="ctr"/>
            <a:r>
              <a:rPr sz="1600" b="1" i="0">
                <a:solidFill>
                  <a:srgbClr val="FFFFFF"/>
                </a:solidFill>
                <a:latin typeface="Calibri"/>
              </a:rPr>
              <a:t>260,601</a:t>
            </a:r>
          </a:p>
          <a:p>
            <a:pPr algn="ctr"/>
            <a:r>
              <a:rPr sz="1600" b="1" i="0">
                <a:solidFill>
                  <a:srgbClr val="FFFFFF"/>
                </a:solidFill>
                <a:latin typeface="Calibri"/>
              </a:rPr>
              <a:t>labelled buildings</a:t>
            </a:r>
          </a:p>
        </p:txBody>
      </p:sp>
      <p:cxnSp>
        <p:nvCxnSpPr>
          <p:cNvPr id="6" name="Connector 5"/>
          <p:cNvCxnSpPr/>
          <p:nvPr/>
        </p:nvCxnSpPr>
        <p:spPr>
          <a:xfrm flipV="1">
            <a:off x="2971800" y="1783080"/>
            <a:ext cx="640080" cy="22860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71800" y="2468880"/>
            <a:ext cx="640080" cy="169164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57600" y="1417320"/>
            <a:ext cx="4206240" cy="2057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86200" y="1554480"/>
            <a:ext cx="3840480" cy="365760"/>
          </a:xfrm>
          <a:prstGeom prst="rect">
            <a:avLst/>
          </a:prstGeom>
          <a:noFill/>
        </p:spPr>
        <p:txBody>
          <a:bodyPr wrap="square" lIns="0" rIns="0" tIns="0" bIns="0" anchor="t">
            <a:spAutoFit/>
          </a:bodyPr>
          <a:lstStyle/>
          <a:p>
            <a:pPr algn="l"/>
            <a:r>
              <a:rPr sz="1600" b="1" i="0">
                <a:solidFill>
                  <a:srgbClr val="142340"/>
                </a:solidFill>
                <a:latin typeface="Calibri"/>
              </a:rPr>
              <a:t>80% training split · 208,480</a:t>
            </a:r>
          </a:p>
        </p:txBody>
      </p:sp>
      <p:sp>
        <p:nvSpPr>
          <p:cNvPr id="10" name="TextBox 9"/>
          <p:cNvSpPr txBox="1"/>
          <p:nvPr/>
        </p:nvSpPr>
        <p:spPr>
          <a:xfrm>
            <a:off x="3886200" y="1965960"/>
            <a:ext cx="3840480" cy="1463040"/>
          </a:xfrm>
          <a:prstGeom prst="rect">
            <a:avLst/>
          </a:prstGeom>
          <a:noFill/>
        </p:spPr>
        <p:txBody>
          <a:bodyPr wrap="square" lIns="0" rIns="0" tIns="0" bIns="0" anchor="t">
            <a:spAutoFit/>
          </a:bodyPr>
          <a:lstStyle/>
          <a:p>
            <a:pPr algn="l">
              <a:spcAft>
                <a:spcPts val="500"/>
              </a:spcAft>
            </a:pPr>
            <a:r>
              <a:rPr sz="1350" b="0" i="0">
                <a:solidFill>
                  <a:srgbClr val="52514E"/>
                </a:solidFill>
                <a:latin typeface="Calibri"/>
              </a:rPr>
              <a:t>Stratified 5-fold CV for every experiment (E0–E6)</a:t>
            </a:r>
          </a:p>
          <a:p>
            <a:pPr algn="l">
              <a:spcAft>
                <a:spcPts val="500"/>
              </a:spcAft>
            </a:pPr>
            <a:r>
              <a:rPr sz="1350" b="0" i="0">
                <a:solidFill>
                  <a:srgbClr val="52514E"/>
                </a:solidFill>
                <a:latin typeface="Calibri"/>
              </a:rPr>
              <a:t>GridSearchCV over C ∈ {0.01 … 100}, scored by micro-F1</a:t>
            </a:r>
          </a:p>
          <a:p>
            <a:pPr algn="l">
              <a:spcAft>
                <a:spcPts val="500"/>
              </a:spcAft>
            </a:pPr>
            <a:r>
              <a:rPr sz="1350" b="0" i="0">
                <a:solidFill>
                  <a:srgbClr val="52514E"/>
                </a:solidFill>
                <a:latin typeface="Calibri"/>
              </a:rPr>
              <a:t>Encoders, scalers, imputers re-fit inside each fold</a:t>
            </a:r>
          </a:p>
        </p:txBody>
      </p:sp>
      <p:sp>
        <p:nvSpPr>
          <p:cNvPr id="11" name="Rounded Rectangle 10"/>
          <p:cNvSpPr/>
          <p:nvPr/>
        </p:nvSpPr>
        <p:spPr>
          <a:xfrm>
            <a:off x="3657600" y="3794760"/>
            <a:ext cx="4206240" cy="1417320"/>
          </a:xfrm>
          <a:prstGeom prst="roundRect">
            <a:avLst>
              <a:gd name="adj" fmla="val 8000"/>
            </a:avLst>
          </a:prstGeom>
          <a:solidFill>
            <a:srgbClr val="FD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3931920"/>
            <a:ext cx="3840480" cy="365760"/>
          </a:xfrm>
          <a:prstGeom prst="rect">
            <a:avLst/>
          </a:prstGeom>
          <a:noFill/>
        </p:spPr>
        <p:txBody>
          <a:bodyPr wrap="square" lIns="0" rIns="0" tIns="0" bIns="0" anchor="t">
            <a:spAutoFit/>
          </a:bodyPr>
          <a:lstStyle/>
          <a:p>
            <a:pPr algn="l"/>
            <a:r>
              <a:rPr sz="1600" b="1" i="0">
                <a:solidFill>
                  <a:srgbClr val="EB6834"/>
                </a:solidFill>
                <a:latin typeface="Calibri"/>
              </a:rPr>
              <a:t>20% holdout · 52,121</a:t>
            </a:r>
          </a:p>
        </p:txBody>
      </p:sp>
      <p:sp>
        <p:nvSpPr>
          <p:cNvPr id="13" name="TextBox 12"/>
          <p:cNvSpPr txBox="1"/>
          <p:nvPr/>
        </p:nvSpPr>
        <p:spPr>
          <a:xfrm>
            <a:off x="3886200" y="4343400"/>
            <a:ext cx="3840480" cy="822960"/>
          </a:xfrm>
          <a:prstGeom prst="rect">
            <a:avLst/>
          </a:prstGeom>
          <a:noFill/>
        </p:spPr>
        <p:txBody>
          <a:bodyPr wrap="square" lIns="0" rIns="0" tIns="0" bIns="0" anchor="t">
            <a:spAutoFit/>
          </a:bodyPr>
          <a:lstStyle/>
          <a:p>
            <a:pPr algn="l"/>
            <a:r>
              <a:rPr sz="1350" b="0" i="0">
                <a:solidFill>
                  <a:srgbClr val="52514E"/>
                </a:solidFill>
                <a:latin typeface="Calibri"/>
              </a:rPr>
              <a:t>Locked away; scored exactly once, by the final tuned model.</a:t>
            </a:r>
          </a:p>
        </p:txBody>
      </p:sp>
      <p:cxnSp>
        <p:nvCxnSpPr>
          <p:cNvPr id="14" name="Connector 13"/>
          <p:cNvCxnSpPr/>
          <p:nvPr/>
        </p:nvCxnSpPr>
        <p:spPr>
          <a:xfrm>
            <a:off x="7909560" y="2423160"/>
            <a:ext cx="64008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95360" y="1417320"/>
            <a:ext cx="3063240" cy="205740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0" y="1554480"/>
            <a:ext cx="2743200" cy="1828800"/>
          </a:xfrm>
          <a:prstGeom prst="rect">
            <a:avLst/>
          </a:prstGeom>
          <a:noFill/>
        </p:spPr>
        <p:txBody>
          <a:bodyPr wrap="square" lIns="0" rIns="0" tIns="0" bIns="0" anchor="t">
            <a:spAutoFit/>
          </a:bodyPr>
          <a:lstStyle/>
          <a:p>
            <a:pPr algn="l">
              <a:spcAft>
                <a:spcPts val="500"/>
              </a:spcAft>
            </a:pPr>
            <a:r>
              <a:rPr sz="1600" b="1" i="0">
                <a:solidFill>
                  <a:srgbClr val="FFFFFF"/>
                </a:solidFill>
                <a:latin typeface="Calibri"/>
              </a:rPr>
              <a:t>Final model</a:t>
            </a:r>
          </a:p>
          <a:p>
            <a:pPr algn="l">
              <a:spcAft>
                <a:spcPts val="500"/>
              </a:spcAft>
            </a:pPr>
            <a:r>
              <a:rPr sz="1350" b="0" i="0">
                <a:solidFill>
                  <a:srgbClr val="86B6EF"/>
                </a:solidFill>
                <a:latin typeface="Calibri"/>
              </a:rPr>
              <a:t>E4 configuration, C = 0.3</a:t>
            </a:r>
          </a:p>
          <a:p>
            <a:pPr algn="l">
              <a:spcAft>
                <a:spcPts val="500"/>
              </a:spcAft>
            </a:pPr>
            <a:r>
              <a:rPr sz="1350" b="0" i="0">
                <a:solidFill>
                  <a:srgbClr val="86B6EF"/>
                </a:solidFill>
                <a:latin typeface="Calibri"/>
              </a:rPr>
              <a:t>At most 337 of 5,000 solver iterations: every fit converged</a:t>
            </a:r>
          </a:p>
        </p:txBody>
      </p:sp>
      <p:sp>
        <p:nvSpPr>
          <p:cNvPr id="17" name="Rounded Rectangle 16"/>
          <p:cNvSpPr/>
          <p:nvPr/>
        </p:nvSpPr>
        <p:spPr>
          <a:xfrm>
            <a:off x="8595360" y="3794760"/>
            <a:ext cx="306324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3931920"/>
            <a:ext cx="2743200" cy="1188720"/>
          </a:xfrm>
          <a:prstGeom prst="rect">
            <a:avLst/>
          </a:prstGeom>
          <a:noFill/>
        </p:spPr>
        <p:txBody>
          <a:bodyPr wrap="square" lIns="0" rIns="0" tIns="0" bIns="0" anchor="t">
            <a:spAutoFit/>
          </a:bodyPr>
          <a:lstStyle/>
          <a:p>
            <a:pPr algn="l">
              <a:spcAft>
                <a:spcPts val="500"/>
              </a:spcAft>
            </a:pPr>
            <a:r>
              <a:rPr sz="1600" b="1" i="0">
                <a:solidFill>
                  <a:srgbClr val="142340"/>
                </a:solidFill>
                <a:latin typeface="Calibri"/>
              </a:rPr>
              <a:t>Submission</a:t>
            </a:r>
          </a:p>
          <a:p>
            <a:pPr algn="l">
              <a:spcAft>
                <a:spcPts val="500"/>
              </a:spcAft>
            </a:pPr>
            <a:r>
              <a:rPr sz="1350" b="0" i="0">
                <a:solidFill>
                  <a:srgbClr val="52514E"/>
                </a:solidFill>
                <a:latin typeface="Calibri"/>
              </a:rPr>
              <a:t>Refit on all 260,601 rows → 86,868 test predictions</a:t>
            </a:r>
          </a:p>
        </p:txBody>
      </p:sp>
      <p:sp>
        <p:nvSpPr>
          <p:cNvPr id="19" name="TextBox 18"/>
          <p:cNvSpPr txBox="1"/>
          <p:nvPr/>
        </p:nvSpPr>
        <p:spPr>
          <a:xfrm>
            <a:off x="548640" y="5532120"/>
            <a:ext cx="11064240" cy="640080"/>
          </a:xfrm>
          <a:prstGeom prst="rect">
            <a:avLst/>
          </a:prstGeom>
          <a:noFill/>
        </p:spPr>
        <p:txBody>
          <a:bodyPr wrap="square" lIns="0" rIns="0" tIns="0" bIns="0" anchor="t">
            <a:spAutoFit/>
          </a:bodyPr>
          <a:lstStyle/>
          <a:p>
            <a:pPr algn="l"/>
            <a:r>
              <a:rPr sz="1300" b="0" i="0">
                <a:solidFill>
                  <a:srgbClr val="8A8984"/>
                </a:solidFill>
                <a:latin typeface="Calibri"/>
              </a:rPr>
              <a:t>Random state 42 everywhere. Experiments: E0 majority baseline → E1 structure → E2 + region → E3 + geo target encoding → E4 + engineered features → E5 class-balanced → E6 ordinal.</a:t>
            </a:r>
          </a:p>
        </p:txBody>
      </p:sp>
      <p:sp>
        <p:nvSpPr>
          <p:cNvPr id="20" name="TextBox 1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21" name="TextBox 2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drives the gains; reweighting and ordinal do not</a:t>
            </a:r>
          </a:p>
        </p:txBody>
      </p:sp>
      <p:pic>
        <p:nvPicPr>
          <p:cNvPr id="4" name="Picture 3" descr="fig07_experiments.png"/>
          <p:cNvPicPr>
            <a:picLocks noChangeAspect="1"/>
          </p:cNvPicPr>
          <p:nvPr/>
        </p:nvPicPr>
        <p:blipFill>
          <a:blip r:embed="rId2"/>
          <a:stretch>
            <a:fillRect/>
          </a:stretch>
        </p:blipFill>
        <p:spPr>
          <a:xfrm>
            <a:off x="457200" y="2016657"/>
            <a:ext cx="7589520" cy="3647645"/>
          </a:xfrm>
          <a:prstGeom prst="rect">
            <a:avLst/>
          </a:prstGeom>
        </p:spPr>
      </p:pic>
      <p:sp>
        <p:nvSpPr>
          <p:cNvPr id="5" name="TextBox 4"/>
          <p:cNvSpPr txBox="1"/>
          <p:nvPr/>
        </p:nvSpPr>
        <p:spPr>
          <a:xfrm>
            <a:off x="8321040" y="1645920"/>
            <a:ext cx="3383280" cy="4572000"/>
          </a:xfrm>
          <a:prstGeom prst="rect">
            <a:avLst/>
          </a:prstGeom>
          <a:noFill/>
        </p:spPr>
        <p:txBody>
          <a:bodyPr wrap="square" lIns="0" rIns="0" tIns="0" bIns="0" anchor="t">
            <a:spAutoFit/>
          </a:bodyPr>
          <a:lstStyle/>
          <a:p>
            <a:pPr algn="l">
              <a:spcAft>
                <a:spcPts val="1200"/>
              </a:spcAft>
            </a:pPr>
            <a:r>
              <a:rPr sz="1450" b="1" i="0">
                <a:solidFill>
                  <a:srgbClr val="142340"/>
                </a:solidFill>
                <a:latin typeface="Calibri"/>
              </a:rPr>
              <a:t>Baseline </a:t>
            </a:r>
            <a:r>
              <a:rPr sz="1450" b="0" i="0">
                <a:solidFill>
                  <a:srgbClr val="52514E"/>
                </a:solidFill>
                <a:latin typeface="Calibri"/>
              </a:rPr>
              <a:t>always predicts grade 2: 0.569</a:t>
            </a:r>
          </a:p>
          <a:p>
            <a:pPr algn="l">
              <a:spcAft>
                <a:spcPts val="1200"/>
              </a:spcAft>
            </a:pPr>
            <a:r>
              <a:rPr sz="1450" b="1" i="0">
                <a:solidFill>
                  <a:srgbClr val="142340"/>
                </a:solidFill>
                <a:latin typeface="Calibri"/>
              </a:rPr>
              <a:t>Structure alone </a:t>
            </a:r>
            <a:r>
              <a:rPr sz="1450" b="0" i="0">
                <a:solidFill>
                  <a:srgbClr val="52514E"/>
                </a:solidFill>
                <a:latin typeface="Calibri"/>
              </a:rPr>
              <a:t>0.591 (+2.2 pp)</a:t>
            </a:r>
          </a:p>
          <a:p>
            <a:pPr algn="l">
              <a:spcAft>
                <a:spcPts val="1200"/>
              </a:spcAft>
            </a:pPr>
            <a:r>
              <a:rPr sz="1450" b="1" i="0">
                <a:solidFill>
                  <a:srgbClr val="142340"/>
                </a:solidFill>
                <a:latin typeface="Calibri"/>
              </a:rPr>
              <a:t>Location </a:t>
            </a:r>
            <a:r>
              <a:rPr sz="1450" b="0" i="0">
                <a:solidFill>
                  <a:srgbClr val="52514E"/>
                </a:solidFill>
                <a:latin typeface="Calibri"/>
              </a:rPr>
              <a:t>adds +8.1 pp (region) and +6.3 pp (villages)</a:t>
            </a:r>
          </a:p>
          <a:p>
            <a:pPr algn="l">
              <a:spcAft>
                <a:spcPts val="1200"/>
              </a:spcAft>
            </a:pPr>
            <a:r>
              <a:rPr sz="1450" b="1" i="0">
                <a:solidFill>
                  <a:srgbClr val="142340"/>
                </a:solidFill>
                <a:latin typeface="Calibri"/>
              </a:rPr>
              <a:t>Engineered features </a:t>
            </a:r>
            <a:r>
              <a:rPr sz="1450" b="0" i="0">
                <a:solidFill>
                  <a:srgbClr val="52514E"/>
                </a:solidFill>
                <a:latin typeface="Calibri"/>
              </a:rPr>
              <a:t>+0.02 pp</a:t>
            </a:r>
          </a:p>
          <a:p>
            <a:pPr algn="l">
              <a:spcAft>
                <a:spcPts val="1200"/>
              </a:spcAft>
            </a:pPr>
            <a:r>
              <a:rPr sz="1450" b="1" i="0">
                <a:solidFill>
                  <a:srgbClr val="142340"/>
                </a:solidFill>
                <a:latin typeface="Calibri"/>
              </a:rPr>
              <a:t>Fold std </a:t>
            </a:r>
            <a:r>
              <a:rPr sz="1450" b="0" i="0">
                <a:solidFill>
                  <a:srgbClr val="52514E"/>
                </a:solidFill>
                <a:latin typeface="Calibri"/>
              </a:rPr>
              <a:t>≤ 0.0019, so gaps of ≥ 0.9 pp are well beyond noise</a:t>
            </a:r>
          </a:p>
        </p:txBody>
      </p:sp>
      <p:sp>
        <p:nvSpPr>
          <p:cNvPr id="6" name="TextBox 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7" name="TextBox 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Holdout performance of the tuned model</a:t>
            </a:r>
          </a:p>
        </p:txBody>
      </p:sp>
      <p:sp>
        <p:nvSpPr>
          <p:cNvPr id="4" name="TextBox 3"/>
          <p:cNvSpPr txBox="1"/>
          <p:nvPr/>
        </p:nvSpPr>
        <p:spPr>
          <a:xfrm>
            <a:off x="548640" y="1600200"/>
            <a:ext cx="3017520" cy="685800"/>
          </a:xfrm>
          <a:prstGeom prst="rect">
            <a:avLst/>
          </a:prstGeom>
          <a:noFill/>
        </p:spPr>
        <p:txBody>
          <a:bodyPr wrap="square" lIns="0" rIns="0" tIns="0" bIns="0" anchor="t">
            <a:spAutoFit/>
          </a:bodyPr>
          <a:lstStyle/>
          <a:p>
            <a:pPr algn="l"/>
            <a:r>
              <a:rPr sz="4800" b="1" i="0">
                <a:solidFill>
                  <a:srgbClr val="EB6834"/>
                </a:solidFill>
                <a:latin typeface="Cambria"/>
              </a:rPr>
              <a:t>0.740</a:t>
            </a:r>
          </a:p>
        </p:txBody>
      </p:sp>
      <p:sp>
        <p:nvSpPr>
          <p:cNvPr id="5" name="TextBox 4"/>
          <p:cNvSpPr txBox="1"/>
          <p:nvPr/>
        </p:nvSpPr>
        <p:spPr>
          <a:xfrm>
            <a:off x="548640" y="233172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micro-F1
(competition metric)</a:t>
            </a:r>
          </a:p>
        </p:txBody>
      </p:sp>
      <p:sp>
        <p:nvSpPr>
          <p:cNvPr id="6" name="TextBox 5"/>
          <p:cNvSpPr txBox="1"/>
          <p:nvPr/>
        </p:nvSpPr>
        <p:spPr>
          <a:xfrm>
            <a:off x="548640" y="3108960"/>
            <a:ext cx="3017520" cy="685800"/>
          </a:xfrm>
          <a:prstGeom prst="rect">
            <a:avLst/>
          </a:prstGeom>
          <a:noFill/>
        </p:spPr>
        <p:txBody>
          <a:bodyPr wrap="square" lIns="0" rIns="0" tIns="0" bIns="0" anchor="t">
            <a:spAutoFit/>
          </a:bodyPr>
          <a:lstStyle/>
          <a:p>
            <a:pPr algn="l"/>
            <a:r>
              <a:rPr sz="4000" b="1" i="0">
                <a:solidFill>
                  <a:srgbClr val="142340"/>
                </a:solidFill>
                <a:latin typeface="Cambria"/>
              </a:rPr>
              <a:t>0.680</a:t>
            </a:r>
          </a:p>
        </p:txBody>
      </p:sp>
      <p:sp>
        <p:nvSpPr>
          <p:cNvPr id="7" name="TextBox 6"/>
          <p:cNvSpPr txBox="1"/>
          <p:nvPr/>
        </p:nvSpPr>
        <p:spPr>
          <a:xfrm>
            <a:off x="548640" y="384048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macro-F1</a:t>
            </a:r>
          </a:p>
        </p:txBody>
      </p:sp>
      <p:sp>
        <p:nvSpPr>
          <p:cNvPr id="8" name="TextBox 7"/>
          <p:cNvSpPr txBox="1"/>
          <p:nvPr/>
        </p:nvSpPr>
        <p:spPr>
          <a:xfrm>
            <a:off x="548640" y="4434840"/>
            <a:ext cx="3017520" cy="685800"/>
          </a:xfrm>
          <a:prstGeom prst="rect">
            <a:avLst/>
          </a:prstGeom>
          <a:noFill/>
        </p:spPr>
        <p:txBody>
          <a:bodyPr wrap="square" lIns="0" rIns="0" tIns="0" bIns="0" anchor="t">
            <a:spAutoFit/>
          </a:bodyPr>
          <a:lstStyle/>
          <a:p>
            <a:pPr algn="l"/>
            <a:r>
              <a:rPr sz="3200" b="1" i="0">
                <a:solidFill>
                  <a:srgbClr val="142340"/>
                </a:solidFill>
                <a:latin typeface="Cambria"/>
              </a:rPr>
              <a:t>0.735</a:t>
            </a:r>
          </a:p>
        </p:txBody>
      </p:sp>
      <p:sp>
        <p:nvSpPr>
          <p:cNvPr id="9" name="TextBox 8"/>
          <p:cNvSpPr txBox="1"/>
          <p:nvPr/>
        </p:nvSpPr>
        <p:spPr>
          <a:xfrm>
            <a:off x="548640" y="5166359"/>
            <a:ext cx="3017520" cy="640080"/>
          </a:xfrm>
          <a:prstGeom prst="rect">
            <a:avLst/>
          </a:prstGeom>
          <a:noFill/>
        </p:spPr>
        <p:txBody>
          <a:bodyPr wrap="square" lIns="0" rIns="0" tIns="0" bIns="0" anchor="t">
            <a:spAutoFit/>
          </a:bodyPr>
          <a:lstStyle/>
          <a:p>
            <a:pPr algn="l"/>
            <a:r>
              <a:rPr sz="1400" b="0" i="0">
                <a:solidFill>
                  <a:srgbClr val="52514E"/>
                </a:solidFill>
                <a:latin typeface="Calibri"/>
              </a:rPr>
              <a:t>CV micro-F1 at C = 0.3
(holdout agrees with CV)</a:t>
            </a:r>
          </a:p>
        </p:txBody>
      </p:sp>
      <p:pic>
        <p:nvPicPr>
          <p:cNvPr id="10" name="Picture 9" descr="fig09_confusion_matrix.png"/>
          <p:cNvPicPr>
            <a:picLocks noChangeAspect="1"/>
          </p:cNvPicPr>
          <p:nvPr/>
        </p:nvPicPr>
        <p:blipFill>
          <a:blip r:embed="rId2"/>
          <a:stretch>
            <a:fillRect/>
          </a:stretch>
        </p:blipFill>
        <p:spPr>
          <a:xfrm>
            <a:off x="3566160" y="2016280"/>
            <a:ext cx="4754880" cy="3648398"/>
          </a:xfrm>
          <a:prstGeom prst="rect">
            <a:avLst/>
          </a:prstGeom>
        </p:spPr>
      </p:pic>
      <p:sp>
        <p:nvSpPr>
          <p:cNvPr id="11" name="TextBox 10"/>
          <p:cNvSpPr txBox="1"/>
          <p:nvPr/>
        </p:nvSpPr>
        <p:spPr>
          <a:xfrm>
            <a:off x="8595360" y="1600200"/>
            <a:ext cx="3108960" cy="365760"/>
          </a:xfrm>
          <a:prstGeom prst="rect">
            <a:avLst/>
          </a:prstGeom>
          <a:noFill/>
        </p:spPr>
        <p:txBody>
          <a:bodyPr wrap="square" lIns="0" rIns="0" tIns="0" bIns="0" anchor="t">
            <a:spAutoFit/>
          </a:bodyPr>
          <a:lstStyle/>
          <a:p>
            <a:pPr algn="l"/>
            <a:r>
              <a:rPr sz="1700" b="1" i="0">
                <a:solidFill>
                  <a:srgbClr val="142340"/>
                </a:solidFill>
                <a:latin typeface="Calibri"/>
              </a:rPr>
              <a:t>Per-class recall</a:t>
            </a:r>
          </a:p>
        </p:txBody>
      </p:sp>
      <p:sp>
        <p:nvSpPr>
          <p:cNvPr id="12" name="Rounded Rectangle 11"/>
          <p:cNvSpPr/>
          <p:nvPr/>
        </p:nvSpPr>
        <p:spPr>
          <a:xfrm>
            <a:off x="8595360" y="210312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2212848"/>
            <a:ext cx="1463040" cy="640080"/>
          </a:xfrm>
          <a:prstGeom prst="rect">
            <a:avLst/>
          </a:prstGeom>
          <a:noFill/>
        </p:spPr>
        <p:txBody>
          <a:bodyPr wrap="square" lIns="0" rIns="0" tIns="0" bIns="0" anchor="ctr">
            <a:spAutoFit/>
          </a:bodyPr>
          <a:lstStyle/>
          <a:p>
            <a:pPr algn="l"/>
            <a:r>
              <a:rPr sz="1500" b="1" i="0">
                <a:solidFill>
                  <a:srgbClr val="142340"/>
                </a:solidFill>
                <a:latin typeface="Calibri"/>
              </a:rPr>
              <a:t>Grade 1</a:t>
            </a:r>
          </a:p>
        </p:txBody>
      </p:sp>
      <p:sp>
        <p:nvSpPr>
          <p:cNvPr id="14" name="TextBox 13"/>
          <p:cNvSpPr txBox="1"/>
          <p:nvPr/>
        </p:nvSpPr>
        <p:spPr>
          <a:xfrm>
            <a:off x="10149840" y="2176272"/>
            <a:ext cx="1371600" cy="685800"/>
          </a:xfrm>
          <a:prstGeom prst="rect">
            <a:avLst/>
          </a:prstGeom>
          <a:noFill/>
        </p:spPr>
        <p:txBody>
          <a:bodyPr wrap="square" lIns="0" rIns="0" tIns="0" bIns="0" anchor="ctr">
            <a:spAutoFit/>
          </a:bodyPr>
          <a:lstStyle/>
          <a:p>
            <a:pPr algn="r"/>
            <a:r>
              <a:rPr sz="2600" b="1" i="0">
                <a:solidFill>
                  <a:srgbClr val="142340"/>
                </a:solidFill>
                <a:latin typeface="Cambria"/>
              </a:rPr>
              <a:t>0.48</a:t>
            </a:r>
          </a:p>
        </p:txBody>
      </p:sp>
      <p:sp>
        <p:nvSpPr>
          <p:cNvPr id="15" name="Rounded Rectangle 14"/>
          <p:cNvSpPr/>
          <p:nvPr/>
        </p:nvSpPr>
        <p:spPr>
          <a:xfrm>
            <a:off x="8595360" y="3063239"/>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0" y="3172968"/>
            <a:ext cx="1463040" cy="640080"/>
          </a:xfrm>
          <a:prstGeom prst="rect">
            <a:avLst/>
          </a:prstGeom>
          <a:noFill/>
        </p:spPr>
        <p:txBody>
          <a:bodyPr wrap="square" lIns="0" rIns="0" tIns="0" bIns="0" anchor="ctr">
            <a:spAutoFit/>
          </a:bodyPr>
          <a:lstStyle/>
          <a:p>
            <a:pPr algn="l"/>
            <a:r>
              <a:rPr sz="1500" b="1" i="0">
                <a:solidFill>
                  <a:srgbClr val="142340"/>
                </a:solidFill>
                <a:latin typeface="Calibri"/>
              </a:rPr>
              <a:t>Grade 2</a:t>
            </a:r>
          </a:p>
        </p:txBody>
      </p:sp>
      <p:sp>
        <p:nvSpPr>
          <p:cNvPr id="17" name="TextBox 16"/>
          <p:cNvSpPr txBox="1"/>
          <p:nvPr/>
        </p:nvSpPr>
        <p:spPr>
          <a:xfrm>
            <a:off x="10149840" y="3136391"/>
            <a:ext cx="1371600" cy="685800"/>
          </a:xfrm>
          <a:prstGeom prst="rect">
            <a:avLst/>
          </a:prstGeom>
          <a:noFill/>
        </p:spPr>
        <p:txBody>
          <a:bodyPr wrap="square" lIns="0" rIns="0" tIns="0" bIns="0" anchor="ctr">
            <a:spAutoFit/>
          </a:bodyPr>
          <a:lstStyle/>
          <a:p>
            <a:pPr algn="r"/>
            <a:r>
              <a:rPr sz="2600" b="1" i="0">
                <a:solidFill>
                  <a:srgbClr val="142340"/>
                </a:solidFill>
                <a:latin typeface="Cambria"/>
              </a:rPr>
              <a:t>0.85</a:t>
            </a:r>
          </a:p>
        </p:txBody>
      </p:sp>
      <p:sp>
        <p:nvSpPr>
          <p:cNvPr id="18" name="Rounded Rectangle 17"/>
          <p:cNvSpPr/>
          <p:nvPr/>
        </p:nvSpPr>
        <p:spPr>
          <a:xfrm>
            <a:off x="8595360" y="402336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0" y="4133088"/>
            <a:ext cx="1463040" cy="640080"/>
          </a:xfrm>
          <a:prstGeom prst="rect">
            <a:avLst/>
          </a:prstGeom>
          <a:noFill/>
        </p:spPr>
        <p:txBody>
          <a:bodyPr wrap="square" lIns="0" rIns="0" tIns="0" bIns="0" anchor="ctr">
            <a:spAutoFit/>
          </a:bodyPr>
          <a:lstStyle/>
          <a:p>
            <a:pPr algn="l"/>
            <a:r>
              <a:rPr sz="1500" b="1" i="0">
                <a:solidFill>
                  <a:srgbClr val="142340"/>
                </a:solidFill>
                <a:latin typeface="Calibri"/>
              </a:rPr>
              <a:t>Grade 3</a:t>
            </a:r>
          </a:p>
        </p:txBody>
      </p:sp>
      <p:sp>
        <p:nvSpPr>
          <p:cNvPr id="20" name="TextBox 19"/>
          <p:cNvSpPr txBox="1"/>
          <p:nvPr/>
        </p:nvSpPr>
        <p:spPr>
          <a:xfrm>
            <a:off x="10149840" y="4096512"/>
            <a:ext cx="1371600" cy="685800"/>
          </a:xfrm>
          <a:prstGeom prst="rect">
            <a:avLst/>
          </a:prstGeom>
          <a:noFill/>
        </p:spPr>
        <p:txBody>
          <a:bodyPr wrap="square" lIns="0" rIns="0" tIns="0" bIns="0" anchor="ctr">
            <a:spAutoFit/>
          </a:bodyPr>
          <a:lstStyle/>
          <a:p>
            <a:pPr algn="r"/>
            <a:r>
              <a:rPr sz="2600" b="1" i="0">
                <a:solidFill>
                  <a:srgbClr val="EB6834"/>
                </a:solidFill>
                <a:latin typeface="Cambria"/>
              </a:rPr>
              <a:t>0.63</a:t>
            </a:r>
          </a:p>
        </p:txBody>
      </p:sp>
      <p:sp>
        <p:nvSpPr>
          <p:cNvPr id="21" name="TextBox 20"/>
          <p:cNvSpPr txBox="1"/>
          <p:nvPr/>
        </p:nvSpPr>
        <p:spPr>
          <a:xfrm>
            <a:off x="8595360" y="5074920"/>
            <a:ext cx="3108960" cy="1188720"/>
          </a:xfrm>
          <a:prstGeom prst="rect">
            <a:avLst/>
          </a:prstGeom>
          <a:noFill/>
        </p:spPr>
        <p:txBody>
          <a:bodyPr wrap="square" lIns="0" rIns="0" tIns="0" bIns="0" anchor="t">
            <a:spAutoFit/>
          </a:bodyPr>
          <a:lstStyle/>
          <a:p>
            <a:pPr algn="l"/>
            <a:r>
              <a:rPr sz="1350" b="0" i="0">
                <a:solidFill>
                  <a:srgbClr val="52514E"/>
                </a:solidFill>
                <a:latin typeface="Calibri"/>
              </a:rPr>
              <a:t>Errors are almost all between adjacent grades: only 0.5% of grade-3 buildings are predicted as grade 1.</a:t>
            </a:r>
          </a:p>
        </p:txBody>
      </p:sp>
      <p:sp>
        <p:nvSpPr>
          <p:cNvPr id="22" name="TextBox 21"/>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23" name="TextBox 22"/>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Ranking finds destroyed buildings far faster than random</a:t>
            </a:r>
          </a:p>
        </p:txBody>
      </p:sp>
      <p:pic>
        <p:nvPicPr>
          <p:cNvPr id="4" name="Picture 3" descr="fig10_prioritisation_curve.png"/>
          <p:cNvPicPr>
            <a:picLocks noChangeAspect="1"/>
          </p:cNvPicPr>
          <p:nvPr/>
        </p:nvPicPr>
        <p:blipFill>
          <a:blip r:embed="rId2"/>
          <a:stretch>
            <a:fillRect/>
          </a:stretch>
        </p:blipFill>
        <p:spPr>
          <a:xfrm>
            <a:off x="457200" y="1840747"/>
            <a:ext cx="6766559" cy="3999465"/>
          </a:xfrm>
          <a:prstGeom prst="rect">
            <a:avLst/>
          </a:prstGeom>
        </p:spPr>
      </p:pic>
      <p:sp>
        <p:nvSpPr>
          <p:cNvPr id="5" name="Rounded Rectangle 4"/>
          <p:cNvSpPr/>
          <p:nvPr/>
        </p:nvSpPr>
        <p:spPr>
          <a:xfrm>
            <a:off x="7589520" y="155448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8120" y="1691639"/>
            <a:ext cx="1737360" cy="731520"/>
          </a:xfrm>
          <a:prstGeom prst="rect">
            <a:avLst/>
          </a:prstGeom>
          <a:noFill/>
        </p:spPr>
        <p:txBody>
          <a:bodyPr wrap="square" lIns="0" rIns="0" tIns="0" bIns="0" anchor="t">
            <a:spAutoFit/>
          </a:bodyPr>
          <a:lstStyle/>
          <a:p>
            <a:pPr algn="l"/>
            <a:r>
              <a:rPr sz="4000" b="1" i="0">
                <a:solidFill>
                  <a:srgbClr val="EB6834"/>
                </a:solidFill>
                <a:latin typeface="Cambria"/>
              </a:rPr>
              <a:t>28%</a:t>
            </a:r>
          </a:p>
        </p:txBody>
      </p:sp>
      <p:sp>
        <p:nvSpPr>
          <p:cNvPr id="7" name="TextBox 6"/>
          <p:cNvSpPr txBox="1"/>
          <p:nvPr/>
        </p:nvSpPr>
        <p:spPr>
          <a:xfrm>
            <a:off x="9555480" y="173736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by inspecting the top 10%</a:t>
            </a:r>
          </a:p>
          <a:p>
            <a:pPr algn="l">
              <a:spcAft>
                <a:spcPts val="300"/>
              </a:spcAft>
            </a:pPr>
            <a:r>
              <a:rPr sz="1350" b="1" i="0">
                <a:solidFill>
                  <a:srgbClr val="142340"/>
                </a:solidFill>
                <a:latin typeface="Calibri"/>
              </a:rPr>
              <a:t>2.8× better than random</a:t>
            </a:r>
          </a:p>
        </p:txBody>
      </p:sp>
      <p:sp>
        <p:nvSpPr>
          <p:cNvPr id="8" name="Rounded Rectangle 7"/>
          <p:cNvSpPr/>
          <p:nvPr/>
        </p:nvSpPr>
        <p:spPr>
          <a:xfrm>
            <a:off x="7589520" y="301752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3154679"/>
            <a:ext cx="1737360" cy="731520"/>
          </a:xfrm>
          <a:prstGeom prst="rect">
            <a:avLst/>
          </a:prstGeom>
          <a:noFill/>
        </p:spPr>
        <p:txBody>
          <a:bodyPr wrap="square" lIns="0" rIns="0" tIns="0" bIns="0" anchor="t">
            <a:spAutoFit/>
          </a:bodyPr>
          <a:lstStyle/>
          <a:p>
            <a:pPr algn="l"/>
            <a:r>
              <a:rPr sz="4000" b="1" i="0">
                <a:solidFill>
                  <a:srgbClr val="EB6834"/>
                </a:solidFill>
                <a:latin typeface="Cambria"/>
              </a:rPr>
              <a:t>50%</a:t>
            </a:r>
          </a:p>
        </p:txBody>
      </p:sp>
      <p:sp>
        <p:nvSpPr>
          <p:cNvPr id="10" name="TextBox 9"/>
          <p:cNvSpPr txBox="1"/>
          <p:nvPr/>
        </p:nvSpPr>
        <p:spPr>
          <a:xfrm>
            <a:off x="9555480" y="320040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by inspecting the top 20%</a:t>
            </a:r>
          </a:p>
          <a:p>
            <a:pPr algn="l">
              <a:spcAft>
                <a:spcPts val="300"/>
              </a:spcAft>
            </a:pPr>
            <a:r>
              <a:rPr sz="1350" b="1" i="0">
                <a:solidFill>
                  <a:srgbClr val="142340"/>
                </a:solidFill>
                <a:latin typeface="Calibri"/>
              </a:rPr>
              <a:t>2.5× better than random</a:t>
            </a:r>
          </a:p>
        </p:txBody>
      </p:sp>
      <p:sp>
        <p:nvSpPr>
          <p:cNvPr id="11" name="Rounded Rectangle 10"/>
          <p:cNvSpPr/>
          <p:nvPr/>
        </p:nvSpPr>
        <p:spPr>
          <a:xfrm>
            <a:off x="7589520" y="448056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4617720"/>
            <a:ext cx="1737360" cy="731520"/>
          </a:xfrm>
          <a:prstGeom prst="rect">
            <a:avLst/>
          </a:prstGeom>
          <a:noFill/>
        </p:spPr>
        <p:txBody>
          <a:bodyPr wrap="square" lIns="0" rIns="0" tIns="0" bIns="0" anchor="t">
            <a:spAutoFit/>
          </a:bodyPr>
          <a:lstStyle/>
          <a:p>
            <a:pPr algn="l"/>
            <a:r>
              <a:rPr sz="4000" b="1" i="0">
                <a:solidFill>
                  <a:srgbClr val="EB6834"/>
                </a:solidFill>
                <a:latin typeface="Cambria"/>
              </a:rPr>
              <a:t>66%</a:t>
            </a:r>
          </a:p>
        </p:txBody>
      </p:sp>
      <p:sp>
        <p:nvSpPr>
          <p:cNvPr id="13" name="TextBox 12"/>
          <p:cNvSpPr txBox="1"/>
          <p:nvPr/>
        </p:nvSpPr>
        <p:spPr>
          <a:xfrm>
            <a:off x="9555480" y="466344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by inspecting the top 30%</a:t>
            </a:r>
          </a:p>
          <a:p>
            <a:pPr algn="l">
              <a:spcAft>
                <a:spcPts val="300"/>
              </a:spcAft>
            </a:pPr>
            <a:r>
              <a:rPr sz="1350" b="1" i="0">
                <a:solidFill>
                  <a:srgbClr val="142340"/>
                </a:solidFill>
                <a:latin typeface="Calibri"/>
              </a:rPr>
              <a:t>2.2× better than random</a:t>
            </a:r>
          </a:p>
        </p:txBody>
      </p:sp>
      <p:sp>
        <p:nvSpPr>
          <p:cNvPr id="14" name="TextBox 13"/>
          <p:cNvSpPr txBox="1"/>
          <p:nvPr/>
        </p:nvSpPr>
        <p:spPr>
          <a:xfrm>
            <a:off x="7589520" y="5943600"/>
            <a:ext cx="4069080" cy="365760"/>
          </a:xfrm>
          <a:prstGeom prst="rect">
            <a:avLst/>
          </a:prstGeom>
          <a:noFill/>
        </p:spPr>
        <p:txBody>
          <a:bodyPr wrap="square" lIns="0" rIns="0" tIns="0" bIns="0" anchor="t">
            <a:spAutoFit/>
          </a:bodyPr>
          <a:lstStyle/>
          <a:p>
            <a:pPr algn="l"/>
            <a:r>
              <a:rPr sz="1300" b="0" i="0">
                <a:solidFill>
                  <a:srgbClr val="8A8984"/>
                </a:solidFill>
                <a:latin typeface="Calibri"/>
              </a:rPr>
              <a:t>Grade-3 vs rest ROC-AUC = 0.866 on the holdout</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raises the odds of destruction?</a:t>
            </a:r>
          </a:p>
        </p:txBody>
      </p:sp>
      <p:pic>
        <p:nvPicPr>
          <p:cNvPr id="4" name="Picture 3" descr="fig11b_coefficients_slide.png"/>
          <p:cNvPicPr>
            <a:picLocks noChangeAspect="1"/>
          </p:cNvPicPr>
          <p:nvPr/>
        </p:nvPicPr>
        <p:blipFill>
          <a:blip r:embed="rId2"/>
          <a:stretch>
            <a:fillRect/>
          </a:stretch>
        </p:blipFill>
        <p:spPr>
          <a:xfrm>
            <a:off x="457200" y="1979334"/>
            <a:ext cx="6126480" cy="3722290"/>
          </a:xfrm>
          <a:prstGeom prst="rect">
            <a:avLst/>
          </a:prstGeom>
        </p:spPr>
      </p:pic>
      <p:sp>
        <p:nvSpPr>
          <p:cNvPr id="5" name="Rounded Rectangle 4"/>
          <p:cNvSpPr/>
          <p:nvPr/>
        </p:nvSpPr>
        <p:spPr>
          <a:xfrm>
            <a:off x="6766560" y="1463040"/>
            <a:ext cx="4892040" cy="1463040"/>
          </a:xfrm>
          <a:prstGeom prst="roundRect">
            <a:avLst>
              <a:gd name="adj" fmla="val 8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95160" y="1572768"/>
            <a:ext cx="4480560" cy="320040"/>
          </a:xfrm>
          <a:prstGeom prst="rect">
            <a:avLst/>
          </a:prstGeom>
          <a:noFill/>
        </p:spPr>
        <p:txBody>
          <a:bodyPr wrap="square" lIns="0" rIns="0" tIns="0" bIns="0" anchor="t">
            <a:spAutoFit/>
          </a:bodyPr>
          <a:lstStyle/>
          <a:p>
            <a:pPr algn="l"/>
            <a:r>
              <a:rPr sz="1600" b="1" i="0">
                <a:solidFill>
                  <a:srgbClr val="B32E2D"/>
                </a:solidFill>
                <a:latin typeface="Calibri"/>
              </a:rPr>
              <a:t>Raise grade-3 odds</a:t>
            </a:r>
          </a:p>
        </p:txBody>
      </p:sp>
      <p:sp>
        <p:nvSpPr>
          <p:cNvPr id="7" name="TextBox 6"/>
          <p:cNvSpPr txBox="1"/>
          <p:nvPr/>
        </p:nvSpPr>
        <p:spPr>
          <a:xfrm>
            <a:off x="6995160" y="1938528"/>
            <a:ext cx="4480560" cy="960120"/>
          </a:xfrm>
          <a:prstGeom prst="rect">
            <a:avLst/>
          </a:prstGeom>
          <a:noFill/>
        </p:spPr>
        <p:txBody>
          <a:bodyPr wrap="square" lIns="0" rIns="0" tIns="0" bIns="0" anchor="t">
            <a:spAutoFit/>
          </a:bodyPr>
          <a:lstStyle/>
          <a:p>
            <a:pPr algn="l">
              <a:spcAft>
                <a:spcPts val="200"/>
              </a:spcAft>
            </a:pPr>
            <a:r>
              <a:rPr sz="1400" b="0" i="0">
                <a:solidFill>
                  <a:srgbClr val="0B0B0B"/>
                </a:solidFill>
                <a:latin typeface="Calibri"/>
              </a:rPr>
              <a:t>superstructure: mud mortar stone: ×1.38</a:t>
            </a:r>
          </a:p>
          <a:p>
            <a:pPr algn="l">
              <a:spcAft>
                <a:spcPts val="200"/>
              </a:spcAft>
            </a:pPr>
            <a:r>
              <a:rPr sz="1400" b="0" i="0">
                <a:solidFill>
                  <a:srgbClr val="0B0B0B"/>
                </a:solidFill>
                <a:latin typeface="Calibri"/>
              </a:rPr>
              <a:t>age: ×1.37</a:t>
            </a:r>
          </a:p>
          <a:p>
            <a:pPr algn="l">
              <a:spcAft>
                <a:spcPts val="200"/>
              </a:spcAft>
            </a:pPr>
            <a:r>
              <a:rPr sz="1400" b="0" i="0">
                <a:solidFill>
                  <a:srgbClr val="0B0B0B"/>
                </a:solidFill>
                <a:latin typeface="Calibri"/>
              </a:rPr>
              <a:t>superstructure: stone flag: ×1.31</a:t>
            </a:r>
          </a:p>
        </p:txBody>
      </p:sp>
      <p:sp>
        <p:nvSpPr>
          <p:cNvPr id="8" name="Rounded Rectangle 7"/>
          <p:cNvSpPr/>
          <p:nvPr/>
        </p:nvSpPr>
        <p:spPr>
          <a:xfrm>
            <a:off x="6766560" y="3063240"/>
            <a:ext cx="4892040" cy="14630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3172968"/>
            <a:ext cx="4480560" cy="320040"/>
          </a:xfrm>
          <a:prstGeom prst="rect">
            <a:avLst/>
          </a:prstGeom>
          <a:noFill/>
        </p:spPr>
        <p:txBody>
          <a:bodyPr wrap="square" lIns="0" rIns="0" tIns="0" bIns="0" anchor="t">
            <a:spAutoFit/>
          </a:bodyPr>
          <a:lstStyle/>
          <a:p>
            <a:pPr algn="l"/>
            <a:r>
              <a:rPr sz="1600" b="1" i="0">
                <a:solidFill>
                  <a:srgbClr val="104281"/>
                </a:solidFill>
                <a:latin typeface="Calibri"/>
              </a:rPr>
              <a:t>Lower grade-3 odds</a:t>
            </a:r>
          </a:p>
        </p:txBody>
      </p:sp>
      <p:sp>
        <p:nvSpPr>
          <p:cNvPr id="10" name="TextBox 9"/>
          <p:cNvSpPr txBox="1"/>
          <p:nvPr/>
        </p:nvSpPr>
        <p:spPr>
          <a:xfrm>
            <a:off x="6995160" y="3538728"/>
            <a:ext cx="4480560" cy="960120"/>
          </a:xfrm>
          <a:prstGeom prst="rect">
            <a:avLst/>
          </a:prstGeom>
          <a:noFill/>
        </p:spPr>
        <p:txBody>
          <a:bodyPr wrap="square" lIns="0" rIns="0" tIns="0" bIns="0" anchor="t">
            <a:spAutoFit/>
          </a:bodyPr>
          <a:lstStyle/>
          <a:p>
            <a:pPr algn="l">
              <a:spcAft>
                <a:spcPts val="200"/>
              </a:spcAft>
            </a:pPr>
            <a:r>
              <a:rPr sz="1400" b="0" i="0">
                <a:solidFill>
                  <a:srgbClr val="0B0B0B"/>
                </a:solidFill>
                <a:latin typeface="Calibri"/>
              </a:rPr>
              <a:t>foundation type = i: ×0.46</a:t>
            </a:r>
          </a:p>
          <a:p>
            <a:pPr algn="l">
              <a:spcAft>
                <a:spcPts val="200"/>
              </a:spcAft>
            </a:pPr>
            <a:r>
              <a:rPr sz="1400" b="0" i="0">
                <a:solidFill>
                  <a:srgbClr val="0B0B0B"/>
                </a:solidFill>
                <a:latin typeface="Calibri"/>
              </a:rPr>
              <a:t>roof type = x: ×0.50</a:t>
            </a:r>
          </a:p>
          <a:p>
            <a:pPr algn="l">
              <a:spcAft>
                <a:spcPts val="200"/>
              </a:spcAft>
            </a:pPr>
            <a:r>
              <a:rPr sz="1400" b="0" i="0">
                <a:solidFill>
                  <a:srgbClr val="0B0B0B"/>
                </a:solidFill>
                <a:latin typeface="Calibri"/>
              </a:rPr>
              <a:t>superstructure: cement mortar brick: ×0.63</a:t>
            </a:r>
          </a:p>
        </p:txBody>
      </p:sp>
      <p:sp>
        <p:nvSpPr>
          <p:cNvPr id="11" name="Rounded Rectangle 10"/>
          <p:cNvSpPr/>
          <p:nvPr/>
        </p:nvSpPr>
        <p:spPr>
          <a:xfrm>
            <a:off x="6766560" y="4663440"/>
            <a:ext cx="4892040" cy="14173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95160" y="4773168"/>
            <a:ext cx="4480560" cy="320040"/>
          </a:xfrm>
          <a:prstGeom prst="rect">
            <a:avLst/>
          </a:prstGeom>
          <a:noFill/>
        </p:spPr>
        <p:txBody>
          <a:bodyPr wrap="square" lIns="0" rIns="0" tIns="0" bIns="0" anchor="t">
            <a:spAutoFit/>
          </a:bodyPr>
          <a:lstStyle/>
          <a:p>
            <a:pPr algn="l"/>
            <a:r>
              <a:rPr sz="1600" b="1" i="0">
                <a:solidFill>
                  <a:srgbClr val="FFFFFF"/>
                </a:solidFill>
                <a:latin typeface="Calibri"/>
              </a:rPr>
              <a:t>In plain words: the material matters</a:t>
            </a:r>
          </a:p>
        </p:txBody>
      </p:sp>
      <p:sp>
        <p:nvSpPr>
          <p:cNvPr id="13" name="TextBox 12"/>
          <p:cNvSpPr txBox="1"/>
          <p:nvPr/>
        </p:nvSpPr>
        <p:spPr>
          <a:xfrm>
            <a:off x="6995160" y="5138928"/>
            <a:ext cx="4480560" cy="914400"/>
          </a:xfrm>
          <a:prstGeom prst="rect">
            <a:avLst/>
          </a:prstGeom>
          <a:noFill/>
        </p:spPr>
        <p:txBody>
          <a:bodyPr wrap="square" lIns="0" rIns="0" tIns="0" bIns="0" anchor="t">
            <a:spAutoFit/>
          </a:bodyPr>
          <a:lstStyle/>
          <a:p>
            <a:pPr algn="l">
              <a:spcAft>
                <a:spcPts val="400"/>
              </a:spcAft>
            </a:pPr>
            <a:r>
              <a:rPr sz="1400" b="0" i="0">
                <a:solidFill>
                  <a:srgbClr val="FFFFFF"/>
                </a:solidFill>
                <a:latin typeface="Calibri"/>
              </a:rPr>
              <a:t>Mud-mortar stone </a:t>
            </a:r>
            <a:r>
              <a:rPr sz="1400" b="1" i="0">
                <a:solidFill>
                  <a:srgbClr val="EB6834"/>
                </a:solidFill>
                <a:latin typeface="Calibri"/>
              </a:rPr>
              <a:t>×1.38</a:t>
            </a:r>
            <a:r>
              <a:rPr sz="1400" b="0" i="0">
                <a:solidFill>
                  <a:srgbClr val="FFFFFF"/>
                </a:solidFill>
                <a:latin typeface="Calibri"/>
              </a:rPr>
              <a:t>   Stone flag </a:t>
            </a:r>
            <a:r>
              <a:rPr sz="1400" b="1" i="0">
                <a:solidFill>
                  <a:srgbClr val="EB6834"/>
                </a:solidFill>
                <a:latin typeface="Calibri"/>
              </a:rPr>
              <a:t>×1.31</a:t>
            </a:r>
          </a:p>
          <a:p>
            <a:pPr algn="l">
              <a:spcAft>
                <a:spcPts val="400"/>
              </a:spcAft>
            </a:pPr>
            <a:r>
              <a:rPr sz="1400" b="0" i="0">
                <a:solidFill>
                  <a:srgbClr val="FFFFFF"/>
                </a:solidFill>
                <a:latin typeface="Calibri"/>
              </a:rPr>
              <a:t>Cement-mortar brick </a:t>
            </a:r>
            <a:r>
              <a:rPr sz="1400" b="1" i="0">
                <a:solidFill>
                  <a:srgbClr val="86B6EF"/>
                </a:solidFill>
                <a:latin typeface="Calibri"/>
              </a:rPr>
              <a:t>×0.63</a:t>
            </a:r>
            <a:r>
              <a:rPr sz="1400" b="0" i="0">
                <a:solidFill>
                  <a:srgbClr val="FFFFFF"/>
                </a:solidFill>
                <a:latin typeface="Calibri"/>
              </a:rPr>
              <a:t>   Engineered RC </a:t>
            </a:r>
            <a:r>
              <a:rPr sz="1400" b="1" i="0">
                <a:solidFill>
                  <a:srgbClr val="86B6EF"/>
                </a:solidFill>
                <a:latin typeface="Calibri"/>
              </a:rPr>
              <a:t>×0.84</a:t>
            </a:r>
          </a:p>
        </p:txBody>
      </p:sp>
      <p:sp>
        <p:nvSpPr>
          <p:cNvPr id="14" name="TextBox 13"/>
          <p:cNvSpPr txBox="1"/>
          <p:nvPr/>
        </p:nvSpPr>
        <p:spPr>
          <a:xfrm>
            <a:off x="6766560" y="6144768"/>
            <a:ext cx="4892040" cy="228600"/>
          </a:xfrm>
          <a:prstGeom prst="rect">
            <a:avLst/>
          </a:prstGeom>
          <a:noFill/>
        </p:spPr>
        <p:txBody>
          <a:bodyPr wrap="square" lIns="0" rIns="0" tIns="0" bIns="0" anchor="t">
            <a:spAutoFit/>
          </a:bodyPr>
          <a:lstStyle/>
          <a:p>
            <a:pPr algn="l"/>
            <a:r>
              <a:rPr sz="1050" b="0" i="0">
                <a:solidFill>
                  <a:srgbClr val="8A8984"/>
                </a:solidFill>
                <a:latin typeface="Calibri"/>
              </a:rPr>
              <a:t>Odds ratios from the final model; flags in &lt;1% of buildings and location excluded.</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SUMMARY OF PROJECT ACHIEVEMENTS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we delivered</a:t>
            </a:r>
          </a:p>
        </p:txBody>
      </p:sp>
      <p:sp>
        <p:nvSpPr>
          <p:cNvPr id="4" name="Rounded Rectangle 3"/>
          <p:cNvSpPr/>
          <p:nvPr/>
        </p:nvSpPr>
        <p:spPr>
          <a:xfrm>
            <a:off x="548640"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0.740</a:t>
            </a:r>
          </a:p>
        </p:txBody>
      </p:sp>
      <p:sp>
        <p:nvSpPr>
          <p:cNvPr id="6" name="TextBox 5"/>
          <p:cNvSpPr txBox="1"/>
          <p:nvPr/>
        </p:nvSpPr>
        <p:spPr>
          <a:xfrm>
            <a:off x="822959"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holdout micro-F1</a:t>
            </a:r>
          </a:p>
        </p:txBody>
      </p:sp>
      <p:sp>
        <p:nvSpPr>
          <p:cNvPr id="7" name="TextBox 6"/>
          <p:cNvSpPr txBox="1"/>
          <p:nvPr/>
        </p:nvSpPr>
        <p:spPr>
          <a:xfrm>
            <a:off x="822959"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vs 0.569 for the majority baseline (+17.2 pp)</a:t>
            </a:r>
          </a:p>
        </p:txBody>
      </p:sp>
      <p:sp>
        <p:nvSpPr>
          <p:cNvPr id="8" name="Rounded Rectangle 7"/>
          <p:cNvSpPr/>
          <p:nvPr/>
        </p:nvSpPr>
        <p:spPr>
          <a:xfrm>
            <a:off x="4315968"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50%</a:t>
            </a:r>
          </a:p>
        </p:txBody>
      </p:sp>
      <p:sp>
        <p:nvSpPr>
          <p:cNvPr id="10" name="TextBox 9"/>
          <p:cNvSpPr txBox="1"/>
          <p:nvPr/>
        </p:nvSpPr>
        <p:spPr>
          <a:xfrm>
            <a:off x="4590288"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of destroyed buildings</a:t>
            </a:r>
          </a:p>
        </p:txBody>
      </p:sp>
      <p:sp>
        <p:nvSpPr>
          <p:cNvPr id="11" name="TextBox 10"/>
          <p:cNvSpPr txBox="1"/>
          <p:nvPr/>
        </p:nvSpPr>
        <p:spPr>
          <a:xfrm>
            <a:off x="4590288"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found by inspecting just the top 20% of the ranked list</a:t>
            </a:r>
          </a:p>
        </p:txBody>
      </p:sp>
      <p:sp>
        <p:nvSpPr>
          <p:cNvPr id="12" name="Rounded Rectangle 11"/>
          <p:cNvSpPr/>
          <p:nvPr/>
        </p:nvSpPr>
        <p:spPr>
          <a:xfrm>
            <a:off x="8083296"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57616" y="1783080"/>
            <a:ext cx="3108960" cy="731520"/>
          </a:xfrm>
          <a:prstGeom prst="rect">
            <a:avLst/>
          </a:prstGeom>
          <a:noFill/>
        </p:spPr>
        <p:txBody>
          <a:bodyPr wrap="square" lIns="0" rIns="0" tIns="0" bIns="0" anchor="t">
            <a:spAutoFit/>
          </a:bodyPr>
          <a:lstStyle/>
          <a:p>
            <a:pPr algn="l"/>
            <a:r>
              <a:rPr sz="3600" b="1" i="0">
                <a:solidFill>
                  <a:srgbClr val="142340"/>
                </a:solidFill>
                <a:latin typeface="Cambria"/>
              </a:rPr>
              <a:t>+6.3 pp</a:t>
            </a:r>
          </a:p>
        </p:txBody>
      </p:sp>
      <p:sp>
        <p:nvSpPr>
          <p:cNvPr id="14" name="TextBox 13"/>
          <p:cNvSpPr txBox="1"/>
          <p:nvPr/>
        </p:nvSpPr>
        <p:spPr>
          <a:xfrm>
            <a:off x="8357616"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from geo target encoding</a:t>
            </a:r>
          </a:p>
        </p:txBody>
      </p:sp>
      <p:sp>
        <p:nvSpPr>
          <p:cNvPr id="15" name="TextBox 14"/>
          <p:cNvSpPr txBox="1"/>
          <p:nvPr/>
        </p:nvSpPr>
        <p:spPr>
          <a:xfrm>
            <a:off x="8357616"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leakage-safe encoding of 11,595 villages</a:t>
            </a:r>
          </a:p>
        </p:txBody>
      </p:sp>
      <p:sp>
        <p:nvSpPr>
          <p:cNvPr id="16" name="Rounded Rectangle 15"/>
          <p:cNvSpPr/>
          <p:nvPr/>
        </p:nvSpPr>
        <p:spPr>
          <a:xfrm>
            <a:off x="548640"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0</a:t>
            </a:r>
          </a:p>
        </p:txBody>
      </p:sp>
      <p:sp>
        <p:nvSpPr>
          <p:cNvPr id="18" name="TextBox 17"/>
          <p:cNvSpPr txBox="1"/>
          <p:nvPr/>
        </p:nvSpPr>
        <p:spPr>
          <a:xfrm>
            <a:off x="822959"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leakage paths</a:t>
            </a:r>
          </a:p>
        </p:txBody>
      </p:sp>
      <p:sp>
        <p:nvSpPr>
          <p:cNvPr id="19" name="TextBox 18"/>
          <p:cNvSpPr txBox="1"/>
          <p:nvPr/>
        </p:nvSpPr>
        <p:spPr>
          <a:xfrm>
            <a:off x="822959"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all preprocessing inside one pipeline; holdout scored exactly once</a:t>
            </a:r>
          </a:p>
        </p:txBody>
      </p:sp>
      <p:sp>
        <p:nvSpPr>
          <p:cNvPr id="20" name="Rounded Rectangle 19"/>
          <p:cNvSpPr/>
          <p:nvPr/>
        </p:nvSpPr>
        <p:spPr>
          <a:xfrm>
            <a:off x="4315968"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0288"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7</a:t>
            </a:r>
          </a:p>
        </p:txBody>
      </p:sp>
      <p:sp>
        <p:nvSpPr>
          <p:cNvPr id="22" name="TextBox 21"/>
          <p:cNvSpPr txBox="1"/>
          <p:nvPr/>
        </p:nvSpPr>
        <p:spPr>
          <a:xfrm>
            <a:off x="4590288"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controlled experiments</a:t>
            </a:r>
          </a:p>
        </p:txBody>
      </p:sp>
      <p:sp>
        <p:nvSpPr>
          <p:cNvPr id="23" name="TextBox 22"/>
          <p:cNvSpPr txBox="1"/>
          <p:nvPr/>
        </p:nvSpPr>
        <p:spPr>
          <a:xfrm>
            <a:off x="4590288"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incl. an honest negative result for the ordinal model</a:t>
            </a:r>
          </a:p>
        </p:txBody>
      </p:sp>
      <p:sp>
        <p:nvSpPr>
          <p:cNvPr id="24" name="Rounded Rectangle 23"/>
          <p:cNvSpPr/>
          <p:nvPr/>
        </p:nvSpPr>
        <p:spPr>
          <a:xfrm>
            <a:off x="8083296"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1</a:t>
            </a:r>
          </a:p>
        </p:txBody>
      </p:sp>
      <p:sp>
        <p:nvSpPr>
          <p:cNvPr id="26" name="TextBox 25"/>
          <p:cNvSpPr txBox="1"/>
          <p:nvPr/>
        </p:nvSpPr>
        <p:spPr>
          <a:xfrm>
            <a:off x="8357616"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command to reproduce</a:t>
            </a:r>
          </a:p>
        </p:txBody>
      </p:sp>
      <p:sp>
        <p:nvSpPr>
          <p:cNvPr id="27" name="TextBox 26"/>
          <p:cNvSpPr txBox="1"/>
          <p:nvPr/>
        </p:nvSpPr>
        <p:spPr>
          <a:xfrm>
            <a:off x="8357616"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python -m src.run_all → figures, results.json, report, slides</a:t>
            </a:r>
          </a:p>
        </p:txBody>
      </p:sp>
      <p:sp>
        <p:nvSpPr>
          <p:cNvPr id="28" name="TextBox 2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29" name="TextBox 2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FUTURE DIRECTIONS FOR FURTHER IMPROVEMENTS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Where we would go next</a:t>
            </a:r>
          </a:p>
        </p:txBody>
      </p:sp>
      <p:sp>
        <p:nvSpPr>
          <p:cNvPr id="4" name="Oval 3"/>
          <p:cNvSpPr/>
          <p:nvPr/>
        </p:nvSpPr>
        <p:spPr>
          <a:xfrm>
            <a:off x="54864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14300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Richer location signal</a:t>
            </a:r>
          </a:p>
        </p:txBody>
      </p:sp>
      <p:sp>
        <p:nvSpPr>
          <p:cNvPr id="6" name="TextBox 5"/>
          <p:cNvSpPr txBox="1"/>
          <p:nvPr/>
        </p:nvSpPr>
        <p:spPr>
          <a:xfrm>
            <a:off x="114300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Add measured ground shaking (USGS ShakeMap PGA) and distance to the epicentre instead of using region ids as proxies.</a:t>
            </a:r>
          </a:p>
        </p:txBody>
      </p:sp>
      <p:sp>
        <p:nvSpPr>
          <p:cNvPr id="7" name="Oval 6"/>
          <p:cNvSpPr/>
          <p:nvPr/>
        </p:nvSpPr>
        <p:spPr>
          <a:xfrm>
            <a:off x="617220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676656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Interactions, still linear</a:t>
            </a:r>
          </a:p>
        </p:txBody>
      </p:sp>
      <p:sp>
        <p:nvSpPr>
          <p:cNvPr id="9" name="TextBox 8"/>
          <p:cNvSpPr txBox="1"/>
          <p:nvPr/>
        </p:nvSpPr>
        <p:spPr>
          <a:xfrm>
            <a:off x="676656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Material × region and floors × age interactions, or spline terms, keeping the model interpretable.</a:t>
            </a:r>
          </a:p>
        </p:txBody>
      </p:sp>
      <p:sp>
        <p:nvSpPr>
          <p:cNvPr id="10" name="Oval 9"/>
          <p:cNvSpPr/>
          <p:nvPr/>
        </p:nvSpPr>
        <p:spPr>
          <a:xfrm>
            <a:off x="54864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14300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True ordinal model</a:t>
            </a:r>
          </a:p>
        </p:txBody>
      </p:sp>
      <p:sp>
        <p:nvSpPr>
          <p:cNvPr id="12" name="TextBox 11"/>
          <p:cNvSpPr txBox="1"/>
          <p:nvPr/>
        </p:nvSpPr>
        <p:spPr>
          <a:xfrm>
            <a:off x="114300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A proportional-odds (cumulative-link) model with shared slopes, e.g. statsmodels OrderedModel or mord.</a:t>
            </a:r>
          </a:p>
        </p:txBody>
      </p:sp>
      <p:sp>
        <p:nvSpPr>
          <p:cNvPr id="13" name="Oval 12"/>
          <p:cNvSpPr/>
          <p:nvPr/>
        </p:nvSpPr>
        <p:spPr>
          <a:xfrm>
            <a:off x="617220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676656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Cost-aware decisions</a:t>
            </a:r>
          </a:p>
        </p:txBody>
      </p:sp>
      <p:sp>
        <p:nvSpPr>
          <p:cNvPr id="15" name="TextBox 14"/>
          <p:cNvSpPr txBox="1"/>
          <p:nvPr/>
        </p:nvSpPr>
        <p:spPr>
          <a:xfrm>
            <a:off x="676656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Pick decision thresholds from inspection capacity and the cost of missing a destroyed building.</a:t>
            </a:r>
          </a:p>
        </p:txBody>
      </p:sp>
      <p:sp>
        <p:nvSpPr>
          <p:cNvPr id="16" name="Oval 15"/>
          <p:cNvSpPr/>
          <p:nvPr/>
        </p:nvSpPr>
        <p:spPr>
          <a:xfrm>
            <a:off x="54864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114300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Probability calibration</a:t>
            </a:r>
          </a:p>
        </p:txBody>
      </p:sp>
      <p:sp>
        <p:nvSpPr>
          <p:cNvPr id="18" name="TextBox 17"/>
          <p:cNvSpPr txBox="1"/>
          <p:nvPr/>
        </p:nvSpPr>
        <p:spPr>
          <a:xfrm>
            <a:off x="114300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Check and calibrate predicted risks so that teams can trust the percentages, not only the ranking.</a:t>
            </a:r>
          </a:p>
        </p:txBody>
      </p:sp>
      <p:sp>
        <p:nvSpPr>
          <p:cNvPr id="19" name="Oval 18"/>
          <p:cNvSpPr/>
          <p:nvPr/>
        </p:nvSpPr>
        <p:spPr>
          <a:xfrm>
            <a:off x="617220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0" name="TextBox 19"/>
          <p:cNvSpPr txBox="1"/>
          <p:nvPr/>
        </p:nvSpPr>
        <p:spPr>
          <a:xfrm>
            <a:off x="676656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Benchmark &amp; deploy</a:t>
            </a:r>
          </a:p>
        </p:txBody>
      </p:sp>
      <p:sp>
        <p:nvSpPr>
          <p:cNvPr id="21" name="TextBox 20"/>
          <p:cNvSpPr txBox="1"/>
          <p:nvPr/>
        </p:nvSpPr>
        <p:spPr>
          <a:xfrm>
            <a:off x="676656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Compare with gradient boosting as an upper bound; package the pipeline as a simple triage tool.</a:t>
            </a:r>
          </a:p>
        </p:txBody>
      </p:sp>
      <p:sp>
        <p:nvSpPr>
          <p:cNvPr id="22" name="TextBox 21"/>
          <p:cNvSpPr txBox="1"/>
          <p:nvPr/>
        </p:nvSpPr>
        <p:spPr>
          <a:xfrm>
            <a:off x="548640" y="5943600"/>
            <a:ext cx="11064240" cy="365760"/>
          </a:xfrm>
          <a:prstGeom prst="rect">
            <a:avLst/>
          </a:prstGeom>
          <a:noFill/>
        </p:spPr>
        <p:txBody>
          <a:bodyPr wrap="square" lIns="0" rIns="0" tIns="0" bIns="0" anchor="t">
            <a:spAutoFit/>
          </a:bodyPr>
          <a:lstStyle/>
          <a:p>
            <a:pPr algn="l"/>
            <a:r>
              <a:rPr sz="1600" b="1" i="0">
                <a:solidFill>
                  <a:srgbClr val="EB6834"/>
                </a:solidFill>
                <a:latin typeface="Calibri"/>
              </a:rPr>
              <a:t>Thank you. Questions are welcome.</a:t>
            </a:r>
          </a:p>
        </p:txBody>
      </p:sp>
      <p:sp>
        <p:nvSpPr>
          <p:cNvPr id="23" name="TextBox 22"/>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with logistic regression</a:t>
            </a:r>
          </a:p>
        </p:txBody>
      </p:sp>
      <p:sp>
        <p:nvSpPr>
          <p:cNvPr id="24" name="TextBox 23"/>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