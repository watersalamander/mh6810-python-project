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We are Group [XX], and our project asks a very practical question: after a major earthquake, can a simple, transparent model tell inspectors which buildings to visit first? We worked with records of 260,601 buildings surveyed after the 2015 Gorkha earthquake in Nepal, and we compared three models: a transparent logistic regression, a random forest and gradient boosting. Over the next twenty minutes, six of us will walk you through the data, our preprocessing, the two ideas we are most proud of, how we trained and tested the models, what we found, and where we would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 come from the DrivenData competition Richter's Predictor, based on Nepal's post-earthquake building survey. There are 260,601 labelled buildings, each described by 38 features, plus 86,868 unlabelled buildings that we only use for a competition submission. The features fall into four groups. Location is given as three nested region levels, from 31 broad regions down to 11,595 local areas. Then size and age, construction details such as foundation, roof and eleven superstructure-material flags, and finally use and ownership. The data are clean, with no missing values, but the categorical codes are anonymised letters, so we can say a foundation of type 'i' is safer, not exactly what 'i'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problem statement. After an earthquake, inspection teams are scarce and there are hundreds of thousands of buildings. If a model can estimate how badly each building was damaged from information that is already on record, its structure and its location, teams can visit the most dangerous buildings first. Technically this is a three-class classification problem with ordered classes, grade 1 to grade 3. Because the real goal is prioritisation, we also rank buildings by their predicted probability of grade 3 and measure how many destroyed buildings an inspection list catches. Finally, we compare three models: logistic regression, which is transparent and easy to audit, and two tree ensembles, which are more flexible but harder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shows how many buildings fall into each damage grade, measured on our training split. Grade 2 dominates with 57% of buildings, grade 3 follows with 33%, and grade 1, low damage, is only 10%, about one building in 10. This matters for three reasons. First, it sets the bar: a model that ignores the data and always answers grade 2 is already right 57% of the time, a micro-F1 of 0.569. Second, it is why we report two metrics. Micro-F1 counts every building equally, so it is dominated by grade 2; it equals plain accuracy. Macro-F1 averages the F1 score of each grade with equal weight, so the rare grade 1 counts as much as grade 2. The always-grade-2 model gets a macro-F1 of only 0.242, which exposes it immediately. Third, it shaped our procedure. Every split and every cross-validation fold is stratified, so each one keeps the same 10, 57, 33 percent mix, and we tested class weighting, which we come back to in the highlights.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exploratory analysis, done on the training split only so the holdout stayed untouched. The biggest structural signal is the building material. About 76% of buildings are built from mud-mortar stone, and 38% of those were essentially destroyed. Compare engineered reinforced concrete: only 2% reached grade 3, and 64% had only low damage. Foundation and roof types show the same pattern. Foundation type r, used by 84% of buildings, has a grade-3 rate of 38%, while foundation type i has only 2%, and roof type x only 4%. The codes are anonymised, but these protective types behave exactly like engineered, reinforced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key finding is geography. Each bar is one of the 31 top-level regions, sorted by its share of destroyed buildings. In region 26 only 9% of buildings reached grade 3; in region 17 it was 81%. Location is our best proxy for how strongly the ground shook. Remember that location comes at three nested levels: 31 regions, 1,414 sub-regions and 11,595 local areas, each sitting inside the level above, a bit like province, district and village. This chart only uses the coarsest level. This told us two things: location must be in the model, and the finer location levels, with thousands of local areas, probably carry even more signal, if we can encode them without overfitting. That is one of our highlights.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models see any data, every building goes through the six steps across the top of this slide; the next slides take them one at a time. The important design choice is that all six steps live inside a single scikit-learn pipeline. Several steps learn something from the data, for example the median age, the mean and spread used for scaling, or each area's damage rate. If we learned those on all the data before splitting, the validation buildings would have helped build their own features and our scores would look better than they really are. That is called data leakage. Because everything is in one pipeline, cross-validation re-fits every step on the training folds only. On the right: the trees need no scaling and use simple integer codes, but all three models get the same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had no missing values at all, but one column hides a problem. When we listed the distinct values of age, they run from 0 up to 200 years and then jump straight to 995, with nothing in between. A building 995 years old is not plausible here; 995 is a code for 'age unknown'. It appears on 1,390 buildings, about half a percent. We could simply delete those rows, but the placeholder actually carries information: these buildings were destroyed less often, 29% against 33% for the rest. So we do two things. We add a yes-or-no column that remembers the age was unknown, and we replace 995 with the median age of the training data. Because this happens inside the pipeline, the median is recomputed from the training folds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make every column readable for the models. On the left are the numeric columns. Age, footprint area and height are strongly skewed: most buildings are small and young, but a few are very large or very old. Area, for example, has a skewness of 3.5. Taking log of one plus x squeezes that long tail and brings area down to 0.4, close to symmetric. We then standardise each column to a mean of zero and a spread of one, so that logistic regression treats all features on the same scale. Trees skip this step: they only ask 'is the value above some threshold', which scaling does not change. On the right are the eight letter-coded columns, such as foundation type. A model cannot read letters, so for logistic regression each letter becomes its own yes-or-no column; this is one-hot encoding, and it avoids pretending that one letter is bigger than another. In the table, a building with foundation r gets a one in the is-r column and zeros elsewhere, while the trees simply see the code zero. The trees get a single column of integer codes and learn which codes to group together. The 31 top-level regions are handled the same way. The two fine location levels are too large for this, and they get special treatment, which is our first highlight.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tried to create new features from existing columns. The table shows the four candidates and the idea behind each: floors times log of age for buildings that are both tall and old, the ratio of footprint to height for squat versus slender shapes, the average storey height, and the number of materials a building uses. To test them fairly, we added each candidate on its own to our best logistic-regression setup and scored it on exactly the same five folds. Because the folds are identical, we can compare fold by fold, and we only kept a feature if it improved the average and won in at least four of the five folds. Only floors_x_log_age passed, winning all five folds, but its gain is just +0.02 pp. The other three moved the average by at most 0.004 points and won at most 2 of five folds, so they were dropped as noise. This is also why the fold rule matters: judged on the average alone, two of the dropped features would have looked like tiny improvements. The honest conclusion is that the raw survey columns already contain almost all the signal. As you will see, adding better information, namely location, matters far more than clever transformations.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highlight is how we handled the fine location levels, so let us explain it with an example. Every building has an area ID, but the ID is just a name: area 4523 is not bigger or more damaged than area 7. One-hot encoding would need 13,009 columns. Target encoding takes a different approach: instead of the area's name, we give the model the area's damage history. Look at the two illustrative areas on the left. In area A, 15 percent of buildings were grade 1, 60 percent grade 2 and 25 percent grade 3. In area B, 70 percent were destroyed. Every building then receives its area's three rates, as in the table on the right. So the ID becomes three meaningful numbers that answer: how badly was this neighbourhood hit? Two safety mechanisms make this reliable. First, smoothing: a tiny area with three buildings, all destroyed, would get a grade-3 rate of 100 percent, which is weak evidence, so small areas are pulled toward the overall mix of 10%, 57%, 33%. Second, cross-fitting: if a building's own grade were used to compute its own feature, the feature would partly contain the answer. So the training data is split into five parts, and each part is encoded using rates learned only from the other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it work? On the left are three logistic-regression experiments with cross-validated micro-F1. On the right is the short version of the mechanism we just described: compact, smoothed, leakage-safe and easy to interpret. The effect is the biggest jump in the whole project. Structure alone gives 0.591; adding the region one-hot gives 0.672; and the target-encoded villages take us to 0.735, a gain of +6.3 pp from this one idea. Intuitively, the model now knows how badly each neighbourhood was hit, which is exactly the information an inspector would ask for first. Villages that never appear in training, 0.4% of the test set, simply receive the overall class mix.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second highlight tests whether the ordering of the damage grades can be exploited. A standard multinomial model treats grades 1, 2 and 3 as unrelated labels. Our ordinal version instead fits two binary logistic models: one for 'worse than grade 1' and one for 'worse than grade 2', then turns them into three class probabilities. Compared with the multinomial model on identical features, the ordinal approach changed micro-F1 by -0.06 pp and macro-F1 by -0.04 pp, so it made no real difference. This is a negative result, but an informative one: with only three classes the multinomial model is flexible enough to learn the ordering on its own. We also tried class weighting. It lowered macro-F1 by 0.88 pp and raised grade-1 recall from 0.47 to 0.83, but micro-F1 moved by -4.43 pp. So weighting is a policy choice, not a free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how we trained and tested. We split the labelled data 80 to 20, stratified by damage grade, and locked the 52,121-building holdout away until the very end. All comparisons and tuning used stratified five-fold cross-validation on the 80 percent, with every encoder re-fitted inside each fold. Five-fold means we train five times, each time holding out a different fifth, and average the scores, so we never need the holdout to make decisions. For logistic regression we ran seven experiments and tuned C on the best one, E4. Each tuned model was scored once on the holdout, but the final model was chosen by cross-validation alone: HistGradientBoosting. It was then refit on all labelled data for our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model one. This chart shows cross-validated micro-F1 for every logistic-regression experiment, with error bars across the five folds. The majority baseline scores 0.569. Structure alone lifts this to 0.591, which is useful but modest. Adding the 31 regions gains +8.1 pp, and the target-encoded village levels add another +6.3 pp, the largest single step. Engineered features change micro-F1 by only +0.02 pp. The balanced and ordinal variants score 0.691 and 0.735, which is why we carried E4 forward. The fold-to-fold standard deviations are tiny, at most 0.19 percentage points, so the big steps are not noise. The lesson: building material matters, but only location tells a mud-stone house near the epicentre from one far away, and once location is in, hand-made features add almost nothing.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comparison our course asked for: three models on exactly the same features and folds. A quick word on the two new models. A random forest grows many decision trees, each on a random sample of buildings and features, and lets them vote; averaging makes it stable. Gradient boosting instead grows trees one after another, each new tree correcting the mistakes of the trees before it. Logistic regression reaches 0.735 cross-validated micro-F1 and 0.740 on the holdout. The random forest reaches 0.744 and 0.750, and HistGradientBoosting 0.745 and 0.750. So HistGradientBoosting is our final model, chosen on cross-validation only. Its gain over logistic regression is +0.98 pp in cross-validation and +0.93 pp on the holdout: real and consistent, but small. The two tree models are practically tied: on the holdout the random forest is even +0.05 pp ahead, but we fixed in advance that cross-validation decides, so the holdout stays an honest check. Macro-F1 tells a similar story: 0.673, 0.687 and 0.694 in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final model, HistGradientBoosting, on the holdout. It scores a micro-F1 of 0.750 and a macro-F1 of 0.701, close to its cross-validated 0.745, so our model selection did not overfit. Grade 2 is recalled 85% of the time and grade 3 64%; grade 1 is hardest at 55%, because it is rare and often looks like grade 2. The grey numbers are logistic regression, for comparison. Importantly, mistakes are almost always between neighbouring grades: only 0.6% of destroyed buildings are mistaken for low damage, which is the costly error for inspectors.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models back to our problem statement. We ranked every holdout building by its predicted probability of grade 3 and asked: if inspectors work down this list, how many destroyed buildings do they find? With the final model, the top 10 percent finds 28% of all grade-3 buildings, the top 20 percent 51%, and the top 30 percent 67%, against 10, 20 and 30 percent for a random order. The three curves almost overlap: at 20 percent, logistic regression finds 49.8%, the forest 50.6% and boosting 50.6%. Concretely, in our holdout the first 5,212 visits would reach about 4,914 destroyed buildings, instead of about 1,744 in random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a model call a building high-risk? On the left is logistic regression, which we can read directly: odds ratios for grade-3 damage, red raising and blue lowering the odds. The strongest risk factors are superstructure: mud mortar stone and age; the strongest protective ones are foundation type = i and roof type = x. Mud-mortar stone multiplies the odds of destruction by about 1.4, engineered reinforced concrete by 0.84. Tree ensembles have no coefficients, so on the right we use permutation importance: how much micro-F1 drops when we shuffle one input column. All three models rely first on location, then on construction details such as foundation, material and age, which matches our exploration and engineering intuition. The difference is that importance says how much a feature matters, while the odds ratios also say in which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Our final model, HistGradientBoosting, reaches a holdout micro-F1 of 0.750, against 0.569 for always guessing grade 2. Translated into the problem statement, inspecting the top 20 percent of buildings on its list finds 51% of the destroyed ones. The biggest technical contribution was leakage-safe target encoding of village-level location, which helps every model. We compared three models fairly, and the trees beat logistic regression by +0.98 pp, so transparency costs a little accuracy but not much. Every transformation sits inside one pipeline, and each tuned model saw the holdout exactly once. Finally, the whole project, from the raw CSV files to the figures, the report and this deck, is reproducible with one command, and every number you have seen today is read automatically from a single results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where would we go next? The most valuable addition would be measured ground shaking, for example peak ground acceleration from USGS ShakeMap, instead of letting region ids act as a proxy. Second, interaction terms such as material by region could close the gap between logistic regression and the trees while staying interpretable. Third, SHAP values would give the tree models per-building explanations, so the more accurate model could also tell an inspector why a building is flagged. Fourth, decision thresholds should come from inspection capacity and from the cost of missing a destroyed building, and the probabilities should be calibrated so teams can trust the percentages. Thank you for listening;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40"/>
        </a:solidFill>
        <a:effectLst/>
      </p:bgPr>
    </p:bg>
    <p:spTree>
      <p:nvGrpSpPr>
        <p:cNvPr id="1" name=""/>
        <p:cNvGrpSpPr/>
        <p:nvPr/>
      </p:nvGrpSpPr>
      <p:grpSpPr/>
      <p:sp>
        <p:nvSpPr>
          <p:cNvPr id="2" name="Rounded Rectangle 1"/>
          <p:cNvSpPr/>
          <p:nvPr/>
        </p:nvSpPr>
        <p:spPr>
          <a:xfrm>
            <a:off x="548640" y="822960"/>
            <a:ext cx="292608" cy="292608"/>
          </a:xfrm>
          <a:prstGeom prst="roundRect">
            <a:avLst>
              <a:gd name="adj" fmla="val 15000"/>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32688" y="822960"/>
            <a:ext cx="292608" cy="292608"/>
          </a:xfrm>
          <a:prstGeom prst="roundRect">
            <a:avLst>
              <a:gd name="adj" fmla="val 15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16736" y="822960"/>
            <a:ext cx="292608" cy="292608"/>
          </a:xfrm>
          <a:prstGeom prst="roundRect">
            <a:avLst>
              <a:gd name="adj" fmla="val 15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10515600" cy="1828800"/>
          </a:xfrm>
          <a:prstGeom prst="rect">
            <a:avLst/>
          </a:prstGeom>
          <a:noFill/>
        </p:spPr>
        <p:txBody>
          <a:bodyPr wrap="square" lIns="0" rIns="0" tIns="0" bIns="0" anchor="t">
            <a:spAutoFit/>
          </a:bodyPr>
          <a:lstStyle/>
          <a:p>
            <a:pPr algn="l"/>
            <a:r>
              <a:rPr sz="4400" b="1" i="0">
                <a:solidFill>
                  <a:srgbClr val="FFFFFF"/>
                </a:solidFill>
                <a:latin typeface="Cambria"/>
              </a:rPr>
              <a:t>Predicting Earthquake Damage to Prioritise Building Inspections</a:t>
            </a:r>
          </a:p>
        </p:txBody>
      </p:sp>
      <p:sp>
        <p:nvSpPr>
          <p:cNvPr id="6" name="TextBox 5"/>
          <p:cNvSpPr txBox="1"/>
          <p:nvPr/>
        </p:nvSpPr>
        <p:spPr>
          <a:xfrm>
            <a:off x="548640" y="3246120"/>
            <a:ext cx="10058400" cy="822960"/>
          </a:xfrm>
          <a:prstGeom prst="rect">
            <a:avLst/>
          </a:prstGeom>
          <a:noFill/>
        </p:spPr>
        <p:txBody>
          <a:bodyPr wrap="square" lIns="0" rIns="0" tIns="0" bIns="0" anchor="t">
            <a:spAutoFit/>
          </a:bodyPr>
          <a:lstStyle/>
          <a:p>
            <a:pPr algn="l"/>
            <a:r>
              <a:rPr sz="2000" b="0" i="0">
                <a:solidFill>
                  <a:srgbClr val="86B6EF"/>
                </a:solidFill>
                <a:latin typeface="Calibri"/>
              </a:rPr>
              <a:t>Logistic regression, random forest and gradient boosting on 260,601 buildings from the 2015 Gorkha earthquake, Nepal</a:t>
            </a:r>
          </a:p>
        </p:txBody>
      </p:sp>
      <p:sp>
        <p:nvSpPr>
          <p:cNvPr id="7" name="TextBox 6"/>
          <p:cNvSpPr txBox="1"/>
          <p:nvPr/>
        </p:nvSpPr>
        <p:spPr>
          <a:xfrm>
            <a:off x="548640" y="4572000"/>
            <a:ext cx="10058400" cy="1280160"/>
          </a:xfrm>
          <a:prstGeom prst="rect">
            <a:avLst/>
          </a:prstGeom>
          <a:noFill/>
        </p:spPr>
        <p:txBody>
          <a:bodyPr wrap="square" lIns="0" rIns="0" tIns="0" bIns="0" anchor="t">
            <a:spAutoFit/>
          </a:bodyPr>
          <a:lstStyle/>
          <a:p>
            <a:pPr algn="l">
              <a:spcAft>
                <a:spcPts val="600"/>
              </a:spcAft>
            </a:pPr>
            <a:r>
              <a:rPr sz="1500" b="1" i="0">
                <a:solidFill>
                  <a:srgbClr val="FFFFFF"/>
                </a:solidFill>
                <a:latin typeface="Calibri"/>
              </a:rPr>
              <a:t>Course: </a:t>
            </a:r>
            <a:r>
              <a:rPr sz="1500" b="0" i="0">
                <a:solidFill>
                  <a:srgbClr val="FFFFFF"/>
                </a:solidFill>
                <a:latin typeface="Calibri"/>
              </a:rPr>
              <a:t>[COURSE CODE] – [COURSE NAME]</a:t>
            </a:r>
          </a:p>
          <a:p>
            <a:pPr algn="l">
              <a:spcAft>
                <a:spcPts val="600"/>
              </a:spcAft>
            </a:pPr>
            <a:r>
              <a:rPr sz="1500" b="1" i="0">
                <a:solidFill>
                  <a:srgbClr val="FFFFFF"/>
                </a:solidFill>
                <a:latin typeface="Calibri"/>
              </a:rPr>
              <a:t>Group [XX]: </a:t>
            </a:r>
            <a:r>
              <a:rPr sz="1500" b="0" i="0">
                <a:solidFill>
                  <a:srgbClr val="FFFFFF"/>
                </a:solidFill>
                <a:latin typeface="Calibri"/>
              </a:rPr>
              <a:t>[Member 1 (ID)] · [Member 2 (ID)] · [Member 3 (ID)] · [Member 4 (ID)] · [Member 5 (ID)] · [Member 6 (ID)]</a:t>
            </a:r>
          </a:p>
        </p:txBody>
      </p:sp>
      <p:sp>
        <p:nvSpPr>
          <p:cNvPr id="8" name="TextBox 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6B6EF"/>
                </a:solidFill>
                <a:latin typeface="Calibri"/>
              </a:rPr>
              <a:t>Group [XX]  ·  Earthquake damage prediction: logistic regression, random forest, gradient boosting</a:t>
            </a:r>
          </a:p>
        </p:txBody>
      </p:sp>
      <p:sp>
        <p:nvSpPr>
          <p:cNvPr id="9" name="TextBox 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6B6E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 SET DESCRIPTION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Richter's Predictor: one row per building, three damage grades</a:t>
            </a:r>
          </a:p>
        </p:txBody>
      </p:sp>
      <p:sp>
        <p:nvSpPr>
          <p:cNvPr id="4" name="TextBox 3"/>
          <p:cNvSpPr txBox="1"/>
          <p:nvPr/>
        </p:nvSpPr>
        <p:spPr>
          <a:xfrm>
            <a:off x="548640" y="1600200"/>
            <a:ext cx="2651760" cy="685800"/>
          </a:xfrm>
          <a:prstGeom prst="rect">
            <a:avLst/>
          </a:prstGeom>
          <a:noFill/>
        </p:spPr>
        <p:txBody>
          <a:bodyPr wrap="square" lIns="0" rIns="0" tIns="0" bIns="0" anchor="t">
            <a:spAutoFit/>
          </a:bodyPr>
          <a:lstStyle/>
          <a:p>
            <a:pPr algn="l"/>
            <a:r>
              <a:rPr sz="4000" b="1" i="0">
                <a:solidFill>
                  <a:srgbClr val="EB6834"/>
                </a:solidFill>
                <a:latin typeface="Cambria"/>
              </a:rPr>
              <a:t>260,601</a:t>
            </a:r>
          </a:p>
        </p:txBody>
      </p:sp>
      <p:sp>
        <p:nvSpPr>
          <p:cNvPr id="5" name="TextBox 4"/>
          <p:cNvSpPr txBox="1"/>
          <p:nvPr/>
        </p:nvSpPr>
        <p:spPr>
          <a:xfrm>
            <a:off x="54864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labelled buildings</a:t>
            </a:r>
          </a:p>
        </p:txBody>
      </p:sp>
      <p:sp>
        <p:nvSpPr>
          <p:cNvPr id="6" name="TextBox 5"/>
          <p:cNvSpPr txBox="1"/>
          <p:nvPr/>
        </p:nvSpPr>
        <p:spPr>
          <a:xfrm>
            <a:off x="338328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38</a:t>
            </a:r>
          </a:p>
        </p:txBody>
      </p:sp>
      <p:sp>
        <p:nvSpPr>
          <p:cNvPr id="7" name="TextBox 6"/>
          <p:cNvSpPr txBox="1"/>
          <p:nvPr/>
        </p:nvSpPr>
        <p:spPr>
          <a:xfrm>
            <a:off x="338328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features per building</a:t>
            </a:r>
          </a:p>
        </p:txBody>
      </p:sp>
      <p:sp>
        <p:nvSpPr>
          <p:cNvPr id="8" name="TextBox 7"/>
          <p:cNvSpPr txBox="1"/>
          <p:nvPr/>
        </p:nvSpPr>
        <p:spPr>
          <a:xfrm>
            <a:off x="621792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3</a:t>
            </a:r>
          </a:p>
        </p:txBody>
      </p:sp>
      <p:sp>
        <p:nvSpPr>
          <p:cNvPr id="9" name="TextBox 8"/>
          <p:cNvSpPr txBox="1"/>
          <p:nvPr/>
        </p:nvSpPr>
        <p:spPr>
          <a:xfrm>
            <a:off x="621792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ordered damage grades</a:t>
            </a:r>
          </a:p>
        </p:txBody>
      </p:sp>
      <p:sp>
        <p:nvSpPr>
          <p:cNvPr id="10" name="TextBox 9"/>
          <p:cNvSpPr txBox="1"/>
          <p:nvPr/>
        </p:nvSpPr>
        <p:spPr>
          <a:xfrm>
            <a:off x="905256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86,868</a:t>
            </a:r>
          </a:p>
        </p:txBody>
      </p:sp>
      <p:sp>
        <p:nvSpPr>
          <p:cNvPr id="11" name="TextBox 10"/>
          <p:cNvSpPr txBox="1"/>
          <p:nvPr/>
        </p:nvSpPr>
        <p:spPr>
          <a:xfrm>
            <a:off x="905256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unlabelled test buildings</a:t>
            </a:r>
          </a:p>
        </p:txBody>
      </p:sp>
      <p:sp>
        <p:nvSpPr>
          <p:cNvPr id="12" name="Rounded Rectangle 11"/>
          <p:cNvSpPr/>
          <p:nvPr/>
        </p:nvSpPr>
        <p:spPr>
          <a:xfrm>
            <a:off x="54864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14" name="TextBox 13"/>
          <p:cNvSpPr txBox="1"/>
          <p:nvPr/>
        </p:nvSpPr>
        <p:spPr>
          <a:xfrm>
            <a:off x="77724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Location</a:t>
            </a:r>
          </a:p>
        </p:txBody>
      </p:sp>
      <p:sp>
        <p:nvSpPr>
          <p:cNvPr id="15" name="TextBox 14"/>
          <p:cNvSpPr txBox="1"/>
          <p:nvPr/>
        </p:nvSpPr>
        <p:spPr>
          <a:xfrm>
            <a:off x="77724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3 nested region levels: 31 / 1,414 / 11,595 ids</a:t>
            </a:r>
          </a:p>
        </p:txBody>
      </p:sp>
      <p:sp>
        <p:nvSpPr>
          <p:cNvPr id="16" name="Rounded Rectangle 15"/>
          <p:cNvSpPr/>
          <p:nvPr/>
        </p:nvSpPr>
        <p:spPr>
          <a:xfrm>
            <a:off x="338328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1188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8" name="TextBox 17"/>
          <p:cNvSpPr txBox="1"/>
          <p:nvPr/>
        </p:nvSpPr>
        <p:spPr>
          <a:xfrm>
            <a:off x="361188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Size &amp; age</a:t>
            </a:r>
          </a:p>
        </p:txBody>
      </p:sp>
      <p:sp>
        <p:nvSpPr>
          <p:cNvPr id="19" name="TextBox 18"/>
          <p:cNvSpPr txBox="1"/>
          <p:nvPr/>
        </p:nvSpPr>
        <p:spPr>
          <a:xfrm>
            <a:off x="361188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age, footprint area, height, number of floors</a:t>
            </a:r>
          </a:p>
        </p:txBody>
      </p:sp>
      <p:sp>
        <p:nvSpPr>
          <p:cNvPr id="20" name="Rounded Rectangle 19"/>
          <p:cNvSpPr/>
          <p:nvPr/>
        </p:nvSpPr>
        <p:spPr>
          <a:xfrm>
            <a:off x="621792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22" name="TextBox 21"/>
          <p:cNvSpPr txBox="1"/>
          <p:nvPr/>
        </p:nvSpPr>
        <p:spPr>
          <a:xfrm>
            <a:off x="644652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Construction</a:t>
            </a:r>
          </a:p>
        </p:txBody>
      </p:sp>
      <p:sp>
        <p:nvSpPr>
          <p:cNvPr id="23" name="TextBox 22"/>
          <p:cNvSpPr txBox="1"/>
          <p:nvPr/>
        </p:nvSpPr>
        <p:spPr>
          <a:xfrm>
            <a:off x="644652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foundation, roof, floor types and 11 superstructure-material flags</a:t>
            </a:r>
          </a:p>
        </p:txBody>
      </p:sp>
      <p:sp>
        <p:nvSpPr>
          <p:cNvPr id="24" name="Rounded Rectangle 23"/>
          <p:cNvSpPr/>
          <p:nvPr/>
        </p:nvSpPr>
        <p:spPr>
          <a:xfrm>
            <a:off x="905256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28116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6" name="TextBox 25"/>
          <p:cNvSpPr txBox="1"/>
          <p:nvPr/>
        </p:nvSpPr>
        <p:spPr>
          <a:xfrm>
            <a:off x="928116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Use &amp; ownership</a:t>
            </a:r>
          </a:p>
        </p:txBody>
      </p:sp>
      <p:sp>
        <p:nvSpPr>
          <p:cNvPr id="27" name="TextBox 26"/>
          <p:cNvSpPr txBox="1"/>
          <p:nvPr/>
        </p:nvSpPr>
        <p:spPr>
          <a:xfrm>
            <a:off x="928116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secondary uses, legal ownership, number of families</a:t>
            </a:r>
          </a:p>
        </p:txBody>
      </p:sp>
      <p:sp>
        <p:nvSpPr>
          <p:cNvPr id="28" name="TextBox 27"/>
          <p:cNvSpPr txBox="1"/>
          <p:nvPr/>
        </p:nvSpPr>
        <p:spPr>
          <a:xfrm>
            <a:off x="548640" y="5760720"/>
            <a:ext cx="10972800" cy="457200"/>
          </a:xfrm>
          <a:prstGeom prst="rect">
            <a:avLst/>
          </a:prstGeom>
          <a:noFill/>
        </p:spPr>
        <p:txBody>
          <a:bodyPr wrap="square" lIns="0" rIns="0" tIns="0" bIns="0" anchor="t">
            <a:spAutoFit/>
          </a:bodyPr>
          <a:lstStyle/>
          <a:p>
            <a:pPr algn="l"/>
            <a:r>
              <a:rPr sz="1200" b="0" i="0">
                <a:solidFill>
                  <a:srgbClr val="8A8984"/>
                </a:solidFill>
                <a:latin typeface="Calibri"/>
              </a:rPr>
              <a:t>Clean data: 0 missing values. Category codes are anonymised letters. Source: DrivenData / Nepal 2015 earthquake building survey.</a:t>
            </a:r>
          </a:p>
        </p:txBody>
      </p:sp>
      <p:sp>
        <p:nvSpPr>
          <p:cNvPr id="29" name="TextBox 28"/>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30" name="TextBox 29"/>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PROBLEM STATEMENT</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Which buildings should inspectors visit first?</a:t>
            </a:r>
          </a:p>
        </p:txBody>
      </p:sp>
      <p:sp>
        <p:nvSpPr>
          <p:cNvPr id="4" name="Rounded Rectangle 3"/>
          <p:cNvSpPr/>
          <p:nvPr/>
        </p:nvSpPr>
        <p:spPr>
          <a:xfrm>
            <a:off x="548640" y="1600200"/>
            <a:ext cx="5852160" cy="41605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5212080" cy="3566160"/>
          </a:xfrm>
          <a:prstGeom prst="rect">
            <a:avLst/>
          </a:prstGeom>
          <a:noFill/>
        </p:spPr>
        <p:txBody>
          <a:bodyPr wrap="square" lIns="0" rIns="0" tIns="0" bIns="0" anchor="ctr">
            <a:spAutoFit/>
          </a:bodyPr>
          <a:lstStyle/>
          <a:p>
            <a:pPr algn="l"/>
            <a:r>
              <a:rPr sz="2200" b="0" i="1">
                <a:solidFill>
                  <a:srgbClr val="FFFFFF"/>
                </a:solidFill>
                <a:latin typeface="Cambria"/>
              </a:rPr>
              <a:t>“Can we predict how badly a building was damaged in the 2015 Gorkha earthquake from its structure and location, so post-disaster inspectors can prioritise which buildings to assess first?”</a:t>
            </a:r>
          </a:p>
        </p:txBody>
      </p:sp>
      <p:sp>
        <p:nvSpPr>
          <p:cNvPr id="6" name="Oval 5"/>
          <p:cNvSpPr/>
          <p:nvPr/>
        </p:nvSpPr>
        <p:spPr>
          <a:xfrm>
            <a:off x="6812280" y="164592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7406640" y="1600200"/>
            <a:ext cx="4297680" cy="320040"/>
          </a:xfrm>
          <a:prstGeom prst="rect">
            <a:avLst/>
          </a:prstGeom>
          <a:noFill/>
        </p:spPr>
        <p:txBody>
          <a:bodyPr wrap="square" lIns="0" rIns="0" tIns="0" bIns="0" anchor="t">
            <a:spAutoFit/>
          </a:bodyPr>
          <a:lstStyle/>
          <a:p>
            <a:pPr algn="l"/>
            <a:r>
              <a:rPr sz="1700" b="1" i="0">
                <a:solidFill>
                  <a:srgbClr val="142340"/>
                </a:solidFill>
                <a:latin typeface="Calibri"/>
              </a:rPr>
              <a:t>Task</a:t>
            </a:r>
          </a:p>
        </p:txBody>
      </p:sp>
      <p:sp>
        <p:nvSpPr>
          <p:cNvPr id="8" name="TextBox 7"/>
          <p:cNvSpPr txBox="1"/>
          <p:nvPr/>
        </p:nvSpPr>
        <p:spPr>
          <a:xfrm>
            <a:off x="7406640" y="1938528"/>
            <a:ext cx="4297680" cy="685800"/>
          </a:xfrm>
          <a:prstGeom prst="rect">
            <a:avLst/>
          </a:prstGeom>
          <a:noFill/>
        </p:spPr>
        <p:txBody>
          <a:bodyPr wrap="square" lIns="0" rIns="0" tIns="0" bIns="0" anchor="t">
            <a:spAutoFit/>
          </a:bodyPr>
          <a:lstStyle/>
          <a:p>
            <a:pPr algn="l"/>
            <a:r>
              <a:rPr sz="1400" b="0" i="0">
                <a:solidFill>
                  <a:srgbClr val="52514E"/>
                </a:solidFill>
                <a:latin typeface="Calibri"/>
              </a:rPr>
              <a:t>3-class ordinal classification: grade 1 (low), 2 (medium), 3 (near-destroyed).</a:t>
            </a:r>
          </a:p>
        </p:txBody>
      </p:sp>
      <p:sp>
        <p:nvSpPr>
          <p:cNvPr id="9" name="Oval 8"/>
          <p:cNvSpPr/>
          <p:nvPr/>
        </p:nvSpPr>
        <p:spPr>
          <a:xfrm>
            <a:off x="6812280" y="2715768"/>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7406640" y="2670048"/>
            <a:ext cx="4297680" cy="320040"/>
          </a:xfrm>
          <a:prstGeom prst="rect">
            <a:avLst/>
          </a:prstGeom>
          <a:noFill/>
        </p:spPr>
        <p:txBody>
          <a:bodyPr wrap="square" lIns="0" rIns="0" tIns="0" bIns="0" anchor="t">
            <a:spAutoFit/>
          </a:bodyPr>
          <a:lstStyle/>
          <a:p>
            <a:pPr algn="l"/>
            <a:r>
              <a:rPr sz="1700" b="1" i="0">
                <a:solidFill>
                  <a:srgbClr val="142340"/>
                </a:solidFill>
                <a:latin typeface="Calibri"/>
              </a:rPr>
              <a:t>Metric</a:t>
            </a:r>
          </a:p>
        </p:txBody>
      </p:sp>
      <p:sp>
        <p:nvSpPr>
          <p:cNvPr id="11" name="TextBox 10"/>
          <p:cNvSpPr txBox="1"/>
          <p:nvPr/>
        </p:nvSpPr>
        <p:spPr>
          <a:xfrm>
            <a:off x="7406640" y="3008376"/>
            <a:ext cx="4297680" cy="685800"/>
          </a:xfrm>
          <a:prstGeom prst="rect">
            <a:avLst/>
          </a:prstGeom>
          <a:noFill/>
        </p:spPr>
        <p:txBody>
          <a:bodyPr wrap="square" lIns="0" rIns="0" tIns="0" bIns="0" anchor="t">
            <a:spAutoFit/>
          </a:bodyPr>
          <a:lstStyle/>
          <a:p>
            <a:pPr algn="l"/>
            <a:r>
              <a:rPr sz="1400" b="0" i="0">
                <a:solidFill>
                  <a:srgbClr val="52514E"/>
                </a:solidFill>
                <a:latin typeface="Calibri"/>
              </a:rPr>
              <a:t>Micro-F1 (the competition metric, equal to accuracy) plus macro-F1 so that the rare grade 1 counts too.</a:t>
            </a:r>
          </a:p>
        </p:txBody>
      </p:sp>
      <p:sp>
        <p:nvSpPr>
          <p:cNvPr id="12" name="Oval 11"/>
          <p:cNvSpPr/>
          <p:nvPr/>
        </p:nvSpPr>
        <p:spPr>
          <a:xfrm>
            <a:off x="6812280" y="3785615"/>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3" name="TextBox 12"/>
          <p:cNvSpPr txBox="1"/>
          <p:nvPr/>
        </p:nvSpPr>
        <p:spPr>
          <a:xfrm>
            <a:off x="7406640" y="3739896"/>
            <a:ext cx="4297680" cy="320040"/>
          </a:xfrm>
          <a:prstGeom prst="rect">
            <a:avLst/>
          </a:prstGeom>
          <a:noFill/>
        </p:spPr>
        <p:txBody>
          <a:bodyPr wrap="square" lIns="0" rIns="0" tIns="0" bIns="0" anchor="t">
            <a:spAutoFit/>
          </a:bodyPr>
          <a:lstStyle/>
          <a:p>
            <a:pPr algn="l"/>
            <a:r>
              <a:rPr sz="1700" b="1" i="0">
                <a:solidFill>
                  <a:srgbClr val="142340"/>
                </a:solidFill>
                <a:latin typeface="Calibri"/>
              </a:rPr>
              <a:t>Use</a:t>
            </a:r>
          </a:p>
        </p:txBody>
      </p:sp>
      <p:sp>
        <p:nvSpPr>
          <p:cNvPr id="14" name="TextBox 13"/>
          <p:cNvSpPr txBox="1"/>
          <p:nvPr/>
        </p:nvSpPr>
        <p:spPr>
          <a:xfrm>
            <a:off x="7406640" y="4078224"/>
            <a:ext cx="4297680" cy="685800"/>
          </a:xfrm>
          <a:prstGeom prst="rect">
            <a:avLst/>
          </a:prstGeom>
          <a:noFill/>
        </p:spPr>
        <p:txBody>
          <a:bodyPr wrap="square" lIns="0" rIns="0" tIns="0" bIns="0" anchor="t">
            <a:spAutoFit/>
          </a:bodyPr>
          <a:lstStyle/>
          <a:p>
            <a:pPr algn="l"/>
            <a:r>
              <a:rPr sz="1400" b="0" i="0">
                <a:solidFill>
                  <a:srgbClr val="52514E"/>
                </a:solidFill>
                <a:latin typeface="Calibri"/>
              </a:rPr>
              <a:t>Rank buildings by predicted P(grade 3) and measure how many destroyed buildings an inspection list finds.</a:t>
            </a:r>
          </a:p>
        </p:txBody>
      </p:sp>
      <p:sp>
        <p:nvSpPr>
          <p:cNvPr id="15" name="Oval 14"/>
          <p:cNvSpPr/>
          <p:nvPr/>
        </p:nvSpPr>
        <p:spPr>
          <a:xfrm>
            <a:off x="6812280" y="4855464"/>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6" name="TextBox 15"/>
          <p:cNvSpPr txBox="1"/>
          <p:nvPr/>
        </p:nvSpPr>
        <p:spPr>
          <a:xfrm>
            <a:off x="7406640" y="4809744"/>
            <a:ext cx="4297680" cy="320040"/>
          </a:xfrm>
          <a:prstGeom prst="rect">
            <a:avLst/>
          </a:prstGeom>
          <a:noFill/>
        </p:spPr>
        <p:txBody>
          <a:bodyPr wrap="square" lIns="0" rIns="0" tIns="0" bIns="0" anchor="t">
            <a:spAutoFit/>
          </a:bodyPr>
          <a:lstStyle/>
          <a:p>
            <a:pPr algn="l"/>
            <a:r>
              <a:rPr sz="1700" b="1" i="0">
                <a:solidFill>
                  <a:srgbClr val="142340"/>
                </a:solidFill>
                <a:latin typeface="Calibri"/>
              </a:rPr>
              <a:t>Models</a:t>
            </a:r>
          </a:p>
        </p:txBody>
      </p:sp>
      <p:sp>
        <p:nvSpPr>
          <p:cNvPr id="17" name="TextBox 16"/>
          <p:cNvSpPr txBox="1"/>
          <p:nvPr/>
        </p:nvSpPr>
        <p:spPr>
          <a:xfrm>
            <a:off x="7406640" y="5148072"/>
            <a:ext cx="4297680" cy="685800"/>
          </a:xfrm>
          <a:prstGeom prst="rect">
            <a:avLst/>
          </a:prstGeom>
          <a:noFill/>
        </p:spPr>
        <p:txBody>
          <a:bodyPr wrap="square" lIns="0" rIns="0" tIns="0" bIns="0" anchor="t">
            <a:spAutoFit/>
          </a:bodyPr>
          <a:lstStyle/>
          <a:p>
            <a:pPr algn="l"/>
            <a:r>
              <a:rPr sz="1400" b="0" i="0">
                <a:solidFill>
                  <a:srgbClr val="52514E"/>
                </a:solidFill>
                <a:latin typeface="Calibri"/>
              </a:rPr>
              <a:t>Logistic regression (transparent) vs random forest and HistGradientBoosting (flexible).</a:t>
            </a:r>
          </a:p>
        </p:txBody>
      </p:sp>
      <p:sp>
        <p:nvSpPr>
          <p:cNvPr id="18" name="TextBox 1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9" name="TextBox 1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The damage grades are imbalanced</a:t>
            </a:r>
          </a:p>
        </p:txBody>
      </p:sp>
      <p:pic>
        <p:nvPicPr>
          <p:cNvPr id="4" name="Picture 3" descr="fig01_class_distribution.png"/>
          <p:cNvPicPr>
            <a:picLocks noChangeAspect="1"/>
          </p:cNvPicPr>
          <p:nvPr/>
        </p:nvPicPr>
        <p:blipFill>
          <a:blip r:embed="rId2"/>
          <a:stretch>
            <a:fillRect/>
          </a:stretch>
        </p:blipFill>
        <p:spPr>
          <a:xfrm>
            <a:off x="457200" y="1882364"/>
            <a:ext cx="6949440" cy="3916231"/>
          </a:xfrm>
          <a:prstGeom prst="rect">
            <a:avLst/>
          </a:prstGeom>
        </p:spPr>
      </p:pic>
      <p:sp>
        <p:nvSpPr>
          <p:cNvPr id="5" name="Rounded Rectangle 4"/>
          <p:cNvSpPr/>
          <p:nvPr/>
        </p:nvSpPr>
        <p:spPr>
          <a:xfrm>
            <a:off x="7726679" y="1554480"/>
            <a:ext cx="393192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664207"/>
            <a:ext cx="1600200" cy="640080"/>
          </a:xfrm>
          <a:prstGeom prst="rect">
            <a:avLst/>
          </a:prstGeom>
          <a:noFill/>
        </p:spPr>
        <p:txBody>
          <a:bodyPr wrap="square" lIns="0" rIns="0" tIns="0" bIns="0" anchor="t">
            <a:spAutoFit/>
          </a:bodyPr>
          <a:lstStyle/>
          <a:p>
            <a:pPr algn="l"/>
            <a:r>
              <a:rPr sz="3000" b="1" i="0">
                <a:solidFill>
                  <a:srgbClr val="EB6834"/>
                </a:solidFill>
                <a:latin typeface="Cambria"/>
              </a:rPr>
              <a:t>57%</a:t>
            </a:r>
          </a:p>
        </p:txBody>
      </p:sp>
      <p:sp>
        <p:nvSpPr>
          <p:cNvPr id="7" name="TextBox 6"/>
          <p:cNvSpPr txBox="1"/>
          <p:nvPr/>
        </p:nvSpPr>
        <p:spPr>
          <a:xfrm>
            <a:off x="9555480" y="1709928"/>
            <a:ext cx="2011680" cy="640080"/>
          </a:xfrm>
          <a:prstGeom prst="rect">
            <a:avLst/>
          </a:prstGeom>
          <a:noFill/>
        </p:spPr>
        <p:txBody>
          <a:bodyPr wrap="square" lIns="0" rIns="0" tIns="0" bIns="0" anchor="t">
            <a:spAutoFit/>
          </a:bodyPr>
          <a:lstStyle/>
          <a:p>
            <a:pPr algn="l"/>
            <a:r>
              <a:rPr sz="1400" b="1" i="0">
                <a:solidFill>
                  <a:srgbClr val="142340"/>
                </a:solidFill>
                <a:latin typeface="Calibri"/>
              </a:rPr>
              <a:t>of buildings are grade 2</a:t>
            </a:r>
          </a:p>
        </p:txBody>
      </p:sp>
      <p:sp>
        <p:nvSpPr>
          <p:cNvPr id="8" name="TextBox 7"/>
          <p:cNvSpPr txBox="1"/>
          <p:nvPr/>
        </p:nvSpPr>
        <p:spPr>
          <a:xfrm>
            <a:off x="7955279" y="2359152"/>
            <a:ext cx="3566160" cy="548640"/>
          </a:xfrm>
          <a:prstGeom prst="rect">
            <a:avLst/>
          </a:prstGeom>
          <a:noFill/>
        </p:spPr>
        <p:txBody>
          <a:bodyPr wrap="square" lIns="0" rIns="0" tIns="0" bIns="0" anchor="t">
            <a:spAutoFit/>
          </a:bodyPr>
          <a:lstStyle/>
          <a:p>
            <a:pPr algn="l"/>
            <a:r>
              <a:rPr sz="1300" b="0" i="0">
                <a:solidFill>
                  <a:srgbClr val="52514E"/>
                </a:solidFill>
                <a:latin typeface="Calibri"/>
              </a:rPr>
              <a:t>Grade 3: 33% · grade 1: only 10% (about 1 in 10)</a:t>
            </a:r>
          </a:p>
        </p:txBody>
      </p:sp>
      <p:sp>
        <p:nvSpPr>
          <p:cNvPr id="9" name="Rounded Rectangle 8"/>
          <p:cNvSpPr/>
          <p:nvPr/>
        </p:nvSpPr>
        <p:spPr>
          <a:xfrm>
            <a:off x="7726679" y="3127248"/>
            <a:ext cx="393192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3236976"/>
            <a:ext cx="1600200" cy="640080"/>
          </a:xfrm>
          <a:prstGeom prst="rect">
            <a:avLst/>
          </a:prstGeom>
          <a:noFill/>
        </p:spPr>
        <p:txBody>
          <a:bodyPr wrap="square" lIns="0" rIns="0" tIns="0" bIns="0" anchor="t">
            <a:spAutoFit/>
          </a:bodyPr>
          <a:lstStyle/>
          <a:p>
            <a:pPr algn="l"/>
            <a:r>
              <a:rPr sz="3000" b="1" i="0">
                <a:solidFill>
                  <a:srgbClr val="142340"/>
                </a:solidFill>
                <a:latin typeface="Cambria"/>
              </a:rPr>
              <a:t>0.569</a:t>
            </a:r>
          </a:p>
        </p:txBody>
      </p:sp>
      <p:sp>
        <p:nvSpPr>
          <p:cNvPr id="11" name="TextBox 10"/>
          <p:cNvSpPr txBox="1"/>
          <p:nvPr/>
        </p:nvSpPr>
        <p:spPr>
          <a:xfrm>
            <a:off x="9555480" y="3282696"/>
            <a:ext cx="2011680" cy="640080"/>
          </a:xfrm>
          <a:prstGeom prst="rect">
            <a:avLst/>
          </a:prstGeom>
          <a:noFill/>
        </p:spPr>
        <p:txBody>
          <a:bodyPr wrap="square" lIns="0" rIns="0" tIns="0" bIns="0" anchor="t">
            <a:spAutoFit/>
          </a:bodyPr>
          <a:lstStyle/>
          <a:p>
            <a:pPr algn="l"/>
            <a:r>
              <a:rPr sz="1400" b="1" i="0">
                <a:solidFill>
                  <a:srgbClr val="142340"/>
                </a:solidFill>
                <a:latin typeface="Calibri"/>
              </a:rPr>
              <a:t>micro-F1 from always guessing grade 2</a:t>
            </a:r>
          </a:p>
        </p:txBody>
      </p:sp>
      <p:sp>
        <p:nvSpPr>
          <p:cNvPr id="12" name="TextBox 11"/>
          <p:cNvSpPr txBox="1"/>
          <p:nvPr/>
        </p:nvSpPr>
        <p:spPr>
          <a:xfrm>
            <a:off x="7955279" y="3931920"/>
            <a:ext cx="3566160" cy="548640"/>
          </a:xfrm>
          <a:prstGeom prst="rect">
            <a:avLst/>
          </a:prstGeom>
          <a:noFill/>
        </p:spPr>
        <p:txBody>
          <a:bodyPr wrap="square" lIns="0" rIns="0" tIns="0" bIns="0" anchor="t">
            <a:spAutoFit/>
          </a:bodyPr>
          <a:lstStyle/>
          <a:p>
            <a:pPr algn="l"/>
            <a:r>
              <a:rPr sz="1300" b="0" i="0">
                <a:solidFill>
                  <a:srgbClr val="52514E"/>
                </a:solidFill>
                <a:latin typeface="Calibri"/>
              </a:rPr>
              <a:t>…but macro-F1 only 0.242: grades 1 and 3 are never found</a:t>
            </a:r>
          </a:p>
        </p:txBody>
      </p:sp>
      <p:sp>
        <p:nvSpPr>
          <p:cNvPr id="13" name="Rounded Rectangle 12"/>
          <p:cNvSpPr/>
          <p:nvPr/>
        </p:nvSpPr>
        <p:spPr>
          <a:xfrm>
            <a:off x="7726679" y="4700016"/>
            <a:ext cx="3931920" cy="155448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4791456"/>
            <a:ext cx="3566160" cy="320040"/>
          </a:xfrm>
          <a:prstGeom prst="rect">
            <a:avLst/>
          </a:prstGeom>
          <a:noFill/>
        </p:spPr>
        <p:txBody>
          <a:bodyPr wrap="square" lIns="0" rIns="0" tIns="0" bIns="0" anchor="t">
            <a:spAutoFit/>
          </a:bodyPr>
          <a:lstStyle/>
          <a:p>
            <a:pPr algn="l"/>
            <a:r>
              <a:rPr sz="1500" b="1" i="0">
                <a:solidFill>
                  <a:srgbClr val="FFFFFF"/>
                </a:solidFill>
                <a:latin typeface="Calibri"/>
              </a:rPr>
              <a:t>How we handled it</a:t>
            </a:r>
          </a:p>
        </p:txBody>
      </p:sp>
      <p:sp>
        <p:nvSpPr>
          <p:cNvPr id="15" name="TextBox 14"/>
          <p:cNvSpPr txBox="1"/>
          <p:nvPr/>
        </p:nvSpPr>
        <p:spPr>
          <a:xfrm>
            <a:off x="7955279" y="5138928"/>
            <a:ext cx="3566160" cy="1097280"/>
          </a:xfrm>
          <a:prstGeom prst="rect">
            <a:avLst/>
          </a:prstGeom>
          <a:noFill/>
        </p:spPr>
        <p:txBody>
          <a:bodyPr wrap="square" lIns="0" rIns="0" tIns="0" bIns="0" anchor="t">
            <a:spAutoFit/>
          </a:bodyPr>
          <a:lstStyle/>
          <a:p>
            <a:pPr algn="l">
              <a:spcAft>
                <a:spcPts val="300"/>
              </a:spcAft>
            </a:pPr>
            <a:r>
              <a:rPr sz="1250" b="0" i="0">
                <a:solidFill>
                  <a:srgbClr val="86B6EF"/>
                </a:solidFill>
                <a:latin typeface="Calibri"/>
              </a:rPr>
              <a:t>Stratified split and CV folds keep the 10 / 57 / 33 mix</a:t>
            </a:r>
          </a:p>
          <a:p>
            <a:pPr algn="l">
              <a:spcAft>
                <a:spcPts val="300"/>
              </a:spcAft>
            </a:pPr>
            <a:r>
              <a:rPr sz="1250" b="0" i="0">
                <a:solidFill>
                  <a:srgbClr val="86B6EF"/>
                </a:solidFill>
                <a:latin typeface="Calibri"/>
              </a:rPr>
              <a:t>Report macro-F1 and per-class recall, not only accuracy</a:t>
            </a:r>
          </a:p>
          <a:p>
            <a:pPr algn="l">
              <a:spcAft>
                <a:spcPts val="300"/>
              </a:spcAft>
            </a:pPr>
            <a:r>
              <a:rPr sz="1250" b="0" i="0">
                <a:solidFill>
                  <a:srgbClr val="86B6EF"/>
                </a:solidFill>
                <a:latin typeface="Calibri"/>
              </a:rPr>
              <a:t>Tested class weighting (E5) as a fix</a:t>
            </a:r>
          </a:p>
        </p:txBody>
      </p:sp>
      <p:sp>
        <p:nvSpPr>
          <p:cNvPr id="16" name="TextBox 1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7" name="TextBox 1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Building material is the clearest structural signal</a:t>
            </a:r>
          </a:p>
        </p:txBody>
      </p:sp>
      <p:pic>
        <p:nvPicPr>
          <p:cNvPr id="4" name="Picture 3" descr="fig03_damage_by_superstructure.png"/>
          <p:cNvPicPr>
            <a:picLocks noChangeAspect="1"/>
          </p:cNvPicPr>
          <p:nvPr/>
        </p:nvPicPr>
        <p:blipFill>
          <a:blip r:embed="rId2"/>
          <a:stretch>
            <a:fillRect/>
          </a:stretch>
        </p:blipFill>
        <p:spPr>
          <a:xfrm>
            <a:off x="457199" y="2045507"/>
            <a:ext cx="7223760" cy="3635664"/>
          </a:xfrm>
          <a:prstGeom prst="rect">
            <a:avLst/>
          </a:prstGeom>
        </p:spPr>
      </p:pic>
      <p:sp>
        <p:nvSpPr>
          <p:cNvPr id="5" name="Rounded Rectangle 4"/>
          <p:cNvSpPr/>
          <p:nvPr/>
        </p:nvSpPr>
        <p:spPr>
          <a:xfrm>
            <a:off x="8001000" y="1554480"/>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0" y="1664207"/>
            <a:ext cx="1463040" cy="640080"/>
          </a:xfrm>
          <a:prstGeom prst="rect">
            <a:avLst/>
          </a:prstGeom>
          <a:noFill/>
        </p:spPr>
        <p:txBody>
          <a:bodyPr wrap="square" lIns="0" rIns="0" tIns="0" bIns="0" anchor="t">
            <a:spAutoFit/>
          </a:bodyPr>
          <a:lstStyle/>
          <a:p>
            <a:pPr algn="l"/>
            <a:r>
              <a:rPr sz="3000" b="1" i="0">
                <a:solidFill>
                  <a:srgbClr val="EB6834"/>
                </a:solidFill>
                <a:latin typeface="Cambria"/>
              </a:rPr>
              <a:t>76%</a:t>
            </a:r>
          </a:p>
        </p:txBody>
      </p:sp>
      <p:sp>
        <p:nvSpPr>
          <p:cNvPr id="7" name="TextBox 6"/>
          <p:cNvSpPr txBox="1"/>
          <p:nvPr/>
        </p:nvSpPr>
        <p:spPr>
          <a:xfrm>
            <a:off x="9646920" y="1709928"/>
            <a:ext cx="1920240" cy="640080"/>
          </a:xfrm>
          <a:prstGeom prst="rect">
            <a:avLst/>
          </a:prstGeom>
          <a:noFill/>
        </p:spPr>
        <p:txBody>
          <a:bodyPr wrap="square" lIns="0" rIns="0" tIns="0" bIns="0" anchor="t">
            <a:spAutoFit/>
          </a:bodyPr>
          <a:lstStyle/>
          <a:p>
            <a:pPr algn="l"/>
            <a:r>
              <a:rPr sz="1400" b="1" i="0">
                <a:solidFill>
                  <a:srgbClr val="142340"/>
                </a:solidFill>
                <a:latin typeface="Calibri"/>
              </a:rPr>
              <a:t>of buildings use mud-mortar stone</a:t>
            </a:r>
          </a:p>
        </p:txBody>
      </p:sp>
      <p:sp>
        <p:nvSpPr>
          <p:cNvPr id="8" name="TextBox 7"/>
          <p:cNvSpPr txBox="1"/>
          <p:nvPr/>
        </p:nvSpPr>
        <p:spPr>
          <a:xfrm>
            <a:off x="8229600" y="2359152"/>
            <a:ext cx="3291840" cy="548640"/>
          </a:xfrm>
          <a:prstGeom prst="rect">
            <a:avLst/>
          </a:prstGeom>
          <a:noFill/>
        </p:spPr>
        <p:txBody>
          <a:bodyPr wrap="square" lIns="0" rIns="0" tIns="0" bIns="0" anchor="t">
            <a:spAutoFit/>
          </a:bodyPr>
          <a:lstStyle/>
          <a:p>
            <a:pPr algn="l"/>
            <a:r>
              <a:rPr sz="1300" b="0" i="0">
                <a:solidFill>
                  <a:srgbClr val="52514E"/>
                </a:solidFill>
                <a:latin typeface="Calibri"/>
              </a:rPr>
              <a:t>38% of them were destroyed (grade 3)</a:t>
            </a:r>
          </a:p>
        </p:txBody>
      </p:sp>
      <p:sp>
        <p:nvSpPr>
          <p:cNvPr id="9" name="Rounded Rectangle 8"/>
          <p:cNvSpPr/>
          <p:nvPr/>
        </p:nvSpPr>
        <p:spPr>
          <a:xfrm>
            <a:off x="8001000" y="3127248"/>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236976"/>
            <a:ext cx="1463040" cy="640080"/>
          </a:xfrm>
          <a:prstGeom prst="rect">
            <a:avLst/>
          </a:prstGeom>
          <a:noFill/>
        </p:spPr>
        <p:txBody>
          <a:bodyPr wrap="square" lIns="0" rIns="0" tIns="0" bIns="0" anchor="t">
            <a:spAutoFit/>
          </a:bodyPr>
          <a:lstStyle/>
          <a:p>
            <a:pPr algn="l"/>
            <a:r>
              <a:rPr sz="3000" b="1" i="0">
                <a:solidFill>
                  <a:srgbClr val="142340"/>
                </a:solidFill>
                <a:latin typeface="Cambria"/>
              </a:rPr>
              <a:t>2%</a:t>
            </a:r>
          </a:p>
        </p:txBody>
      </p:sp>
      <p:sp>
        <p:nvSpPr>
          <p:cNvPr id="11" name="TextBox 10"/>
          <p:cNvSpPr txBox="1"/>
          <p:nvPr/>
        </p:nvSpPr>
        <p:spPr>
          <a:xfrm>
            <a:off x="9646920" y="3282696"/>
            <a:ext cx="1920240" cy="640080"/>
          </a:xfrm>
          <a:prstGeom prst="rect">
            <a:avLst/>
          </a:prstGeom>
          <a:noFill/>
        </p:spPr>
        <p:txBody>
          <a:bodyPr wrap="square" lIns="0" rIns="0" tIns="0" bIns="0" anchor="t">
            <a:spAutoFit/>
          </a:bodyPr>
          <a:lstStyle/>
          <a:p>
            <a:pPr algn="l"/>
            <a:r>
              <a:rPr sz="1400" b="1" i="0">
                <a:solidFill>
                  <a:srgbClr val="142340"/>
                </a:solidFill>
                <a:latin typeface="Calibri"/>
              </a:rPr>
              <a:t>grade-3 rate for engineered RC</a:t>
            </a:r>
          </a:p>
        </p:txBody>
      </p:sp>
      <p:sp>
        <p:nvSpPr>
          <p:cNvPr id="12" name="TextBox 11"/>
          <p:cNvSpPr txBox="1"/>
          <p:nvPr/>
        </p:nvSpPr>
        <p:spPr>
          <a:xfrm>
            <a:off x="8229600" y="3931920"/>
            <a:ext cx="3291840" cy="548640"/>
          </a:xfrm>
          <a:prstGeom prst="rect">
            <a:avLst/>
          </a:prstGeom>
          <a:noFill/>
        </p:spPr>
        <p:txBody>
          <a:bodyPr wrap="square" lIns="0" rIns="0" tIns="0" bIns="0" anchor="t">
            <a:spAutoFit/>
          </a:bodyPr>
          <a:lstStyle/>
          <a:p>
            <a:pPr algn="l"/>
            <a:r>
              <a:rPr sz="1300" b="0" i="0">
                <a:solidFill>
                  <a:srgbClr val="52514E"/>
                </a:solidFill>
                <a:latin typeface="Calibri"/>
              </a:rPr>
              <a:t>64% of RC buildings had only low damage</a:t>
            </a:r>
          </a:p>
        </p:txBody>
      </p:sp>
      <p:sp>
        <p:nvSpPr>
          <p:cNvPr id="13" name="Rounded Rectangle 12"/>
          <p:cNvSpPr/>
          <p:nvPr/>
        </p:nvSpPr>
        <p:spPr>
          <a:xfrm>
            <a:off x="8001000" y="4700016"/>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809744"/>
            <a:ext cx="1463040" cy="640080"/>
          </a:xfrm>
          <a:prstGeom prst="rect">
            <a:avLst/>
          </a:prstGeom>
          <a:noFill/>
        </p:spPr>
        <p:txBody>
          <a:bodyPr wrap="square" lIns="0" rIns="0" tIns="0" bIns="0" anchor="t">
            <a:spAutoFit/>
          </a:bodyPr>
          <a:lstStyle/>
          <a:p>
            <a:pPr algn="l"/>
            <a:r>
              <a:rPr sz="3000" b="1" i="0">
                <a:solidFill>
                  <a:srgbClr val="142340"/>
                </a:solidFill>
                <a:latin typeface="Cambria"/>
              </a:rPr>
              <a:t>2%</a:t>
            </a:r>
          </a:p>
        </p:txBody>
      </p:sp>
      <p:sp>
        <p:nvSpPr>
          <p:cNvPr id="15" name="TextBox 14"/>
          <p:cNvSpPr txBox="1"/>
          <p:nvPr/>
        </p:nvSpPr>
        <p:spPr>
          <a:xfrm>
            <a:off x="9646920" y="4855464"/>
            <a:ext cx="1920240" cy="640080"/>
          </a:xfrm>
          <a:prstGeom prst="rect">
            <a:avLst/>
          </a:prstGeom>
          <a:noFill/>
        </p:spPr>
        <p:txBody>
          <a:bodyPr wrap="square" lIns="0" rIns="0" tIns="0" bIns="0" anchor="t">
            <a:spAutoFit/>
          </a:bodyPr>
          <a:lstStyle/>
          <a:p>
            <a:pPr algn="l"/>
            <a:r>
              <a:rPr sz="1400" b="1" i="0">
                <a:solidFill>
                  <a:srgbClr val="142340"/>
                </a:solidFill>
                <a:latin typeface="Calibri"/>
              </a:rPr>
              <a:t>grade-3 rate, foundation type i</a:t>
            </a:r>
          </a:p>
        </p:txBody>
      </p:sp>
      <p:sp>
        <p:nvSpPr>
          <p:cNvPr id="16" name="TextBox 15"/>
          <p:cNvSpPr txBox="1"/>
          <p:nvPr/>
        </p:nvSpPr>
        <p:spPr>
          <a:xfrm>
            <a:off x="8229600" y="5504688"/>
            <a:ext cx="3291840" cy="548640"/>
          </a:xfrm>
          <a:prstGeom prst="rect">
            <a:avLst/>
          </a:prstGeom>
          <a:noFill/>
        </p:spPr>
        <p:txBody>
          <a:bodyPr wrap="square" lIns="0" rIns="0" tIns="0" bIns="0" anchor="t">
            <a:spAutoFit/>
          </a:bodyPr>
          <a:lstStyle/>
          <a:p>
            <a:pPr algn="l"/>
            <a:r>
              <a:rPr sz="1300" b="0" i="0">
                <a:solidFill>
                  <a:srgbClr val="52514E"/>
                </a:solidFill>
                <a:latin typeface="Calibri"/>
              </a:rPr>
              <a:t>vs 38% for type r, used by 84% of buildings</a:t>
            </a:r>
          </a:p>
        </p:txBody>
      </p:sp>
      <p:sp>
        <p:nvSpPr>
          <p:cNvPr id="17" name="TextBox 16"/>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8" name="TextBox 17"/>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Location matters as much as structure</a:t>
            </a:r>
          </a:p>
        </p:txBody>
      </p:sp>
      <p:pic>
        <p:nvPicPr>
          <p:cNvPr id="4" name="Picture 3" descr="fig04_damage_by_geo1.png"/>
          <p:cNvPicPr>
            <a:picLocks noChangeAspect="1"/>
          </p:cNvPicPr>
          <p:nvPr/>
        </p:nvPicPr>
        <p:blipFill>
          <a:blip r:embed="rId2"/>
          <a:stretch>
            <a:fillRect/>
          </a:stretch>
        </p:blipFill>
        <p:spPr>
          <a:xfrm>
            <a:off x="1900203" y="1463040"/>
            <a:ext cx="8361112" cy="3931920"/>
          </a:xfrm>
          <a:prstGeom prst="rect">
            <a:avLst/>
          </a:prstGeom>
        </p:spPr>
      </p:pic>
      <p:sp>
        <p:nvSpPr>
          <p:cNvPr id="5" name="Rounded Rectangle 4"/>
          <p:cNvSpPr/>
          <p:nvPr/>
        </p:nvSpPr>
        <p:spPr>
          <a:xfrm>
            <a:off x="548640" y="5486400"/>
            <a:ext cx="11109960" cy="7315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532120"/>
            <a:ext cx="10698480" cy="640080"/>
          </a:xfrm>
          <a:prstGeom prst="rect">
            <a:avLst/>
          </a:prstGeom>
          <a:noFill/>
        </p:spPr>
        <p:txBody>
          <a:bodyPr wrap="square" lIns="0" rIns="0" tIns="0" bIns="0" anchor="ctr">
            <a:spAutoFit/>
          </a:bodyPr>
          <a:lstStyle/>
          <a:p>
            <a:pPr algn="l"/>
            <a:r>
              <a:rPr sz="1500" b="0" i="0">
                <a:solidFill>
                  <a:srgbClr val="52514E"/>
                </a:solidFill>
                <a:latin typeface="Calibri"/>
              </a:rPr>
              <a:t>Grade-3 share ranges from </a:t>
            </a:r>
            <a:r>
              <a:rPr sz="1500" b="1" i="0">
                <a:solidFill>
                  <a:srgbClr val="142340"/>
                </a:solidFill>
                <a:latin typeface="Calibri"/>
              </a:rPr>
              <a:t>9%</a:t>
            </a:r>
            <a:r>
              <a:rPr sz="1500" b="0" i="0">
                <a:solidFill>
                  <a:srgbClr val="52514E"/>
                </a:solidFill>
                <a:latin typeface="Calibri"/>
              </a:rPr>
              <a:t> (region 26) to </a:t>
            </a:r>
            <a:r>
              <a:rPr sz="1500" b="1" i="0">
                <a:solidFill>
                  <a:srgbClr val="EB6834"/>
                </a:solidFill>
                <a:latin typeface="Calibri"/>
              </a:rPr>
              <a:t>81%</a:t>
            </a:r>
            <a:r>
              <a:rPr sz="1500" b="0" i="0">
                <a:solidFill>
                  <a:srgbClr val="52514E"/>
                </a:solidFill>
                <a:latin typeface="Calibri"/>
              </a:rPr>
              <a:t> (region 17). Region is a proxy for shaking intensity, so finer location levels should help even more.</a:t>
            </a:r>
          </a:p>
        </p:txBody>
      </p:sp>
      <p:sp>
        <p:nvSpPr>
          <p:cNvPr id="7" name="TextBox 6"/>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8" name="TextBox 7"/>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OVERVIEW</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Six steps, all inside one leakage-safe pipeline</a:t>
            </a:r>
          </a:p>
        </p:txBody>
      </p:sp>
      <p:sp>
        <p:nvSpPr>
          <p:cNvPr id="4" name="Rounded Rectangle 3"/>
          <p:cNvSpPr/>
          <p:nvPr/>
        </p:nvSpPr>
        <p:spPr>
          <a:xfrm>
            <a:off x="548640"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1 Age clean</a:t>
            </a:r>
          </a:p>
        </p:txBody>
      </p:sp>
      <p:sp>
        <p:nvSpPr>
          <p:cNvPr id="6" name="TextBox 5"/>
          <p:cNvSpPr txBox="1"/>
          <p:nvPr/>
        </p:nvSpPr>
        <p:spPr>
          <a:xfrm>
            <a:off x="685800"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995 → flag +
training median</a:t>
            </a:r>
          </a:p>
        </p:txBody>
      </p:sp>
      <p:cxnSp>
        <p:nvCxnSpPr>
          <p:cNvPr id="7" name="Connector 6"/>
          <p:cNvCxnSpPr/>
          <p:nvPr/>
        </p:nvCxnSpPr>
        <p:spPr>
          <a:xfrm>
            <a:off x="2258568"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32304"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9464"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2 Engineer</a:t>
            </a:r>
          </a:p>
        </p:txBody>
      </p:sp>
      <p:sp>
        <p:nvSpPr>
          <p:cNvPr id="10" name="TextBox 9"/>
          <p:cNvSpPr txBox="1"/>
          <p:nvPr/>
        </p:nvSpPr>
        <p:spPr>
          <a:xfrm>
            <a:off x="2569464"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kept: floors_x_log_age</a:t>
            </a:r>
          </a:p>
        </p:txBody>
      </p:sp>
      <p:cxnSp>
        <p:nvCxnSpPr>
          <p:cNvPr id="11" name="Connector 10"/>
          <p:cNvCxnSpPr/>
          <p:nvPr/>
        </p:nvCxnSpPr>
        <p:spPr>
          <a:xfrm>
            <a:off x="4142231" y="2468880"/>
            <a:ext cx="155449"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15968"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3 Scale (LR)</a:t>
            </a:r>
          </a:p>
        </p:txBody>
      </p:sp>
      <p:sp>
        <p:nvSpPr>
          <p:cNvPr id="14" name="TextBox 13"/>
          <p:cNvSpPr txBox="1"/>
          <p:nvPr/>
        </p:nvSpPr>
        <p:spPr>
          <a:xfrm>
            <a:off x="4453128"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log1p + standardise
age, area, height</a:t>
            </a:r>
          </a:p>
        </p:txBody>
      </p:sp>
      <p:cxnSp>
        <p:nvCxnSpPr>
          <p:cNvPr id="15" name="Connector 14"/>
          <p:cNvCxnSpPr/>
          <p:nvPr/>
        </p:nvCxnSpPr>
        <p:spPr>
          <a:xfrm>
            <a:off x="6025896"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9631"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4 Encode</a:t>
            </a:r>
          </a:p>
        </p:txBody>
      </p:sp>
      <p:sp>
        <p:nvSpPr>
          <p:cNvPr id="18" name="TextBox 17"/>
          <p:cNvSpPr txBox="1"/>
          <p:nvPr/>
        </p:nvSpPr>
        <p:spPr>
          <a:xfrm>
            <a:off x="6336792"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8 categoricals + region:
LR one-hot, trees codes</a:t>
            </a:r>
          </a:p>
        </p:txBody>
      </p:sp>
      <p:cxnSp>
        <p:nvCxnSpPr>
          <p:cNvPr id="19" name="Connector 18"/>
          <p:cNvCxnSpPr/>
          <p:nvPr/>
        </p:nvCxnSpPr>
        <p:spPr>
          <a:xfrm>
            <a:off x="7909559" y="2468880"/>
            <a:ext cx="155449"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83296"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5 Target-encode</a:t>
            </a:r>
          </a:p>
        </p:txBody>
      </p:sp>
      <p:sp>
        <p:nvSpPr>
          <p:cNvPr id="22" name="TextBox 21"/>
          <p:cNvSpPr txBox="1"/>
          <p:nvPr/>
        </p:nvSpPr>
        <p:spPr>
          <a:xfrm>
            <a:off x="8220456"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geo levels 2 &amp; 3
(multiclass, cross-fit)</a:t>
            </a:r>
          </a:p>
        </p:txBody>
      </p:sp>
      <p:cxnSp>
        <p:nvCxnSpPr>
          <p:cNvPr id="23" name="Connector 22"/>
          <p:cNvCxnSpPr/>
          <p:nvPr/>
        </p:nvCxnSpPr>
        <p:spPr>
          <a:xfrm>
            <a:off x="9793224"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66960" y="1600200"/>
            <a:ext cx="1691640" cy="173736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04120" y="1737360"/>
            <a:ext cx="1417320" cy="685800"/>
          </a:xfrm>
          <a:prstGeom prst="rect">
            <a:avLst/>
          </a:prstGeom>
          <a:noFill/>
        </p:spPr>
        <p:txBody>
          <a:bodyPr wrap="square" lIns="0" rIns="0" tIns="0" bIns="0" anchor="t">
            <a:spAutoFit/>
          </a:bodyPr>
          <a:lstStyle/>
          <a:p>
            <a:pPr algn="l"/>
            <a:r>
              <a:rPr sz="1600" b="1" i="0">
                <a:solidFill>
                  <a:srgbClr val="FFFFFF"/>
                </a:solidFill>
                <a:latin typeface="Calibri"/>
              </a:rPr>
              <a:t>6 Three models</a:t>
            </a:r>
          </a:p>
        </p:txBody>
      </p:sp>
      <p:sp>
        <p:nvSpPr>
          <p:cNvPr id="26" name="TextBox 25"/>
          <p:cNvSpPr txBox="1"/>
          <p:nvPr/>
        </p:nvSpPr>
        <p:spPr>
          <a:xfrm>
            <a:off x="10104120" y="2423160"/>
            <a:ext cx="1417320" cy="868680"/>
          </a:xfrm>
          <a:prstGeom prst="rect">
            <a:avLst/>
          </a:prstGeom>
          <a:noFill/>
        </p:spPr>
        <p:txBody>
          <a:bodyPr wrap="square" lIns="0" rIns="0" tIns="0" bIns="0" anchor="t">
            <a:spAutoFit/>
          </a:bodyPr>
          <a:lstStyle/>
          <a:p>
            <a:pPr algn="l"/>
            <a:r>
              <a:rPr sz="1250" b="0" i="0">
                <a:solidFill>
                  <a:srgbClr val="86B6EF"/>
                </a:solidFill>
                <a:latin typeface="Calibri"/>
              </a:rPr>
              <a:t>LR · random forest
· gradient boosting</a:t>
            </a:r>
          </a:p>
        </p:txBody>
      </p:sp>
      <p:sp>
        <p:nvSpPr>
          <p:cNvPr id="27" name="Rounded Rectangle 26"/>
          <p:cNvSpPr/>
          <p:nvPr/>
        </p:nvSpPr>
        <p:spPr>
          <a:xfrm>
            <a:off x="548640" y="3657600"/>
            <a:ext cx="5486400" cy="25146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3794760"/>
            <a:ext cx="5029200" cy="365760"/>
          </a:xfrm>
          <a:prstGeom prst="rect">
            <a:avLst/>
          </a:prstGeom>
          <a:noFill/>
        </p:spPr>
        <p:txBody>
          <a:bodyPr wrap="square" lIns="0" rIns="0" tIns="0" bIns="0" anchor="t">
            <a:spAutoFit/>
          </a:bodyPr>
          <a:lstStyle/>
          <a:p>
            <a:pPr algn="l"/>
            <a:r>
              <a:rPr sz="1800" b="1" i="0">
                <a:solidFill>
                  <a:srgbClr val="142340"/>
                </a:solidFill>
                <a:latin typeface="Calibri"/>
              </a:rPr>
              <a:t>Why one pipeline?</a:t>
            </a:r>
          </a:p>
        </p:txBody>
      </p:sp>
      <p:sp>
        <p:nvSpPr>
          <p:cNvPr id="29" name="TextBox 28"/>
          <p:cNvSpPr txBox="1"/>
          <p:nvPr/>
        </p:nvSpPr>
        <p:spPr>
          <a:xfrm>
            <a:off x="777240" y="4206240"/>
            <a:ext cx="5029200" cy="1920240"/>
          </a:xfrm>
          <a:prstGeom prst="rect">
            <a:avLst/>
          </a:prstGeom>
          <a:noFill/>
        </p:spPr>
        <p:txBody>
          <a:bodyPr wrap="square" lIns="0" rIns="0" tIns="0" bIns="0" anchor="t">
            <a:spAutoFit/>
          </a:bodyPr>
          <a:lstStyle/>
          <a:p>
            <a:pPr algn="l">
              <a:spcAft>
                <a:spcPts val="800"/>
              </a:spcAft>
            </a:pPr>
            <a:r>
              <a:rPr sz="1400" b="0" i="0">
                <a:solidFill>
                  <a:srgbClr val="52514E"/>
                </a:solidFill>
                <a:latin typeface="Calibri"/>
              </a:rPr>
              <a:t>Steps 1, 3, 4 and 5 learn something from the data: a median age, a mean and spread, a list of categories, area damage rates.</a:t>
            </a:r>
          </a:p>
          <a:p>
            <a:pPr algn="l">
              <a:spcAft>
                <a:spcPts val="800"/>
              </a:spcAft>
            </a:pPr>
            <a:r>
              <a:rPr sz="1400" b="0" i="0">
                <a:solidFill>
                  <a:srgbClr val="52514E"/>
                </a:solidFill>
                <a:latin typeface="Calibri"/>
              </a:rPr>
              <a:t>Inside cross-validation the whole pipeline is re-fitted on the training folds only, so validation buildings never help build their own features.</a:t>
            </a:r>
          </a:p>
        </p:txBody>
      </p:sp>
      <p:sp>
        <p:nvSpPr>
          <p:cNvPr id="30" name="Rounded Rectangle 29"/>
          <p:cNvSpPr/>
          <p:nvPr/>
        </p:nvSpPr>
        <p:spPr>
          <a:xfrm>
            <a:off x="6263640" y="3657600"/>
            <a:ext cx="5394960" cy="25146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3794760"/>
            <a:ext cx="4937760" cy="365760"/>
          </a:xfrm>
          <a:prstGeom prst="rect">
            <a:avLst/>
          </a:prstGeom>
          <a:noFill/>
        </p:spPr>
        <p:txBody>
          <a:bodyPr wrap="square" lIns="0" rIns="0" tIns="0" bIns="0" anchor="t">
            <a:spAutoFit/>
          </a:bodyPr>
          <a:lstStyle/>
          <a:p>
            <a:pPr algn="l"/>
            <a:r>
              <a:rPr sz="1800" b="1" i="0">
                <a:solidFill>
                  <a:srgbClr val="142340"/>
                </a:solidFill>
                <a:latin typeface="Calibri"/>
              </a:rPr>
              <a:t>Two versions of the pipeline</a:t>
            </a:r>
          </a:p>
        </p:txBody>
      </p:sp>
      <p:sp>
        <p:nvSpPr>
          <p:cNvPr id="32" name="Rectangle 31"/>
          <p:cNvSpPr/>
          <p:nvPr/>
        </p:nvSpPr>
        <p:spPr>
          <a:xfrm>
            <a:off x="6492240" y="4251960"/>
            <a:ext cx="1737360" cy="402336"/>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79" y="4251960"/>
            <a:ext cx="1554480" cy="402336"/>
          </a:xfrm>
          <a:prstGeom prst="rect">
            <a:avLst/>
          </a:prstGeom>
          <a:noFill/>
        </p:spPr>
        <p:txBody>
          <a:bodyPr wrap="square" lIns="0" rIns="0" tIns="0" bIns="0" anchor="ctr">
            <a:spAutoFit/>
          </a:bodyPr>
          <a:lstStyle/>
          <a:p>
            <a:pPr algn="l"/>
            <a:r>
              <a:rPr sz="1250" b="1" i="0">
                <a:solidFill>
                  <a:srgbClr val="FFFFFF"/>
                </a:solidFill>
                <a:latin typeface="Calibri"/>
              </a:rPr>
              <a:t>Step</a:t>
            </a:r>
          </a:p>
        </p:txBody>
      </p:sp>
      <p:sp>
        <p:nvSpPr>
          <p:cNvPr id="34" name="Rectangle 33"/>
          <p:cNvSpPr/>
          <p:nvPr/>
        </p:nvSpPr>
        <p:spPr>
          <a:xfrm>
            <a:off x="8229600" y="4251960"/>
            <a:ext cx="1600200" cy="402336"/>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4251960"/>
            <a:ext cx="1417320" cy="402336"/>
          </a:xfrm>
          <a:prstGeom prst="rect">
            <a:avLst/>
          </a:prstGeom>
          <a:noFill/>
        </p:spPr>
        <p:txBody>
          <a:bodyPr wrap="square" lIns="0" rIns="0" tIns="0" bIns="0" anchor="ctr">
            <a:spAutoFit/>
          </a:bodyPr>
          <a:lstStyle/>
          <a:p>
            <a:pPr algn="l"/>
            <a:r>
              <a:rPr sz="1250" b="1" i="0">
                <a:solidFill>
                  <a:srgbClr val="FFFFFF"/>
                </a:solidFill>
                <a:latin typeface="Calibri"/>
              </a:rPr>
              <a:t>Logistic reg.</a:t>
            </a:r>
          </a:p>
        </p:txBody>
      </p:sp>
      <p:sp>
        <p:nvSpPr>
          <p:cNvPr id="36" name="Rectangle 35"/>
          <p:cNvSpPr/>
          <p:nvPr/>
        </p:nvSpPr>
        <p:spPr>
          <a:xfrm>
            <a:off x="9829800" y="4251960"/>
            <a:ext cx="1600200" cy="402336"/>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21240" y="4251960"/>
            <a:ext cx="1417320" cy="402336"/>
          </a:xfrm>
          <a:prstGeom prst="rect">
            <a:avLst/>
          </a:prstGeom>
          <a:noFill/>
        </p:spPr>
        <p:txBody>
          <a:bodyPr wrap="square" lIns="0" rIns="0" tIns="0" bIns="0" anchor="ctr">
            <a:spAutoFit/>
          </a:bodyPr>
          <a:lstStyle/>
          <a:p>
            <a:pPr algn="l"/>
            <a:r>
              <a:rPr sz="1250" b="1" i="0">
                <a:solidFill>
                  <a:srgbClr val="FFFFFF"/>
                </a:solidFill>
                <a:latin typeface="Calibri"/>
              </a:rPr>
              <a:t>Trees</a:t>
            </a:r>
          </a:p>
        </p:txBody>
      </p:sp>
      <p:sp>
        <p:nvSpPr>
          <p:cNvPr id="38" name="Rectangle 37"/>
          <p:cNvSpPr/>
          <p:nvPr/>
        </p:nvSpPr>
        <p:spPr>
          <a:xfrm>
            <a:off x="6492240" y="4654296"/>
            <a:ext cx="1737360" cy="402336"/>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79" y="4654296"/>
            <a:ext cx="1554480" cy="402336"/>
          </a:xfrm>
          <a:prstGeom prst="rect">
            <a:avLst/>
          </a:prstGeom>
          <a:noFill/>
        </p:spPr>
        <p:txBody>
          <a:bodyPr wrap="square" lIns="0" rIns="0" tIns="0" bIns="0" anchor="ctr">
            <a:spAutoFit/>
          </a:bodyPr>
          <a:lstStyle/>
          <a:p>
            <a:pPr algn="l"/>
            <a:r>
              <a:rPr sz="1250" b="1" i="0">
                <a:solidFill>
                  <a:srgbClr val="0B0B0B"/>
                </a:solidFill>
                <a:latin typeface="Calibri"/>
              </a:rPr>
              <a:t>Scaling</a:t>
            </a:r>
          </a:p>
        </p:txBody>
      </p:sp>
      <p:sp>
        <p:nvSpPr>
          <p:cNvPr id="40" name="Rectangle 39"/>
          <p:cNvSpPr/>
          <p:nvPr/>
        </p:nvSpPr>
        <p:spPr>
          <a:xfrm>
            <a:off x="8229600" y="4654296"/>
            <a:ext cx="1600200" cy="402336"/>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0" y="4654296"/>
            <a:ext cx="1417320" cy="402336"/>
          </a:xfrm>
          <a:prstGeom prst="rect">
            <a:avLst/>
          </a:prstGeom>
          <a:noFill/>
        </p:spPr>
        <p:txBody>
          <a:bodyPr wrap="square" lIns="0" rIns="0" tIns="0" bIns="0" anchor="ctr">
            <a:spAutoFit/>
          </a:bodyPr>
          <a:lstStyle/>
          <a:p>
            <a:pPr algn="l"/>
            <a:r>
              <a:rPr sz="1250" b="0" i="0">
                <a:solidFill>
                  <a:srgbClr val="0B0B0B"/>
                </a:solidFill>
                <a:latin typeface="Calibri"/>
              </a:rPr>
              <a:t>yes</a:t>
            </a:r>
          </a:p>
        </p:txBody>
      </p:sp>
      <p:sp>
        <p:nvSpPr>
          <p:cNvPr id="42" name="Rectangle 41"/>
          <p:cNvSpPr/>
          <p:nvPr/>
        </p:nvSpPr>
        <p:spPr>
          <a:xfrm>
            <a:off x="9829800" y="4654296"/>
            <a:ext cx="1600200" cy="402336"/>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21240" y="4654296"/>
            <a:ext cx="1417320" cy="402336"/>
          </a:xfrm>
          <a:prstGeom prst="rect">
            <a:avLst/>
          </a:prstGeom>
          <a:noFill/>
        </p:spPr>
        <p:txBody>
          <a:bodyPr wrap="square" lIns="0" rIns="0" tIns="0" bIns="0" anchor="ctr">
            <a:spAutoFit/>
          </a:bodyPr>
          <a:lstStyle/>
          <a:p>
            <a:pPr algn="l"/>
            <a:r>
              <a:rPr sz="1250" b="0" i="0">
                <a:solidFill>
                  <a:srgbClr val="0B0B0B"/>
                </a:solidFill>
                <a:latin typeface="Calibri"/>
              </a:rPr>
              <a:t>no</a:t>
            </a:r>
          </a:p>
        </p:txBody>
      </p:sp>
      <p:sp>
        <p:nvSpPr>
          <p:cNvPr id="44" name="Rectangle 43"/>
          <p:cNvSpPr/>
          <p:nvPr/>
        </p:nvSpPr>
        <p:spPr>
          <a:xfrm>
            <a:off x="6492240" y="5056632"/>
            <a:ext cx="1737360" cy="402336"/>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79" y="5056632"/>
            <a:ext cx="1554480" cy="402336"/>
          </a:xfrm>
          <a:prstGeom prst="rect">
            <a:avLst/>
          </a:prstGeom>
          <a:noFill/>
        </p:spPr>
        <p:txBody>
          <a:bodyPr wrap="square" lIns="0" rIns="0" tIns="0" bIns="0" anchor="ctr">
            <a:spAutoFit/>
          </a:bodyPr>
          <a:lstStyle/>
          <a:p>
            <a:pPr algn="l"/>
            <a:r>
              <a:rPr sz="1250" b="1" i="0">
                <a:solidFill>
                  <a:srgbClr val="0B0B0B"/>
                </a:solidFill>
                <a:latin typeface="Calibri"/>
              </a:rPr>
              <a:t>Categoricals</a:t>
            </a:r>
          </a:p>
        </p:txBody>
      </p:sp>
      <p:sp>
        <p:nvSpPr>
          <p:cNvPr id="46" name="Rectangle 45"/>
          <p:cNvSpPr/>
          <p:nvPr/>
        </p:nvSpPr>
        <p:spPr>
          <a:xfrm>
            <a:off x="8229600" y="5056632"/>
            <a:ext cx="1600200" cy="402336"/>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21040" y="5056632"/>
            <a:ext cx="1417320" cy="402336"/>
          </a:xfrm>
          <a:prstGeom prst="rect">
            <a:avLst/>
          </a:prstGeom>
          <a:noFill/>
        </p:spPr>
        <p:txBody>
          <a:bodyPr wrap="square" lIns="0" rIns="0" tIns="0" bIns="0" anchor="ctr">
            <a:spAutoFit/>
          </a:bodyPr>
          <a:lstStyle/>
          <a:p>
            <a:pPr algn="l"/>
            <a:r>
              <a:rPr sz="1250" b="0" i="0">
                <a:solidFill>
                  <a:srgbClr val="0B0B0B"/>
                </a:solidFill>
                <a:latin typeface="Calibri"/>
              </a:rPr>
              <a:t>one-hot</a:t>
            </a:r>
          </a:p>
        </p:txBody>
      </p:sp>
      <p:sp>
        <p:nvSpPr>
          <p:cNvPr id="48" name="Rectangle 47"/>
          <p:cNvSpPr/>
          <p:nvPr/>
        </p:nvSpPr>
        <p:spPr>
          <a:xfrm>
            <a:off x="9829800" y="5056632"/>
            <a:ext cx="1600200" cy="402336"/>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921240" y="5056632"/>
            <a:ext cx="1417320" cy="402336"/>
          </a:xfrm>
          <a:prstGeom prst="rect">
            <a:avLst/>
          </a:prstGeom>
          <a:noFill/>
        </p:spPr>
        <p:txBody>
          <a:bodyPr wrap="square" lIns="0" rIns="0" tIns="0" bIns="0" anchor="ctr">
            <a:spAutoFit/>
          </a:bodyPr>
          <a:lstStyle/>
          <a:p>
            <a:pPr algn="l"/>
            <a:r>
              <a:rPr sz="1250" b="0" i="0">
                <a:solidFill>
                  <a:srgbClr val="0B0B0B"/>
                </a:solidFill>
                <a:latin typeface="Calibri"/>
              </a:rPr>
              <a:t>integer codes</a:t>
            </a:r>
          </a:p>
        </p:txBody>
      </p:sp>
      <p:sp>
        <p:nvSpPr>
          <p:cNvPr id="50" name="Rectangle 49"/>
          <p:cNvSpPr/>
          <p:nvPr/>
        </p:nvSpPr>
        <p:spPr>
          <a:xfrm>
            <a:off x="6492240" y="5458968"/>
            <a:ext cx="1737360" cy="402336"/>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83679" y="5458968"/>
            <a:ext cx="1554480" cy="402336"/>
          </a:xfrm>
          <a:prstGeom prst="rect">
            <a:avLst/>
          </a:prstGeom>
          <a:noFill/>
        </p:spPr>
        <p:txBody>
          <a:bodyPr wrap="square" lIns="0" rIns="0" tIns="0" bIns="0" anchor="ctr">
            <a:spAutoFit/>
          </a:bodyPr>
          <a:lstStyle/>
          <a:p>
            <a:pPr algn="l"/>
            <a:r>
              <a:rPr sz="1250" b="1" i="0">
                <a:solidFill>
                  <a:srgbClr val="0B0B0B"/>
                </a:solidFill>
                <a:latin typeface="Calibri"/>
              </a:rPr>
              <a:t>Geo levels 2 &amp; 3</a:t>
            </a:r>
          </a:p>
        </p:txBody>
      </p:sp>
      <p:sp>
        <p:nvSpPr>
          <p:cNvPr id="52" name="Rectangle 51"/>
          <p:cNvSpPr/>
          <p:nvPr/>
        </p:nvSpPr>
        <p:spPr>
          <a:xfrm>
            <a:off x="8229600" y="5458968"/>
            <a:ext cx="1600200" cy="402336"/>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21040" y="5458968"/>
            <a:ext cx="1417320" cy="402336"/>
          </a:xfrm>
          <a:prstGeom prst="rect">
            <a:avLst/>
          </a:prstGeom>
          <a:noFill/>
        </p:spPr>
        <p:txBody>
          <a:bodyPr wrap="square" lIns="0" rIns="0" tIns="0" bIns="0" anchor="ctr">
            <a:spAutoFit/>
          </a:bodyPr>
          <a:lstStyle/>
          <a:p>
            <a:pPr algn="l"/>
            <a:r>
              <a:rPr sz="1250" b="0" i="0">
                <a:solidFill>
                  <a:srgbClr val="0B0B0B"/>
                </a:solidFill>
                <a:latin typeface="Calibri"/>
              </a:rPr>
              <a:t>target-encoded</a:t>
            </a:r>
          </a:p>
        </p:txBody>
      </p:sp>
      <p:sp>
        <p:nvSpPr>
          <p:cNvPr id="54" name="Rectangle 53"/>
          <p:cNvSpPr/>
          <p:nvPr/>
        </p:nvSpPr>
        <p:spPr>
          <a:xfrm>
            <a:off x="9829800" y="5458968"/>
            <a:ext cx="1600200" cy="402336"/>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21240" y="5458968"/>
            <a:ext cx="1417320" cy="402336"/>
          </a:xfrm>
          <a:prstGeom prst="rect">
            <a:avLst/>
          </a:prstGeom>
          <a:noFill/>
        </p:spPr>
        <p:txBody>
          <a:bodyPr wrap="square" lIns="0" rIns="0" tIns="0" bIns="0" anchor="ctr">
            <a:spAutoFit/>
          </a:bodyPr>
          <a:lstStyle/>
          <a:p>
            <a:pPr algn="l"/>
            <a:r>
              <a:rPr sz="1250" b="0" i="0">
                <a:solidFill>
                  <a:srgbClr val="0B0B0B"/>
                </a:solidFill>
                <a:latin typeface="Calibri"/>
              </a:rPr>
              <a:t>target-encoded</a:t>
            </a:r>
          </a:p>
        </p:txBody>
      </p:sp>
      <p:sp>
        <p:nvSpPr>
          <p:cNvPr id="56" name="TextBox 5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57" name="TextBox 5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CLEANING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Age = 995 is a placeholder, not a real age</a:t>
            </a:r>
          </a:p>
        </p:txBody>
      </p:sp>
      <p:sp>
        <p:nvSpPr>
          <p:cNvPr id="4" name="TextBox 3"/>
          <p:cNvSpPr txBox="1"/>
          <p:nvPr/>
        </p:nvSpPr>
        <p:spPr>
          <a:xfrm>
            <a:off x="548640" y="1463040"/>
            <a:ext cx="10972800" cy="365760"/>
          </a:xfrm>
          <a:prstGeom prst="rect">
            <a:avLst/>
          </a:prstGeom>
          <a:noFill/>
        </p:spPr>
        <p:txBody>
          <a:bodyPr wrap="square" lIns="0" rIns="0" tIns="0" bIns="0" anchor="t">
            <a:spAutoFit/>
          </a:bodyPr>
          <a:lstStyle/>
          <a:p>
            <a:pPr algn="l"/>
            <a:r>
              <a:rPr sz="1500" b="1" i="0">
                <a:solidFill>
                  <a:srgbClr val="142340"/>
                </a:solidFill>
                <a:latin typeface="Calibri"/>
              </a:rPr>
              <a:t>Distinct values of the age column</a:t>
            </a:r>
          </a:p>
        </p:txBody>
      </p:sp>
      <p:sp>
        <p:nvSpPr>
          <p:cNvPr id="5" name="Rounded Rectangle 4"/>
          <p:cNvSpPr/>
          <p:nvPr/>
        </p:nvSpPr>
        <p:spPr>
          <a:xfrm>
            <a:off x="548640" y="1920240"/>
            <a:ext cx="5852160" cy="9144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920240"/>
            <a:ext cx="5852160" cy="914400"/>
          </a:xfrm>
          <a:prstGeom prst="rect">
            <a:avLst/>
          </a:prstGeom>
          <a:noFill/>
        </p:spPr>
        <p:txBody>
          <a:bodyPr wrap="square" lIns="0" rIns="0" tIns="0" bIns="0" anchor="ctr">
            <a:spAutoFit/>
          </a:bodyPr>
          <a:lstStyle/>
          <a:p>
            <a:pPr algn="ctr"/>
            <a:r>
              <a:rPr sz="2000" b="1" i="0">
                <a:solidFill>
                  <a:srgbClr val="FFFFFF"/>
                </a:solidFill>
                <a:latin typeface="Calibri"/>
              </a:rPr>
              <a:t>real ages: 0 – 200 years</a:t>
            </a:r>
          </a:p>
        </p:txBody>
      </p:sp>
      <p:cxnSp>
        <p:nvCxnSpPr>
          <p:cNvPr id="7" name="Connector 6"/>
          <p:cNvCxnSpPr/>
          <p:nvPr/>
        </p:nvCxnSpPr>
        <p:spPr>
          <a:xfrm>
            <a:off x="6492240" y="2377440"/>
            <a:ext cx="2286000"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92240" y="1874519"/>
            <a:ext cx="2286000" cy="365760"/>
          </a:xfrm>
          <a:prstGeom prst="rect">
            <a:avLst/>
          </a:prstGeom>
          <a:noFill/>
        </p:spPr>
        <p:txBody>
          <a:bodyPr wrap="square" lIns="0" rIns="0" tIns="0" bIns="0" anchor="t">
            <a:spAutoFit/>
          </a:bodyPr>
          <a:lstStyle/>
          <a:p>
            <a:pPr algn="ctr"/>
            <a:r>
              <a:rPr sz="1300" b="0" i="1">
                <a:solidFill>
                  <a:srgbClr val="8A8984"/>
                </a:solidFill>
                <a:latin typeface="Calibri"/>
              </a:rPr>
              <a:t>no values in between</a:t>
            </a:r>
          </a:p>
        </p:txBody>
      </p:sp>
      <p:sp>
        <p:nvSpPr>
          <p:cNvPr id="9" name="Rounded Rectangle 8"/>
          <p:cNvSpPr/>
          <p:nvPr/>
        </p:nvSpPr>
        <p:spPr>
          <a:xfrm>
            <a:off x="8869680" y="1920240"/>
            <a:ext cx="2788920" cy="91440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0" y="1920240"/>
            <a:ext cx="2788920" cy="914400"/>
          </a:xfrm>
          <a:prstGeom prst="rect">
            <a:avLst/>
          </a:prstGeom>
          <a:noFill/>
        </p:spPr>
        <p:txBody>
          <a:bodyPr wrap="square" lIns="0" rIns="0" tIns="0" bIns="0" anchor="ctr">
            <a:spAutoFit/>
          </a:bodyPr>
          <a:lstStyle/>
          <a:p>
            <a:pPr algn="ctr"/>
            <a:r>
              <a:rPr sz="2800" b="1" i="0">
                <a:solidFill>
                  <a:srgbClr val="FFFFFF"/>
                </a:solidFill>
                <a:latin typeface="Cambria"/>
              </a:rPr>
              <a:t>995</a:t>
            </a:r>
          </a:p>
        </p:txBody>
      </p:sp>
      <p:sp>
        <p:nvSpPr>
          <p:cNvPr id="11" name="Rounded Rectangle 10"/>
          <p:cNvSpPr/>
          <p:nvPr/>
        </p:nvSpPr>
        <p:spPr>
          <a:xfrm>
            <a:off x="548640" y="3154680"/>
            <a:ext cx="3566160" cy="14630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246120"/>
            <a:ext cx="3200400" cy="594360"/>
          </a:xfrm>
          <a:prstGeom prst="rect">
            <a:avLst/>
          </a:prstGeom>
          <a:noFill/>
        </p:spPr>
        <p:txBody>
          <a:bodyPr wrap="square" lIns="0" rIns="0" tIns="0" bIns="0" anchor="t">
            <a:spAutoFit/>
          </a:bodyPr>
          <a:lstStyle/>
          <a:p>
            <a:pPr algn="l"/>
            <a:r>
              <a:rPr sz="2800" b="1" i="0">
                <a:solidFill>
                  <a:srgbClr val="EB6834"/>
                </a:solidFill>
                <a:latin typeface="Cambria"/>
              </a:rPr>
              <a:t>1,390</a:t>
            </a:r>
          </a:p>
        </p:txBody>
      </p:sp>
      <p:sp>
        <p:nvSpPr>
          <p:cNvPr id="13" name="TextBox 12"/>
          <p:cNvSpPr txBox="1"/>
          <p:nvPr/>
        </p:nvSpPr>
        <p:spPr>
          <a:xfrm>
            <a:off x="777240" y="3886200"/>
            <a:ext cx="3154680" cy="685800"/>
          </a:xfrm>
          <a:prstGeom prst="rect">
            <a:avLst/>
          </a:prstGeom>
          <a:noFill/>
        </p:spPr>
        <p:txBody>
          <a:bodyPr wrap="square" lIns="0" rIns="0" tIns="0" bIns="0" anchor="t">
            <a:spAutoFit/>
          </a:bodyPr>
          <a:lstStyle/>
          <a:p>
            <a:pPr algn="l"/>
            <a:r>
              <a:rPr sz="1350" b="0" i="0">
                <a:solidFill>
                  <a:srgbClr val="52514E"/>
                </a:solidFill>
                <a:latin typeface="Calibri"/>
              </a:rPr>
              <a:t>buildings have age 995 (0.53% of all)</a:t>
            </a:r>
          </a:p>
        </p:txBody>
      </p:sp>
      <p:sp>
        <p:nvSpPr>
          <p:cNvPr id="14" name="Rounded Rectangle 13"/>
          <p:cNvSpPr/>
          <p:nvPr/>
        </p:nvSpPr>
        <p:spPr>
          <a:xfrm>
            <a:off x="4315968" y="3154680"/>
            <a:ext cx="3566160" cy="14630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4568" y="3246120"/>
            <a:ext cx="3200400" cy="594360"/>
          </a:xfrm>
          <a:prstGeom prst="rect">
            <a:avLst/>
          </a:prstGeom>
          <a:noFill/>
        </p:spPr>
        <p:txBody>
          <a:bodyPr wrap="square" lIns="0" rIns="0" tIns="0" bIns="0" anchor="t">
            <a:spAutoFit/>
          </a:bodyPr>
          <a:lstStyle/>
          <a:p>
            <a:pPr algn="l"/>
            <a:r>
              <a:rPr sz="2800" b="1" i="0">
                <a:solidFill>
                  <a:srgbClr val="142340"/>
                </a:solidFill>
                <a:latin typeface="Cambria"/>
              </a:rPr>
              <a:t>200</a:t>
            </a:r>
          </a:p>
        </p:txBody>
      </p:sp>
      <p:sp>
        <p:nvSpPr>
          <p:cNvPr id="16" name="TextBox 15"/>
          <p:cNvSpPr txBox="1"/>
          <p:nvPr/>
        </p:nvSpPr>
        <p:spPr>
          <a:xfrm>
            <a:off x="4544568" y="3886200"/>
            <a:ext cx="3154680" cy="685800"/>
          </a:xfrm>
          <a:prstGeom prst="rect">
            <a:avLst/>
          </a:prstGeom>
          <a:noFill/>
        </p:spPr>
        <p:txBody>
          <a:bodyPr wrap="square" lIns="0" rIns="0" tIns="0" bIns="0" anchor="t">
            <a:spAutoFit/>
          </a:bodyPr>
          <a:lstStyle/>
          <a:p>
            <a:pPr algn="l"/>
            <a:r>
              <a:rPr sz="1350" b="0" i="0">
                <a:solidFill>
                  <a:srgbClr val="52514E"/>
                </a:solidFill>
                <a:latin typeface="Calibri"/>
              </a:rPr>
              <a:t>years: the oldest real age, far below 995</a:t>
            </a:r>
          </a:p>
        </p:txBody>
      </p:sp>
      <p:sp>
        <p:nvSpPr>
          <p:cNvPr id="17" name="Rounded Rectangle 16"/>
          <p:cNvSpPr/>
          <p:nvPr/>
        </p:nvSpPr>
        <p:spPr>
          <a:xfrm>
            <a:off x="8083296" y="3154680"/>
            <a:ext cx="3566160" cy="14630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3246120"/>
            <a:ext cx="3200400" cy="594360"/>
          </a:xfrm>
          <a:prstGeom prst="rect">
            <a:avLst/>
          </a:prstGeom>
          <a:noFill/>
        </p:spPr>
        <p:txBody>
          <a:bodyPr wrap="square" lIns="0" rIns="0" tIns="0" bIns="0" anchor="t">
            <a:spAutoFit/>
          </a:bodyPr>
          <a:lstStyle/>
          <a:p>
            <a:pPr algn="l"/>
            <a:r>
              <a:rPr sz="2800" b="1" i="0">
                <a:solidFill>
                  <a:srgbClr val="142340"/>
                </a:solidFill>
                <a:latin typeface="Cambria"/>
              </a:rPr>
              <a:t>29% vs 33%</a:t>
            </a:r>
          </a:p>
        </p:txBody>
      </p:sp>
      <p:sp>
        <p:nvSpPr>
          <p:cNvPr id="19" name="TextBox 18"/>
          <p:cNvSpPr txBox="1"/>
          <p:nvPr/>
        </p:nvSpPr>
        <p:spPr>
          <a:xfrm>
            <a:off x="8311896" y="3886200"/>
            <a:ext cx="3154680" cy="685800"/>
          </a:xfrm>
          <a:prstGeom prst="rect">
            <a:avLst/>
          </a:prstGeom>
          <a:noFill/>
        </p:spPr>
        <p:txBody>
          <a:bodyPr wrap="square" lIns="0" rIns="0" tIns="0" bIns="0" anchor="t">
            <a:spAutoFit/>
          </a:bodyPr>
          <a:lstStyle/>
          <a:p>
            <a:pPr algn="l"/>
            <a:r>
              <a:rPr sz="1350" b="0" i="0">
                <a:solidFill>
                  <a:srgbClr val="52514E"/>
                </a:solidFill>
                <a:latin typeface="Calibri"/>
              </a:rPr>
              <a:t>grade-3 rate: placeholder buildings vs the rest, so the 995 carries information</a:t>
            </a:r>
          </a:p>
        </p:txBody>
      </p:sp>
      <p:sp>
        <p:nvSpPr>
          <p:cNvPr id="20" name="Rounded Rectangle 19"/>
          <p:cNvSpPr/>
          <p:nvPr/>
        </p:nvSpPr>
        <p:spPr>
          <a:xfrm>
            <a:off x="548640" y="4846320"/>
            <a:ext cx="11109960" cy="137160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10698480" cy="320040"/>
          </a:xfrm>
          <a:prstGeom prst="rect">
            <a:avLst/>
          </a:prstGeom>
          <a:noFill/>
        </p:spPr>
        <p:txBody>
          <a:bodyPr wrap="square" lIns="0" rIns="0" tIns="0" bIns="0" anchor="t">
            <a:spAutoFit/>
          </a:bodyPr>
          <a:lstStyle/>
          <a:p>
            <a:pPr algn="l"/>
            <a:r>
              <a:rPr sz="1600" b="1" i="0">
                <a:solidFill>
                  <a:srgbClr val="FFFFFF"/>
                </a:solidFill>
                <a:latin typeface="Calibri"/>
              </a:rPr>
              <a:t>What we do (AgeCleaner, inside the pipeline)</a:t>
            </a:r>
          </a:p>
        </p:txBody>
      </p:sp>
      <p:sp>
        <p:nvSpPr>
          <p:cNvPr id="22" name="TextBox 21"/>
          <p:cNvSpPr txBox="1"/>
          <p:nvPr/>
        </p:nvSpPr>
        <p:spPr>
          <a:xfrm>
            <a:off x="777240" y="5349240"/>
            <a:ext cx="10698480" cy="822960"/>
          </a:xfrm>
          <a:prstGeom prst="rect">
            <a:avLst/>
          </a:prstGeom>
          <a:noFill/>
        </p:spPr>
        <p:txBody>
          <a:bodyPr wrap="square" lIns="0" rIns="0" tIns="0" bIns="0" anchor="t">
            <a:spAutoFit/>
          </a:bodyPr>
          <a:lstStyle/>
          <a:p>
            <a:pPr algn="l">
              <a:spcAft>
                <a:spcPts val="400"/>
              </a:spcAft>
            </a:pPr>
            <a:r>
              <a:rPr sz="1400" b="1" i="0">
                <a:solidFill>
                  <a:srgbClr val="EB6834"/>
                </a:solidFill>
                <a:latin typeface="Calibri"/>
              </a:rPr>
              <a:t>1. </a:t>
            </a:r>
            <a:r>
              <a:rPr sz="1400" b="0" i="0">
                <a:solidFill>
                  <a:srgbClr val="86B6EF"/>
                </a:solidFill>
                <a:latin typeface="Calibri"/>
              </a:rPr>
              <a:t>Add a yes/no column </a:t>
            </a:r>
            <a:r>
              <a:rPr sz="1400" b="1" i="0">
                <a:solidFill>
                  <a:srgbClr val="FFFFFF"/>
                </a:solidFill>
                <a:latin typeface="Calibri"/>
              </a:rPr>
              <a:t>age_is_placeholder</a:t>
            </a:r>
            <a:r>
              <a:rPr sz="1400" b="0" i="0">
                <a:solidFill>
                  <a:srgbClr val="86B6EF"/>
                </a:solidFill>
                <a:latin typeface="Calibri"/>
              </a:rPr>
              <a:t>, so the model can still use the fact that the age was unknown.</a:t>
            </a:r>
          </a:p>
          <a:p>
            <a:pPr algn="l">
              <a:spcAft>
                <a:spcPts val="400"/>
              </a:spcAft>
            </a:pPr>
            <a:r>
              <a:rPr sz="1400" b="1" i="0">
                <a:solidFill>
                  <a:srgbClr val="EB6834"/>
                </a:solidFill>
                <a:latin typeface="Calibri"/>
              </a:rPr>
              <a:t>2. </a:t>
            </a:r>
            <a:r>
              <a:rPr sz="1400" b="0" i="0">
                <a:solidFill>
                  <a:srgbClr val="86B6EF"/>
                </a:solidFill>
                <a:latin typeface="Calibri"/>
              </a:rPr>
              <a:t>Replace 995 with the </a:t>
            </a:r>
            <a:r>
              <a:rPr sz="1400" b="1" i="0">
                <a:solidFill>
                  <a:srgbClr val="FFFFFF"/>
                </a:solidFill>
                <a:latin typeface="Calibri"/>
              </a:rPr>
              <a:t>median age of the training data</a:t>
            </a:r>
            <a:r>
              <a:rPr sz="1400" b="0" i="0">
                <a:solidFill>
                  <a:srgbClr val="86B6EF"/>
                </a:solidFill>
                <a:latin typeface="Calibri"/>
              </a:rPr>
              <a:t>, so it no longer looks like a 995-year-old building.</a:t>
            </a:r>
          </a:p>
        </p:txBody>
      </p:sp>
      <p:sp>
        <p:nvSpPr>
          <p:cNvPr id="23" name="TextBox 22"/>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4" name="TextBox 23"/>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SCALING &amp; ENCODING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Making every feature readable for the models</a:t>
            </a:r>
          </a:p>
        </p:txBody>
      </p:sp>
      <p:sp>
        <p:nvSpPr>
          <p:cNvPr id="4" name="TextBox 3"/>
          <p:cNvSpPr txBox="1"/>
          <p:nvPr/>
        </p:nvSpPr>
        <p:spPr>
          <a:xfrm>
            <a:off x="548640" y="1463040"/>
            <a:ext cx="5486400" cy="365760"/>
          </a:xfrm>
          <a:prstGeom prst="rect">
            <a:avLst/>
          </a:prstGeom>
          <a:noFill/>
        </p:spPr>
        <p:txBody>
          <a:bodyPr wrap="square" lIns="0" rIns="0" tIns="0" bIns="0" anchor="t">
            <a:spAutoFit/>
          </a:bodyPr>
          <a:lstStyle/>
          <a:p>
            <a:pPr algn="l"/>
            <a:r>
              <a:rPr sz="1700" b="1" i="0">
                <a:solidFill>
                  <a:srgbClr val="142340"/>
                </a:solidFill>
                <a:latin typeface="Calibri"/>
              </a:rPr>
              <a:t>Scaling skewed numbers (logistic regression)</a:t>
            </a:r>
          </a:p>
        </p:txBody>
      </p:sp>
      <p:sp>
        <p:nvSpPr>
          <p:cNvPr id="5" name="TextBox 4"/>
          <p:cNvSpPr txBox="1"/>
          <p:nvPr/>
        </p:nvSpPr>
        <p:spPr>
          <a:xfrm>
            <a:off x="548640" y="1874519"/>
            <a:ext cx="5486400" cy="685800"/>
          </a:xfrm>
          <a:prstGeom prst="rect">
            <a:avLst/>
          </a:prstGeom>
          <a:noFill/>
        </p:spPr>
        <p:txBody>
          <a:bodyPr wrap="square" lIns="0" rIns="0" tIns="0" bIns="0" anchor="t">
            <a:spAutoFit/>
          </a:bodyPr>
          <a:lstStyle/>
          <a:p>
            <a:pPr algn="l">
              <a:spcAft>
                <a:spcPts val="500"/>
              </a:spcAft>
            </a:pPr>
            <a:r>
              <a:rPr sz="1350" b="1" i="0">
                <a:solidFill>
                  <a:srgbClr val="142340"/>
                </a:solidFill>
                <a:latin typeface="Calibri"/>
              </a:rPr>
              <a:t>log1p(x) = log(1 + x)</a:t>
            </a:r>
            <a:r>
              <a:rPr sz="1350" b="0" i="0">
                <a:solidFill>
                  <a:srgbClr val="52514E"/>
                </a:solidFill>
                <a:latin typeface="Calibri"/>
              </a:rPr>
              <a:t> squeezes the long tail of a few very old or very large buildings; the +1 handles age 0.</a:t>
            </a:r>
          </a:p>
          <a:p>
            <a:pPr algn="l">
              <a:spcAft>
                <a:spcPts val="500"/>
              </a:spcAft>
            </a:pPr>
            <a:r>
              <a:rPr sz="1350" b="1" i="0">
                <a:solidFill>
                  <a:srgbClr val="142340"/>
                </a:solidFill>
                <a:latin typeface="Calibri"/>
              </a:rPr>
              <a:t>Standardise</a:t>
            </a:r>
            <a:r>
              <a:rPr sz="1350" b="0" i="0">
                <a:solidFill>
                  <a:srgbClr val="52514E"/>
                </a:solidFill>
                <a:latin typeface="Calibri"/>
              </a:rPr>
              <a:t> to mean 0, spread 1, so no feature dominates just because of its units.</a:t>
            </a:r>
          </a:p>
        </p:txBody>
      </p:sp>
      <p:sp>
        <p:nvSpPr>
          <p:cNvPr id="6" name="Rectangle 5"/>
          <p:cNvSpPr/>
          <p:nvPr/>
        </p:nvSpPr>
        <p:spPr>
          <a:xfrm>
            <a:off x="548640" y="3108960"/>
            <a:ext cx="237744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108960"/>
            <a:ext cx="2194560" cy="457200"/>
          </a:xfrm>
          <a:prstGeom prst="rect">
            <a:avLst/>
          </a:prstGeom>
          <a:noFill/>
        </p:spPr>
        <p:txBody>
          <a:bodyPr wrap="square" lIns="0" rIns="0" tIns="0" bIns="0" anchor="ctr">
            <a:spAutoFit/>
          </a:bodyPr>
          <a:lstStyle/>
          <a:p>
            <a:pPr algn="l"/>
            <a:r>
              <a:rPr sz="1400" b="1" i="0">
                <a:solidFill>
                  <a:srgbClr val="FFFFFF"/>
                </a:solidFill>
                <a:latin typeface="Calibri"/>
              </a:rPr>
              <a:t>Skewness</a:t>
            </a:r>
          </a:p>
        </p:txBody>
      </p:sp>
      <p:sp>
        <p:nvSpPr>
          <p:cNvPr id="8" name="Rectangle 7"/>
          <p:cNvSpPr/>
          <p:nvPr/>
        </p:nvSpPr>
        <p:spPr>
          <a:xfrm>
            <a:off x="2926080" y="3108960"/>
            <a:ext cx="155448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3108960"/>
            <a:ext cx="1371600" cy="457200"/>
          </a:xfrm>
          <a:prstGeom prst="rect">
            <a:avLst/>
          </a:prstGeom>
          <a:noFill/>
        </p:spPr>
        <p:txBody>
          <a:bodyPr wrap="square" lIns="0" rIns="0" tIns="0" bIns="0" anchor="ctr">
            <a:spAutoFit/>
          </a:bodyPr>
          <a:lstStyle/>
          <a:p>
            <a:pPr algn="ctr"/>
            <a:r>
              <a:rPr sz="1400" b="1" i="0">
                <a:solidFill>
                  <a:srgbClr val="FFFFFF"/>
                </a:solidFill>
                <a:latin typeface="Calibri"/>
              </a:rPr>
              <a:t>before</a:t>
            </a:r>
          </a:p>
        </p:txBody>
      </p:sp>
      <p:sp>
        <p:nvSpPr>
          <p:cNvPr id="10" name="Rectangle 9"/>
          <p:cNvSpPr/>
          <p:nvPr/>
        </p:nvSpPr>
        <p:spPr>
          <a:xfrm>
            <a:off x="4480560" y="3108960"/>
            <a:ext cx="155448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3108960"/>
            <a:ext cx="1371600" cy="457200"/>
          </a:xfrm>
          <a:prstGeom prst="rect">
            <a:avLst/>
          </a:prstGeom>
          <a:noFill/>
        </p:spPr>
        <p:txBody>
          <a:bodyPr wrap="square" lIns="0" rIns="0" tIns="0" bIns="0" anchor="ctr">
            <a:spAutoFit/>
          </a:bodyPr>
          <a:lstStyle/>
          <a:p>
            <a:pPr algn="ctr"/>
            <a:r>
              <a:rPr sz="1400" b="1" i="0">
                <a:solidFill>
                  <a:srgbClr val="FFFFFF"/>
                </a:solidFill>
                <a:latin typeface="Calibri"/>
              </a:rPr>
              <a:t>after log1p</a:t>
            </a:r>
          </a:p>
        </p:txBody>
      </p:sp>
      <p:sp>
        <p:nvSpPr>
          <p:cNvPr id="12" name="Rectangle 11"/>
          <p:cNvSpPr/>
          <p:nvPr/>
        </p:nvSpPr>
        <p:spPr>
          <a:xfrm>
            <a:off x="548640" y="3566160"/>
            <a:ext cx="237744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66160"/>
            <a:ext cx="2194560" cy="457200"/>
          </a:xfrm>
          <a:prstGeom prst="rect">
            <a:avLst/>
          </a:prstGeom>
          <a:noFill/>
        </p:spPr>
        <p:txBody>
          <a:bodyPr wrap="square" lIns="0" rIns="0" tIns="0" bIns="0" anchor="ctr">
            <a:spAutoFit/>
          </a:bodyPr>
          <a:lstStyle/>
          <a:p>
            <a:pPr algn="l"/>
            <a:r>
              <a:rPr sz="1400" b="1" i="0">
                <a:solidFill>
                  <a:srgbClr val="0B0B0B"/>
                </a:solidFill>
                <a:latin typeface="Calibri"/>
              </a:rPr>
              <a:t>age</a:t>
            </a:r>
          </a:p>
        </p:txBody>
      </p:sp>
      <p:sp>
        <p:nvSpPr>
          <p:cNvPr id="14" name="Rectangle 13"/>
          <p:cNvSpPr/>
          <p:nvPr/>
        </p:nvSpPr>
        <p:spPr>
          <a:xfrm>
            <a:off x="2926080" y="3566160"/>
            <a:ext cx="15544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17520" y="3566160"/>
            <a:ext cx="1371600" cy="457200"/>
          </a:xfrm>
          <a:prstGeom prst="rect">
            <a:avLst/>
          </a:prstGeom>
          <a:noFill/>
        </p:spPr>
        <p:txBody>
          <a:bodyPr wrap="square" lIns="0" rIns="0" tIns="0" bIns="0" anchor="ctr">
            <a:spAutoFit/>
          </a:bodyPr>
          <a:lstStyle/>
          <a:p>
            <a:pPr algn="ctr"/>
            <a:r>
              <a:rPr sz="1400" b="0" i="0">
                <a:solidFill>
                  <a:srgbClr val="0B0B0B"/>
                </a:solidFill>
                <a:latin typeface="Calibri"/>
              </a:rPr>
              <a:t>2.0</a:t>
            </a:r>
          </a:p>
        </p:txBody>
      </p:sp>
      <p:sp>
        <p:nvSpPr>
          <p:cNvPr id="16" name="Rectangle 15"/>
          <p:cNvSpPr/>
          <p:nvPr/>
        </p:nvSpPr>
        <p:spPr>
          <a:xfrm>
            <a:off x="4480560" y="3566160"/>
            <a:ext cx="15544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3566160"/>
            <a:ext cx="1371600" cy="457200"/>
          </a:xfrm>
          <a:prstGeom prst="rect">
            <a:avLst/>
          </a:prstGeom>
          <a:noFill/>
        </p:spPr>
        <p:txBody>
          <a:bodyPr wrap="square" lIns="0" rIns="0" tIns="0" bIns="0" anchor="ctr">
            <a:spAutoFit/>
          </a:bodyPr>
          <a:lstStyle/>
          <a:p>
            <a:pPr algn="ctr"/>
            <a:r>
              <a:rPr sz="1400" b="0" i="0">
                <a:solidFill>
                  <a:srgbClr val="0B0B0B"/>
                </a:solidFill>
                <a:latin typeface="Calibri"/>
              </a:rPr>
              <a:t>-1.0</a:t>
            </a:r>
          </a:p>
        </p:txBody>
      </p:sp>
      <p:sp>
        <p:nvSpPr>
          <p:cNvPr id="18" name="Rectangle 17"/>
          <p:cNvSpPr/>
          <p:nvPr/>
        </p:nvSpPr>
        <p:spPr>
          <a:xfrm>
            <a:off x="548640" y="4023360"/>
            <a:ext cx="237744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023360"/>
            <a:ext cx="2194560" cy="457200"/>
          </a:xfrm>
          <a:prstGeom prst="rect">
            <a:avLst/>
          </a:prstGeom>
          <a:noFill/>
        </p:spPr>
        <p:txBody>
          <a:bodyPr wrap="square" lIns="0" rIns="0" tIns="0" bIns="0" anchor="ctr">
            <a:spAutoFit/>
          </a:bodyPr>
          <a:lstStyle/>
          <a:p>
            <a:pPr algn="l"/>
            <a:r>
              <a:rPr sz="1400" b="1" i="0">
                <a:solidFill>
                  <a:srgbClr val="0B0B0B"/>
                </a:solidFill>
                <a:latin typeface="Calibri"/>
              </a:rPr>
              <a:t>footprint area</a:t>
            </a:r>
          </a:p>
        </p:txBody>
      </p:sp>
      <p:sp>
        <p:nvSpPr>
          <p:cNvPr id="20" name="Rectangle 19"/>
          <p:cNvSpPr/>
          <p:nvPr/>
        </p:nvSpPr>
        <p:spPr>
          <a:xfrm>
            <a:off x="2926080" y="4023360"/>
            <a:ext cx="155448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17520" y="4023360"/>
            <a:ext cx="1371600" cy="457200"/>
          </a:xfrm>
          <a:prstGeom prst="rect">
            <a:avLst/>
          </a:prstGeom>
          <a:noFill/>
        </p:spPr>
        <p:txBody>
          <a:bodyPr wrap="square" lIns="0" rIns="0" tIns="0" bIns="0" anchor="ctr">
            <a:spAutoFit/>
          </a:bodyPr>
          <a:lstStyle/>
          <a:p>
            <a:pPr algn="ctr"/>
            <a:r>
              <a:rPr sz="1400" b="0" i="0">
                <a:solidFill>
                  <a:srgbClr val="0B0B0B"/>
                </a:solidFill>
                <a:latin typeface="Calibri"/>
              </a:rPr>
              <a:t>3.5</a:t>
            </a:r>
          </a:p>
        </p:txBody>
      </p:sp>
      <p:sp>
        <p:nvSpPr>
          <p:cNvPr id="22" name="Rectangle 21"/>
          <p:cNvSpPr/>
          <p:nvPr/>
        </p:nvSpPr>
        <p:spPr>
          <a:xfrm>
            <a:off x="4480560" y="4023360"/>
            <a:ext cx="155448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4023360"/>
            <a:ext cx="1371600" cy="457200"/>
          </a:xfrm>
          <a:prstGeom prst="rect">
            <a:avLst/>
          </a:prstGeom>
          <a:noFill/>
        </p:spPr>
        <p:txBody>
          <a:bodyPr wrap="square" lIns="0" rIns="0" tIns="0" bIns="0" anchor="ctr">
            <a:spAutoFit/>
          </a:bodyPr>
          <a:lstStyle/>
          <a:p>
            <a:pPr algn="ctr"/>
            <a:r>
              <a:rPr sz="1400" b="0" i="0">
                <a:solidFill>
                  <a:srgbClr val="0B0B0B"/>
                </a:solidFill>
                <a:latin typeface="Calibri"/>
              </a:rPr>
              <a:t>0.4</a:t>
            </a:r>
          </a:p>
        </p:txBody>
      </p:sp>
      <p:sp>
        <p:nvSpPr>
          <p:cNvPr id="24" name="Rectangle 23"/>
          <p:cNvSpPr/>
          <p:nvPr/>
        </p:nvSpPr>
        <p:spPr>
          <a:xfrm>
            <a:off x="548640" y="4480560"/>
            <a:ext cx="237744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480560"/>
            <a:ext cx="2194560" cy="457200"/>
          </a:xfrm>
          <a:prstGeom prst="rect">
            <a:avLst/>
          </a:prstGeom>
          <a:noFill/>
        </p:spPr>
        <p:txBody>
          <a:bodyPr wrap="square" lIns="0" rIns="0" tIns="0" bIns="0" anchor="ctr">
            <a:spAutoFit/>
          </a:bodyPr>
          <a:lstStyle/>
          <a:p>
            <a:pPr algn="l"/>
            <a:r>
              <a:rPr sz="1400" b="1" i="0">
                <a:solidFill>
                  <a:srgbClr val="0B0B0B"/>
                </a:solidFill>
                <a:latin typeface="Calibri"/>
              </a:rPr>
              <a:t>height</a:t>
            </a:r>
          </a:p>
        </p:txBody>
      </p:sp>
      <p:sp>
        <p:nvSpPr>
          <p:cNvPr id="26" name="Rectangle 25"/>
          <p:cNvSpPr/>
          <p:nvPr/>
        </p:nvSpPr>
        <p:spPr>
          <a:xfrm>
            <a:off x="2926080" y="4480560"/>
            <a:ext cx="15544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17520" y="4480560"/>
            <a:ext cx="1371600" cy="457200"/>
          </a:xfrm>
          <a:prstGeom prst="rect">
            <a:avLst/>
          </a:prstGeom>
          <a:noFill/>
        </p:spPr>
        <p:txBody>
          <a:bodyPr wrap="square" lIns="0" rIns="0" tIns="0" bIns="0" anchor="ctr">
            <a:spAutoFit/>
          </a:bodyPr>
          <a:lstStyle/>
          <a:p>
            <a:pPr algn="ctr"/>
            <a:r>
              <a:rPr sz="1400" b="0" i="0">
                <a:solidFill>
                  <a:srgbClr val="0B0B0B"/>
                </a:solidFill>
                <a:latin typeface="Calibri"/>
              </a:rPr>
              <a:t>1.7</a:t>
            </a:r>
          </a:p>
        </p:txBody>
      </p:sp>
      <p:sp>
        <p:nvSpPr>
          <p:cNvPr id="28" name="Rectangle 27"/>
          <p:cNvSpPr/>
          <p:nvPr/>
        </p:nvSpPr>
        <p:spPr>
          <a:xfrm>
            <a:off x="4480560" y="4480560"/>
            <a:ext cx="15544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4480560"/>
            <a:ext cx="1371600" cy="457200"/>
          </a:xfrm>
          <a:prstGeom prst="rect">
            <a:avLst/>
          </a:prstGeom>
          <a:noFill/>
        </p:spPr>
        <p:txBody>
          <a:bodyPr wrap="square" lIns="0" rIns="0" tIns="0" bIns="0" anchor="ctr">
            <a:spAutoFit/>
          </a:bodyPr>
          <a:lstStyle/>
          <a:p>
            <a:pPr algn="ctr"/>
            <a:r>
              <a:rPr sz="1400" b="0" i="0">
                <a:solidFill>
                  <a:srgbClr val="0B0B0B"/>
                </a:solidFill>
                <a:latin typeface="Calibri"/>
              </a:rPr>
              <a:t>-0.2</a:t>
            </a:r>
          </a:p>
        </p:txBody>
      </p:sp>
      <p:sp>
        <p:nvSpPr>
          <p:cNvPr id="30" name="TextBox 29"/>
          <p:cNvSpPr txBox="1"/>
          <p:nvPr/>
        </p:nvSpPr>
        <p:spPr>
          <a:xfrm>
            <a:off x="548640" y="5029200"/>
            <a:ext cx="5486400" cy="822960"/>
          </a:xfrm>
          <a:prstGeom prst="rect">
            <a:avLst/>
          </a:prstGeom>
          <a:noFill/>
        </p:spPr>
        <p:txBody>
          <a:bodyPr wrap="square" lIns="0" rIns="0" tIns="0" bIns="0" anchor="t">
            <a:spAutoFit/>
          </a:bodyPr>
          <a:lstStyle/>
          <a:p>
            <a:pPr algn="l"/>
            <a:r>
              <a:rPr sz="1250" b="0" i="0">
                <a:solidFill>
                  <a:srgbClr val="8A8984"/>
                </a:solidFill>
                <a:latin typeface="Calibri"/>
              </a:rPr>
              <a:t>0 = symmetric. Trees split on thresholds, so they skip this step: scaling does not change their splits.</a:t>
            </a:r>
          </a:p>
        </p:txBody>
      </p:sp>
      <p:sp>
        <p:nvSpPr>
          <p:cNvPr id="31" name="TextBox 30"/>
          <p:cNvSpPr txBox="1"/>
          <p:nvPr/>
        </p:nvSpPr>
        <p:spPr>
          <a:xfrm>
            <a:off x="6400800" y="1463040"/>
            <a:ext cx="5303520" cy="365760"/>
          </a:xfrm>
          <a:prstGeom prst="rect">
            <a:avLst/>
          </a:prstGeom>
          <a:noFill/>
        </p:spPr>
        <p:txBody>
          <a:bodyPr wrap="square" lIns="0" rIns="0" tIns="0" bIns="0" anchor="t">
            <a:spAutoFit/>
          </a:bodyPr>
          <a:lstStyle/>
          <a:p>
            <a:pPr algn="l"/>
            <a:r>
              <a:rPr sz="1700" b="1" i="0">
                <a:solidFill>
                  <a:srgbClr val="142340"/>
                </a:solidFill>
                <a:latin typeface="Calibri"/>
              </a:rPr>
              <a:t>Encoding letter categories</a:t>
            </a:r>
          </a:p>
        </p:txBody>
      </p:sp>
      <p:sp>
        <p:nvSpPr>
          <p:cNvPr id="32" name="TextBox 31"/>
          <p:cNvSpPr txBox="1"/>
          <p:nvPr/>
        </p:nvSpPr>
        <p:spPr>
          <a:xfrm>
            <a:off x="6400800" y="1874519"/>
            <a:ext cx="5257800" cy="685800"/>
          </a:xfrm>
          <a:prstGeom prst="rect">
            <a:avLst/>
          </a:prstGeom>
          <a:noFill/>
        </p:spPr>
        <p:txBody>
          <a:bodyPr wrap="square" lIns="0" rIns="0" tIns="0" bIns="0" anchor="t">
            <a:spAutoFit/>
          </a:bodyPr>
          <a:lstStyle/>
          <a:p>
            <a:pPr algn="l"/>
            <a:r>
              <a:rPr sz="1350" b="0" i="0">
                <a:solidFill>
                  <a:srgbClr val="52514E"/>
                </a:solidFill>
                <a:latin typeface="Calibri"/>
              </a:rPr>
              <a:t>8 columns such as foundation_type hold anonymised letters. Models need numbers, so each letter is converted:</a:t>
            </a:r>
          </a:p>
        </p:txBody>
      </p:sp>
      <p:sp>
        <p:nvSpPr>
          <p:cNvPr id="33" name="Rectangle 32"/>
          <p:cNvSpPr/>
          <p:nvPr/>
        </p:nvSpPr>
        <p:spPr>
          <a:xfrm>
            <a:off x="6400800" y="2743200"/>
            <a:ext cx="141732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2743200"/>
            <a:ext cx="1234440" cy="457200"/>
          </a:xfrm>
          <a:prstGeom prst="rect">
            <a:avLst/>
          </a:prstGeom>
          <a:noFill/>
        </p:spPr>
        <p:txBody>
          <a:bodyPr wrap="square" lIns="0" rIns="0" tIns="0" bIns="0" anchor="ctr">
            <a:spAutoFit/>
          </a:bodyPr>
          <a:lstStyle/>
          <a:p>
            <a:pPr algn="l"/>
            <a:r>
              <a:rPr sz="1400" b="1" i="0">
                <a:solidFill>
                  <a:srgbClr val="FFFFFF"/>
                </a:solidFill>
                <a:latin typeface="Calibri"/>
              </a:rPr>
              <a:t>foundation</a:t>
            </a:r>
          </a:p>
        </p:txBody>
      </p:sp>
      <p:sp>
        <p:nvSpPr>
          <p:cNvPr id="35" name="Rectangle 34"/>
          <p:cNvSpPr/>
          <p:nvPr/>
        </p:nvSpPr>
        <p:spPr>
          <a:xfrm>
            <a:off x="7818120" y="2743200"/>
            <a:ext cx="86868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09560" y="2743200"/>
            <a:ext cx="685800" cy="457200"/>
          </a:xfrm>
          <a:prstGeom prst="rect">
            <a:avLst/>
          </a:prstGeom>
          <a:noFill/>
        </p:spPr>
        <p:txBody>
          <a:bodyPr wrap="square" lIns="0" rIns="0" tIns="0" bIns="0" anchor="ctr">
            <a:spAutoFit/>
          </a:bodyPr>
          <a:lstStyle/>
          <a:p>
            <a:pPr algn="ctr"/>
            <a:r>
              <a:rPr sz="1400" b="1" i="0">
                <a:solidFill>
                  <a:srgbClr val="FFFFFF"/>
                </a:solidFill>
                <a:latin typeface="Calibri"/>
              </a:rPr>
              <a:t>is_r</a:t>
            </a:r>
          </a:p>
        </p:txBody>
      </p:sp>
      <p:sp>
        <p:nvSpPr>
          <p:cNvPr id="37" name="Rectangle 36"/>
          <p:cNvSpPr/>
          <p:nvPr/>
        </p:nvSpPr>
        <p:spPr>
          <a:xfrm>
            <a:off x="8686800" y="2743200"/>
            <a:ext cx="86868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78240" y="2743200"/>
            <a:ext cx="685800" cy="457200"/>
          </a:xfrm>
          <a:prstGeom prst="rect">
            <a:avLst/>
          </a:prstGeom>
          <a:noFill/>
        </p:spPr>
        <p:txBody>
          <a:bodyPr wrap="square" lIns="0" rIns="0" tIns="0" bIns="0" anchor="ctr">
            <a:spAutoFit/>
          </a:bodyPr>
          <a:lstStyle/>
          <a:p>
            <a:pPr algn="ctr"/>
            <a:r>
              <a:rPr sz="1400" b="1" i="0">
                <a:solidFill>
                  <a:srgbClr val="FFFFFF"/>
                </a:solidFill>
                <a:latin typeface="Calibri"/>
              </a:rPr>
              <a:t>is_i</a:t>
            </a:r>
          </a:p>
        </p:txBody>
      </p:sp>
      <p:sp>
        <p:nvSpPr>
          <p:cNvPr id="39" name="Rectangle 38"/>
          <p:cNvSpPr/>
          <p:nvPr/>
        </p:nvSpPr>
        <p:spPr>
          <a:xfrm>
            <a:off x="9555480" y="2743200"/>
            <a:ext cx="86868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46919" y="2743200"/>
            <a:ext cx="685800" cy="457200"/>
          </a:xfrm>
          <a:prstGeom prst="rect">
            <a:avLst/>
          </a:prstGeom>
          <a:noFill/>
        </p:spPr>
        <p:txBody>
          <a:bodyPr wrap="square" lIns="0" rIns="0" tIns="0" bIns="0" anchor="ctr">
            <a:spAutoFit/>
          </a:bodyPr>
          <a:lstStyle/>
          <a:p>
            <a:pPr algn="ctr"/>
            <a:r>
              <a:rPr sz="1400" b="1" i="0">
                <a:solidFill>
                  <a:srgbClr val="FFFFFF"/>
                </a:solidFill>
                <a:latin typeface="Calibri"/>
              </a:rPr>
              <a:t>is_u</a:t>
            </a:r>
          </a:p>
        </p:txBody>
      </p:sp>
      <p:sp>
        <p:nvSpPr>
          <p:cNvPr id="41" name="Rectangle 40"/>
          <p:cNvSpPr/>
          <p:nvPr/>
        </p:nvSpPr>
        <p:spPr>
          <a:xfrm>
            <a:off x="10424159" y="2743200"/>
            <a:ext cx="1234440" cy="45720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599" y="2743200"/>
            <a:ext cx="1051560" cy="457200"/>
          </a:xfrm>
          <a:prstGeom prst="rect">
            <a:avLst/>
          </a:prstGeom>
          <a:noFill/>
        </p:spPr>
        <p:txBody>
          <a:bodyPr wrap="square" lIns="0" rIns="0" tIns="0" bIns="0" anchor="ctr">
            <a:spAutoFit/>
          </a:bodyPr>
          <a:lstStyle/>
          <a:p>
            <a:pPr algn="ctr"/>
            <a:r>
              <a:rPr sz="1400" b="1" i="0">
                <a:solidFill>
                  <a:srgbClr val="FFFFFF"/>
                </a:solidFill>
                <a:latin typeface="Calibri"/>
              </a:rPr>
              <a:t>tree code</a:t>
            </a:r>
          </a:p>
        </p:txBody>
      </p:sp>
      <p:sp>
        <p:nvSpPr>
          <p:cNvPr id="43" name="Rectangle 42"/>
          <p:cNvSpPr/>
          <p:nvPr/>
        </p:nvSpPr>
        <p:spPr>
          <a:xfrm>
            <a:off x="6400800" y="3200400"/>
            <a:ext cx="141732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3200400"/>
            <a:ext cx="1234440" cy="457200"/>
          </a:xfrm>
          <a:prstGeom prst="rect">
            <a:avLst/>
          </a:prstGeom>
          <a:noFill/>
        </p:spPr>
        <p:txBody>
          <a:bodyPr wrap="square" lIns="0" rIns="0" tIns="0" bIns="0" anchor="ctr">
            <a:spAutoFit/>
          </a:bodyPr>
          <a:lstStyle/>
          <a:p>
            <a:pPr algn="l"/>
            <a:r>
              <a:rPr sz="1400" b="1" i="0">
                <a:solidFill>
                  <a:srgbClr val="0B0B0B"/>
                </a:solidFill>
                <a:latin typeface="Calibri"/>
              </a:rPr>
              <a:t>r</a:t>
            </a:r>
          </a:p>
        </p:txBody>
      </p:sp>
      <p:sp>
        <p:nvSpPr>
          <p:cNvPr id="45" name="Rectangle 44"/>
          <p:cNvSpPr/>
          <p:nvPr/>
        </p:nvSpPr>
        <p:spPr>
          <a:xfrm>
            <a:off x="7818120" y="3200400"/>
            <a:ext cx="8686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32004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1</a:t>
            </a:r>
          </a:p>
        </p:txBody>
      </p:sp>
      <p:sp>
        <p:nvSpPr>
          <p:cNvPr id="47" name="Rectangle 46"/>
          <p:cNvSpPr/>
          <p:nvPr/>
        </p:nvSpPr>
        <p:spPr>
          <a:xfrm>
            <a:off x="8686800" y="3200400"/>
            <a:ext cx="8686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32004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49" name="Rectangle 48"/>
          <p:cNvSpPr/>
          <p:nvPr/>
        </p:nvSpPr>
        <p:spPr>
          <a:xfrm>
            <a:off x="9555480" y="3200400"/>
            <a:ext cx="8686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46919" y="32004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51" name="Rectangle 50"/>
          <p:cNvSpPr/>
          <p:nvPr/>
        </p:nvSpPr>
        <p:spPr>
          <a:xfrm>
            <a:off x="10424159" y="3200400"/>
            <a:ext cx="123444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15599" y="3200400"/>
            <a:ext cx="105156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53" name="Rectangle 52"/>
          <p:cNvSpPr/>
          <p:nvPr/>
        </p:nvSpPr>
        <p:spPr>
          <a:xfrm>
            <a:off x="6400800" y="3657600"/>
            <a:ext cx="141732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92240" y="3657600"/>
            <a:ext cx="1234440" cy="457200"/>
          </a:xfrm>
          <a:prstGeom prst="rect">
            <a:avLst/>
          </a:prstGeom>
          <a:noFill/>
        </p:spPr>
        <p:txBody>
          <a:bodyPr wrap="square" lIns="0" rIns="0" tIns="0" bIns="0" anchor="ctr">
            <a:spAutoFit/>
          </a:bodyPr>
          <a:lstStyle/>
          <a:p>
            <a:pPr algn="l"/>
            <a:r>
              <a:rPr sz="1400" b="1" i="0">
                <a:solidFill>
                  <a:srgbClr val="0B0B0B"/>
                </a:solidFill>
                <a:latin typeface="Calibri"/>
              </a:rPr>
              <a:t>i</a:t>
            </a:r>
          </a:p>
        </p:txBody>
      </p:sp>
      <p:sp>
        <p:nvSpPr>
          <p:cNvPr id="55" name="Rectangle 54"/>
          <p:cNvSpPr/>
          <p:nvPr/>
        </p:nvSpPr>
        <p:spPr>
          <a:xfrm>
            <a:off x="7818120" y="3657600"/>
            <a:ext cx="86868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09560" y="36576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57" name="Rectangle 56"/>
          <p:cNvSpPr/>
          <p:nvPr/>
        </p:nvSpPr>
        <p:spPr>
          <a:xfrm>
            <a:off x="8686800" y="3657600"/>
            <a:ext cx="86868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78240" y="36576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1</a:t>
            </a:r>
          </a:p>
        </p:txBody>
      </p:sp>
      <p:sp>
        <p:nvSpPr>
          <p:cNvPr id="59" name="Rectangle 58"/>
          <p:cNvSpPr/>
          <p:nvPr/>
        </p:nvSpPr>
        <p:spPr>
          <a:xfrm>
            <a:off x="9555480" y="3657600"/>
            <a:ext cx="86868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646919" y="36576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61" name="Rectangle 60"/>
          <p:cNvSpPr/>
          <p:nvPr/>
        </p:nvSpPr>
        <p:spPr>
          <a:xfrm>
            <a:off x="10424159" y="3657600"/>
            <a:ext cx="1234440" cy="45720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15599" y="3657600"/>
            <a:ext cx="1051560" cy="457200"/>
          </a:xfrm>
          <a:prstGeom prst="rect">
            <a:avLst/>
          </a:prstGeom>
          <a:noFill/>
        </p:spPr>
        <p:txBody>
          <a:bodyPr wrap="square" lIns="0" rIns="0" tIns="0" bIns="0" anchor="ctr">
            <a:spAutoFit/>
          </a:bodyPr>
          <a:lstStyle/>
          <a:p>
            <a:pPr algn="ctr"/>
            <a:r>
              <a:rPr sz="1400" b="0" i="0">
                <a:solidFill>
                  <a:srgbClr val="0B0B0B"/>
                </a:solidFill>
                <a:latin typeface="Calibri"/>
              </a:rPr>
              <a:t>1</a:t>
            </a:r>
          </a:p>
        </p:txBody>
      </p:sp>
      <p:sp>
        <p:nvSpPr>
          <p:cNvPr id="63" name="Rectangle 62"/>
          <p:cNvSpPr/>
          <p:nvPr/>
        </p:nvSpPr>
        <p:spPr>
          <a:xfrm>
            <a:off x="6400800" y="4114800"/>
            <a:ext cx="141732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92240" y="4114800"/>
            <a:ext cx="1234440" cy="457200"/>
          </a:xfrm>
          <a:prstGeom prst="rect">
            <a:avLst/>
          </a:prstGeom>
          <a:noFill/>
        </p:spPr>
        <p:txBody>
          <a:bodyPr wrap="square" lIns="0" rIns="0" tIns="0" bIns="0" anchor="ctr">
            <a:spAutoFit/>
          </a:bodyPr>
          <a:lstStyle/>
          <a:p>
            <a:pPr algn="l"/>
            <a:r>
              <a:rPr sz="1400" b="1" i="0">
                <a:solidFill>
                  <a:srgbClr val="0B0B0B"/>
                </a:solidFill>
                <a:latin typeface="Calibri"/>
              </a:rPr>
              <a:t>u</a:t>
            </a:r>
          </a:p>
        </p:txBody>
      </p:sp>
      <p:sp>
        <p:nvSpPr>
          <p:cNvPr id="65" name="Rectangle 64"/>
          <p:cNvSpPr/>
          <p:nvPr/>
        </p:nvSpPr>
        <p:spPr>
          <a:xfrm>
            <a:off x="7818120" y="4114800"/>
            <a:ext cx="8686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09560" y="41148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67" name="Rectangle 66"/>
          <p:cNvSpPr/>
          <p:nvPr/>
        </p:nvSpPr>
        <p:spPr>
          <a:xfrm>
            <a:off x="8686800" y="4114800"/>
            <a:ext cx="8686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78240" y="41148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0</a:t>
            </a:r>
          </a:p>
        </p:txBody>
      </p:sp>
      <p:sp>
        <p:nvSpPr>
          <p:cNvPr id="69" name="Rectangle 68"/>
          <p:cNvSpPr/>
          <p:nvPr/>
        </p:nvSpPr>
        <p:spPr>
          <a:xfrm>
            <a:off x="9555480" y="4114800"/>
            <a:ext cx="86868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46919" y="4114800"/>
            <a:ext cx="685800" cy="457200"/>
          </a:xfrm>
          <a:prstGeom prst="rect">
            <a:avLst/>
          </a:prstGeom>
          <a:noFill/>
        </p:spPr>
        <p:txBody>
          <a:bodyPr wrap="square" lIns="0" rIns="0" tIns="0" bIns="0" anchor="ctr">
            <a:spAutoFit/>
          </a:bodyPr>
          <a:lstStyle/>
          <a:p>
            <a:pPr algn="ctr"/>
            <a:r>
              <a:rPr sz="1400" b="0" i="0">
                <a:solidFill>
                  <a:srgbClr val="0B0B0B"/>
                </a:solidFill>
                <a:latin typeface="Calibri"/>
              </a:rPr>
              <a:t>1</a:t>
            </a:r>
          </a:p>
        </p:txBody>
      </p:sp>
      <p:sp>
        <p:nvSpPr>
          <p:cNvPr id="71" name="Rectangle 70"/>
          <p:cNvSpPr/>
          <p:nvPr/>
        </p:nvSpPr>
        <p:spPr>
          <a:xfrm>
            <a:off x="10424159" y="4114800"/>
            <a:ext cx="1234440" cy="45720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15599" y="4114800"/>
            <a:ext cx="1051560" cy="457200"/>
          </a:xfrm>
          <a:prstGeom prst="rect">
            <a:avLst/>
          </a:prstGeom>
          <a:noFill/>
        </p:spPr>
        <p:txBody>
          <a:bodyPr wrap="square" lIns="0" rIns="0" tIns="0" bIns="0" anchor="ctr">
            <a:spAutoFit/>
          </a:bodyPr>
          <a:lstStyle/>
          <a:p>
            <a:pPr algn="ctr"/>
            <a:r>
              <a:rPr sz="1400" b="0" i="0">
                <a:solidFill>
                  <a:srgbClr val="0B0B0B"/>
                </a:solidFill>
                <a:latin typeface="Calibri"/>
              </a:rPr>
              <a:t>2</a:t>
            </a:r>
          </a:p>
        </p:txBody>
      </p:sp>
      <p:sp>
        <p:nvSpPr>
          <p:cNvPr id="73" name="TextBox 72"/>
          <p:cNvSpPr txBox="1"/>
          <p:nvPr/>
        </p:nvSpPr>
        <p:spPr>
          <a:xfrm>
            <a:off x="6400800" y="4663440"/>
            <a:ext cx="5257800" cy="1188720"/>
          </a:xfrm>
          <a:prstGeom prst="rect">
            <a:avLst/>
          </a:prstGeom>
          <a:noFill/>
        </p:spPr>
        <p:txBody>
          <a:bodyPr wrap="square" lIns="0" rIns="0" tIns="0" bIns="0" anchor="t">
            <a:spAutoFit/>
          </a:bodyPr>
          <a:lstStyle/>
          <a:p>
            <a:pPr algn="l">
              <a:spcAft>
                <a:spcPts val="500"/>
              </a:spcAft>
            </a:pPr>
            <a:r>
              <a:rPr sz="1300" b="1" i="0">
                <a:solidFill>
                  <a:srgbClr val="142340"/>
                </a:solidFill>
                <a:latin typeface="Calibri"/>
              </a:rPr>
              <a:t>One-hot (LR): </a:t>
            </a:r>
            <a:r>
              <a:rPr sz="1300" b="0" i="0">
                <a:solidFill>
                  <a:srgbClr val="52514E"/>
                </a:solidFill>
                <a:latin typeface="Calibri"/>
              </a:rPr>
              <a:t>one 0/1 column per letter, so no letter is 'bigger' than another.</a:t>
            </a:r>
          </a:p>
          <a:p>
            <a:pPr algn="l">
              <a:spcAft>
                <a:spcPts val="500"/>
              </a:spcAft>
            </a:pPr>
            <a:r>
              <a:rPr sz="1300" b="1" i="0">
                <a:solidFill>
                  <a:srgbClr val="142340"/>
                </a:solidFill>
                <a:latin typeface="Calibri"/>
              </a:rPr>
              <a:t>Integer codes (trees): </a:t>
            </a:r>
            <a:r>
              <a:rPr sz="1300" b="0" i="0">
                <a:solidFill>
                  <a:srgbClr val="52514E"/>
                </a:solidFill>
                <a:latin typeface="Calibri"/>
              </a:rPr>
              <a:t>one column; trees split it into groups. The 31 regions are encoded the same way.</a:t>
            </a:r>
          </a:p>
        </p:txBody>
      </p:sp>
      <p:sp>
        <p:nvSpPr>
          <p:cNvPr id="74" name="TextBox 73"/>
          <p:cNvSpPr txBox="1"/>
          <p:nvPr/>
        </p:nvSpPr>
        <p:spPr>
          <a:xfrm>
            <a:off x="6400800" y="5989320"/>
            <a:ext cx="5257800" cy="274320"/>
          </a:xfrm>
          <a:prstGeom prst="rect">
            <a:avLst/>
          </a:prstGeom>
          <a:noFill/>
        </p:spPr>
        <p:txBody>
          <a:bodyPr wrap="square" lIns="0" rIns="0" tIns="0" bIns="0" anchor="t">
            <a:spAutoFit/>
          </a:bodyPr>
          <a:lstStyle/>
          <a:p>
            <a:pPr algn="l"/>
            <a:r>
              <a:rPr sz="1100" b="0" i="0">
                <a:solidFill>
                  <a:srgbClr val="8A8984"/>
                </a:solidFill>
                <a:latin typeface="Calibri"/>
              </a:rPr>
              <a:t>Illustrative rows; three of the five foundation letters shown.</a:t>
            </a:r>
          </a:p>
        </p:txBody>
      </p:sp>
      <p:sp>
        <p:nvSpPr>
          <p:cNvPr id="75" name="TextBox 7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76" name="TextBox 7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FEATURE ENGINEERING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Four new features tested, one kept</a:t>
            </a:r>
          </a:p>
        </p:txBody>
      </p:sp>
      <p:sp>
        <p:nvSpPr>
          <p:cNvPr id="4" name="Rectangle 3"/>
          <p:cNvSpPr/>
          <p:nvPr/>
        </p:nvSpPr>
        <p:spPr>
          <a:xfrm>
            <a:off x="548640" y="1600200"/>
            <a:ext cx="2743200" cy="50292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2560320" cy="502920"/>
          </a:xfrm>
          <a:prstGeom prst="rect">
            <a:avLst/>
          </a:prstGeom>
          <a:noFill/>
        </p:spPr>
        <p:txBody>
          <a:bodyPr wrap="square" lIns="0" rIns="0" tIns="0" bIns="0" anchor="ctr">
            <a:spAutoFit/>
          </a:bodyPr>
          <a:lstStyle/>
          <a:p>
            <a:pPr algn="l"/>
            <a:r>
              <a:rPr sz="1400" b="1" i="0">
                <a:solidFill>
                  <a:srgbClr val="FFFFFF"/>
                </a:solidFill>
                <a:latin typeface="Calibri"/>
              </a:rPr>
              <a:t>Candidate</a:t>
            </a:r>
          </a:p>
        </p:txBody>
      </p:sp>
      <p:sp>
        <p:nvSpPr>
          <p:cNvPr id="6" name="Rectangle 5"/>
          <p:cNvSpPr/>
          <p:nvPr/>
        </p:nvSpPr>
        <p:spPr>
          <a:xfrm>
            <a:off x="3291840" y="1600200"/>
            <a:ext cx="2834640" cy="50292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600200"/>
            <a:ext cx="2651760" cy="502920"/>
          </a:xfrm>
          <a:prstGeom prst="rect">
            <a:avLst/>
          </a:prstGeom>
          <a:noFill/>
        </p:spPr>
        <p:txBody>
          <a:bodyPr wrap="square" lIns="0" rIns="0" tIns="0" bIns="0" anchor="ctr">
            <a:spAutoFit/>
          </a:bodyPr>
          <a:lstStyle/>
          <a:p>
            <a:pPr algn="l"/>
            <a:r>
              <a:rPr sz="1400" b="1" i="0">
                <a:solidFill>
                  <a:srgbClr val="FFFFFF"/>
                </a:solidFill>
                <a:latin typeface="Calibri"/>
              </a:rPr>
              <a:t>Idea</a:t>
            </a:r>
          </a:p>
        </p:txBody>
      </p:sp>
      <p:sp>
        <p:nvSpPr>
          <p:cNvPr id="8" name="Rectangle 7"/>
          <p:cNvSpPr/>
          <p:nvPr/>
        </p:nvSpPr>
        <p:spPr>
          <a:xfrm>
            <a:off x="6126480" y="1600200"/>
            <a:ext cx="1600200" cy="50292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600200"/>
            <a:ext cx="1417320" cy="502920"/>
          </a:xfrm>
          <a:prstGeom prst="rect">
            <a:avLst/>
          </a:prstGeom>
          <a:noFill/>
        </p:spPr>
        <p:txBody>
          <a:bodyPr wrap="square" lIns="0" rIns="0" tIns="0" bIns="0" anchor="ctr">
            <a:spAutoFit/>
          </a:bodyPr>
          <a:lstStyle/>
          <a:p>
            <a:pPr algn="ctr"/>
            <a:r>
              <a:rPr sz="1400" b="1" i="0">
                <a:solidFill>
                  <a:srgbClr val="FFFFFF"/>
                </a:solidFill>
                <a:latin typeface="Calibri"/>
              </a:rPr>
              <a:t>Mean gain</a:t>
            </a:r>
          </a:p>
        </p:txBody>
      </p:sp>
      <p:sp>
        <p:nvSpPr>
          <p:cNvPr id="10" name="Rectangle 9"/>
          <p:cNvSpPr/>
          <p:nvPr/>
        </p:nvSpPr>
        <p:spPr>
          <a:xfrm>
            <a:off x="7726679" y="1600200"/>
            <a:ext cx="1508760" cy="50292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19" y="1600200"/>
            <a:ext cx="1325880" cy="502920"/>
          </a:xfrm>
          <a:prstGeom prst="rect">
            <a:avLst/>
          </a:prstGeom>
          <a:noFill/>
        </p:spPr>
        <p:txBody>
          <a:bodyPr wrap="square" lIns="0" rIns="0" tIns="0" bIns="0" anchor="ctr">
            <a:spAutoFit/>
          </a:bodyPr>
          <a:lstStyle/>
          <a:p>
            <a:pPr algn="ctr"/>
            <a:r>
              <a:rPr sz="1400" b="1" i="0">
                <a:solidFill>
                  <a:srgbClr val="FFFFFF"/>
                </a:solidFill>
                <a:latin typeface="Calibri"/>
              </a:rPr>
              <a:t>Folds won</a:t>
            </a:r>
          </a:p>
        </p:txBody>
      </p:sp>
      <p:sp>
        <p:nvSpPr>
          <p:cNvPr id="12" name="Rectangle 11"/>
          <p:cNvSpPr/>
          <p:nvPr/>
        </p:nvSpPr>
        <p:spPr>
          <a:xfrm>
            <a:off x="9235440" y="1600200"/>
            <a:ext cx="1463040" cy="50292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1600200"/>
            <a:ext cx="1280160" cy="502920"/>
          </a:xfrm>
          <a:prstGeom prst="rect">
            <a:avLst/>
          </a:prstGeom>
          <a:noFill/>
        </p:spPr>
        <p:txBody>
          <a:bodyPr wrap="square" lIns="0" rIns="0" tIns="0" bIns="0" anchor="ctr">
            <a:spAutoFit/>
          </a:bodyPr>
          <a:lstStyle/>
          <a:p>
            <a:pPr algn="ctr"/>
            <a:r>
              <a:rPr sz="1400" b="1" i="0">
                <a:solidFill>
                  <a:srgbClr val="FFFFFF"/>
                </a:solidFill>
                <a:latin typeface="Calibri"/>
              </a:rPr>
              <a:t>Decision</a:t>
            </a:r>
          </a:p>
        </p:txBody>
      </p:sp>
      <p:sp>
        <p:nvSpPr>
          <p:cNvPr id="14" name="Rectangle 13"/>
          <p:cNvSpPr/>
          <p:nvPr/>
        </p:nvSpPr>
        <p:spPr>
          <a:xfrm>
            <a:off x="548640" y="2103120"/>
            <a:ext cx="2743200" cy="502920"/>
          </a:xfrm>
          <a:prstGeom prst="rect">
            <a:avLst/>
          </a:prstGeom>
          <a:solidFill>
            <a:srgbClr val="FDEBE2"/>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103120"/>
            <a:ext cx="2560320" cy="502920"/>
          </a:xfrm>
          <a:prstGeom prst="rect">
            <a:avLst/>
          </a:prstGeom>
          <a:noFill/>
        </p:spPr>
        <p:txBody>
          <a:bodyPr wrap="square" lIns="0" rIns="0" tIns="0" bIns="0" anchor="ctr">
            <a:spAutoFit/>
          </a:bodyPr>
          <a:lstStyle/>
          <a:p>
            <a:pPr algn="l"/>
            <a:r>
              <a:rPr sz="1400" b="0" i="0">
                <a:solidFill>
                  <a:srgbClr val="0B0B0B"/>
                </a:solidFill>
                <a:latin typeface="Calibri"/>
              </a:rPr>
              <a:t>floors_x_log_age</a:t>
            </a:r>
          </a:p>
        </p:txBody>
      </p:sp>
      <p:sp>
        <p:nvSpPr>
          <p:cNvPr id="16" name="Rectangle 15"/>
          <p:cNvSpPr/>
          <p:nvPr/>
        </p:nvSpPr>
        <p:spPr>
          <a:xfrm>
            <a:off x="3291840" y="2103120"/>
            <a:ext cx="2834640" cy="502920"/>
          </a:xfrm>
          <a:prstGeom prst="rect">
            <a:avLst/>
          </a:prstGeom>
          <a:solidFill>
            <a:srgbClr val="FDEBE2"/>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2103120"/>
            <a:ext cx="2651760" cy="502920"/>
          </a:xfrm>
          <a:prstGeom prst="rect">
            <a:avLst/>
          </a:prstGeom>
          <a:noFill/>
        </p:spPr>
        <p:txBody>
          <a:bodyPr wrap="square" lIns="0" rIns="0" tIns="0" bIns="0" anchor="ctr">
            <a:spAutoFit/>
          </a:bodyPr>
          <a:lstStyle/>
          <a:p>
            <a:pPr algn="l"/>
            <a:r>
              <a:rPr sz="1400" b="0" i="0">
                <a:solidFill>
                  <a:srgbClr val="0B0B0B"/>
                </a:solidFill>
                <a:latin typeface="Calibri"/>
              </a:rPr>
              <a:t>tall and old buildings</a:t>
            </a:r>
          </a:p>
        </p:txBody>
      </p:sp>
      <p:sp>
        <p:nvSpPr>
          <p:cNvPr id="18" name="Rectangle 17"/>
          <p:cNvSpPr/>
          <p:nvPr/>
        </p:nvSpPr>
        <p:spPr>
          <a:xfrm>
            <a:off x="6126480" y="2103120"/>
            <a:ext cx="1600200" cy="502920"/>
          </a:xfrm>
          <a:prstGeom prst="rect">
            <a:avLst/>
          </a:prstGeom>
          <a:solidFill>
            <a:srgbClr val="FDEBE2"/>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2103120"/>
            <a:ext cx="1417320" cy="502920"/>
          </a:xfrm>
          <a:prstGeom prst="rect">
            <a:avLst/>
          </a:prstGeom>
          <a:noFill/>
        </p:spPr>
        <p:txBody>
          <a:bodyPr wrap="square" lIns="0" rIns="0" tIns="0" bIns="0" anchor="ctr">
            <a:spAutoFit/>
          </a:bodyPr>
          <a:lstStyle/>
          <a:p>
            <a:pPr algn="ctr"/>
            <a:r>
              <a:rPr sz="1400" b="0" i="0">
                <a:solidFill>
                  <a:srgbClr val="0B0B0B"/>
                </a:solidFill>
                <a:latin typeface="Calibri"/>
              </a:rPr>
              <a:t>+0.020 pp</a:t>
            </a:r>
          </a:p>
        </p:txBody>
      </p:sp>
      <p:sp>
        <p:nvSpPr>
          <p:cNvPr id="20" name="Rectangle 19"/>
          <p:cNvSpPr/>
          <p:nvPr/>
        </p:nvSpPr>
        <p:spPr>
          <a:xfrm>
            <a:off x="7726679" y="2103120"/>
            <a:ext cx="1508760" cy="502920"/>
          </a:xfrm>
          <a:prstGeom prst="rect">
            <a:avLst/>
          </a:prstGeom>
          <a:solidFill>
            <a:srgbClr val="FDEBE2"/>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19" y="2103120"/>
            <a:ext cx="1325880" cy="502920"/>
          </a:xfrm>
          <a:prstGeom prst="rect">
            <a:avLst/>
          </a:prstGeom>
          <a:noFill/>
        </p:spPr>
        <p:txBody>
          <a:bodyPr wrap="square" lIns="0" rIns="0" tIns="0" bIns="0" anchor="ctr">
            <a:spAutoFit/>
          </a:bodyPr>
          <a:lstStyle/>
          <a:p>
            <a:pPr algn="ctr"/>
            <a:r>
              <a:rPr sz="1400" b="0" i="0">
                <a:solidFill>
                  <a:srgbClr val="0B0B0B"/>
                </a:solidFill>
                <a:latin typeface="Calibri"/>
              </a:rPr>
              <a:t>5 of 5</a:t>
            </a:r>
          </a:p>
        </p:txBody>
      </p:sp>
      <p:sp>
        <p:nvSpPr>
          <p:cNvPr id="22" name="Rectangle 21"/>
          <p:cNvSpPr/>
          <p:nvPr/>
        </p:nvSpPr>
        <p:spPr>
          <a:xfrm>
            <a:off x="9235440" y="2103120"/>
            <a:ext cx="1463040" cy="502920"/>
          </a:xfrm>
          <a:prstGeom prst="rect">
            <a:avLst/>
          </a:prstGeom>
          <a:solidFill>
            <a:srgbClr val="FDEBE2"/>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2103120"/>
            <a:ext cx="1280160" cy="502920"/>
          </a:xfrm>
          <a:prstGeom prst="rect">
            <a:avLst/>
          </a:prstGeom>
          <a:noFill/>
        </p:spPr>
        <p:txBody>
          <a:bodyPr wrap="square" lIns="0" rIns="0" tIns="0" bIns="0" anchor="ctr">
            <a:spAutoFit/>
          </a:bodyPr>
          <a:lstStyle/>
          <a:p>
            <a:pPr algn="ctr"/>
            <a:r>
              <a:rPr sz="1400" b="0" i="0">
                <a:solidFill>
                  <a:srgbClr val="0B0B0B"/>
                </a:solidFill>
                <a:latin typeface="Calibri"/>
              </a:rPr>
              <a:t>kept</a:t>
            </a:r>
          </a:p>
        </p:txBody>
      </p:sp>
      <p:sp>
        <p:nvSpPr>
          <p:cNvPr id="24" name="Rectangle 23"/>
          <p:cNvSpPr/>
          <p:nvPr/>
        </p:nvSpPr>
        <p:spPr>
          <a:xfrm>
            <a:off x="548640" y="2606039"/>
            <a:ext cx="274320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2606039"/>
            <a:ext cx="2560320" cy="502920"/>
          </a:xfrm>
          <a:prstGeom prst="rect">
            <a:avLst/>
          </a:prstGeom>
          <a:noFill/>
        </p:spPr>
        <p:txBody>
          <a:bodyPr wrap="square" lIns="0" rIns="0" tIns="0" bIns="0" anchor="ctr">
            <a:spAutoFit/>
          </a:bodyPr>
          <a:lstStyle/>
          <a:p>
            <a:pPr algn="l"/>
            <a:r>
              <a:rPr sz="1400" b="0" i="0">
                <a:solidFill>
                  <a:srgbClr val="0B0B0B"/>
                </a:solidFill>
                <a:latin typeface="Calibri"/>
              </a:rPr>
              <a:t>height_per_floor</a:t>
            </a:r>
          </a:p>
        </p:txBody>
      </p:sp>
      <p:sp>
        <p:nvSpPr>
          <p:cNvPr id="26" name="Rectangle 25"/>
          <p:cNvSpPr/>
          <p:nvPr/>
        </p:nvSpPr>
        <p:spPr>
          <a:xfrm>
            <a:off x="3291840" y="2606039"/>
            <a:ext cx="283464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06039"/>
            <a:ext cx="2651760" cy="502920"/>
          </a:xfrm>
          <a:prstGeom prst="rect">
            <a:avLst/>
          </a:prstGeom>
          <a:noFill/>
        </p:spPr>
        <p:txBody>
          <a:bodyPr wrap="square" lIns="0" rIns="0" tIns="0" bIns="0" anchor="ctr">
            <a:spAutoFit/>
          </a:bodyPr>
          <a:lstStyle/>
          <a:p>
            <a:pPr algn="l"/>
            <a:r>
              <a:rPr sz="1400" b="0" i="0">
                <a:solidFill>
                  <a:srgbClr val="0B0B0B"/>
                </a:solidFill>
                <a:latin typeface="Calibri"/>
              </a:rPr>
              <a:t>average storey height</a:t>
            </a:r>
          </a:p>
        </p:txBody>
      </p:sp>
      <p:sp>
        <p:nvSpPr>
          <p:cNvPr id="28" name="Rectangle 27"/>
          <p:cNvSpPr/>
          <p:nvPr/>
        </p:nvSpPr>
        <p:spPr>
          <a:xfrm>
            <a:off x="6126480" y="2606039"/>
            <a:ext cx="160020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2606039"/>
            <a:ext cx="1417320" cy="502920"/>
          </a:xfrm>
          <a:prstGeom prst="rect">
            <a:avLst/>
          </a:prstGeom>
          <a:noFill/>
        </p:spPr>
        <p:txBody>
          <a:bodyPr wrap="square" lIns="0" rIns="0" tIns="0" bIns="0" anchor="ctr">
            <a:spAutoFit/>
          </a:bodyPr>
          <a:lstStyle/>
          <a:p>
            <a:pPr algn="ctr"/>
            <a:r>
              <a:rPr sz="1400" b="0" i="0">
                <a:solidFill>
                  <a:srgbClr val="0B0B0B"/>
                </a:solidFill>
                <a:latin typeface="Calibri"/>
              </a:rPr>
              <a:t>+0.003 pp</a:t>
            </a:r>
          </a:p>
        </p:txBody>
      </p:sp>
      <p:sp>
        <p:nvSpPr>
          <p:cNvPr id="30" name="Rectangle 29"/>
          <p:cNvSpPr/>
          <p:nvPr/>
        </p:nvSpPr>
        <p:spPr>
          <a:xfrm>
            <a:off x="7726679" y="2606039"/>
            <a:ext cx="150876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18119" y="2606039"/>
            <a:ext cx="1325880" cy="502920"/>
          </a:xfrm>
          <a:prstGeom prst="rect">
            <a:avLst/>
          </a:prstGeom>
          <a:noFill/>
        </p:spPr>
        <p:txBody>
          <a:bodyPr wrap="square" lIns="0" rIns="0" tIns="0" bIns="0" anchor="ctr">
            <a:spAutoFit/>
          </a:bodyPr>
          <a:lstStyle/>
          <a:p>
            <a:pPr algn="ctr"/>
            <a:r>
              <a:rPr sz="1400" b="0" i="0">
                <a:solidFill>
                  <a:srgbClr val="0B0B0B"/>
                </a:solidFill>
                <a:latin typeface="Calibri"/>
              </a:rPr>
              <a:t>1 of 5</a:t>
            </a:r>
          </a:p>
        </p:txBody>
      </p:sp>
      <p:sp>
        <p:nvSpPr>
          <p:cNvPr id="32" name="Rectangle 31"/>
          <p:cNvSpPr/>
          <p:nvPr/>
        </p:nvSpPr>
        <p:spPr>
          <a:xfrm>
            <a:off x="9235440" y="2606039"/>
            <a:ext cx="146304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0" y="2606039"/>
            <a:ext cx="1280160" cy="502920"/>
          </a:xfrm>
          <a:prstGeom prst="rect">
            <a:avLst/>
          </a:prstGeom>
          <a:noFill/>
        </p:spPr>
        <p:txBody>
          <a:bodyPr wrap="square" lIns="0" rIns="0" tIns="0" bIns="0" anchor="ctr">
            <a:spAutoFit/>
          </a:bodyPr>
          <a:lstStyle/>
          <a:p>
            <a:pPr algn="ctr"/>
            <a:r>
              <a:rPr sz="1400" b="0" i="0">
                <a:solidFill>
                  <a:srgbClr val="0B0B0B"/>
                </a:solidFill>
                <a:latin typeface="Calibri"/>
              </a:rPr>
              <a:t>dropped</a:t>
            </a:r>
          </a:p>
        </p:txBody>
      </p:sp>
      <p:sp>
        <p:nvSpPr>
          <p:cNvPr id="34" name="Rectangle 33"/>
          <p:cNvSpPr/>
          <p:nvPr/>
        </p:nvSpPr>
        <p:spPr>
          <a:xfrm>
            <a:off x="548640" y="3108959"/>
            <a:ext cx="2743200" cy="50292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108959"/>
            <a:ext cx="2560320" cy="502920"/>
          </a:xfrm>
          <a:prstGeom prst="rect">
            <a:avLst/>
          </a:prstGeom>
          <a:noFill/>
        </p:spPr>
        <p:txBody>
          <a:bodyPr wrap="square" lIns="0" rIns="0" tIns="0" bIns="0" anchor="ctr">
            <a:spAutoFit/>
          </a:bodyPr>
          <a:lstStyle/>
          <a:p>
            <a:pPr algn="l"/>
            <a:r>
              <a:rPr sz="1400" b="0" i="0">
                <a:solidFill>
                  <a:srgbClr val="0B0B0B"/>
                </a:solidFill>
                <a:latin typeface="Calibri"/>
              </a:rPr>
              <a:t>log_area_height_ratio</a:t>
            </a:r>
          </a:p>
        </p:txBody>
      </p:sp>
      <p:sp>
        <p:nvSpPr>
          <p:cNvPr id="36" name="Rectangle 35"/>
          <p:cNvSpPr/>
          <p:nvPr/>
        </p:nvSpPr>
        <p:spPr>
          <a:xfrm>
            <a:off x="3291840" y="3108959"/>
            <a:ext cx="2834640" cy="50292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83280" y="3108959"/>
            <a:ext cx="2651760" cy="502920"/>
          </a:xfrm>
          <a:prstGeom prst="rect">
            <a:avLst/>
          </a:prstGeom>
          <a:noFill/>
        </p:spPr>
        <p:txBody>
          <a:bodyPr wrap="square" lIns="0" rIns="0" tIns="0" bIns="0" anchor="ctr">
            <a:spAutoFit/>
          </a:bodyPr>
          <a:lstStyle/>
          <a:p>
            <a:pPr algn="l"/>
            <a:r>
              <a:rPr sz="1400" b="0" i="0">
                <a:solidFill>
                  <a:srgbClr val="0B0B0B"/>
                </a:solidFill>
                <a:latin typeface="Calibri"/>
              </a:rPr>
              <a:t>squat vs slender shape</a:t>
            </a:r>
          </a:p>
        </p:txBody>
      </p:sp>
      <p:sp>
        <p:nvSpPr>
          <p:cNvPr id="38" name="Rectangle 37"/>
          <p:cNvSpPr/>
          <p:nvPr/>
        </p:nvSpPr>
        <p:spPr>
          <a:xfrm>
            <a:off x="6126480" y="3108959"/>
            <a:ext cx="1600200" cy="50292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108959"/>
            <a:ext cx="1417320" cy="502920"/>
          </a:xfrm>
          <a:prstGeom prst="rect">
            <a:avLst/>
          </a:prstGeom>
          <a:noFill/>
        </p:spPr>
        <p:txBody>
          <a:bodyPr wrap="square" lIns="0" rIns="0" tIns="0" bIns="0" anchor="ctr">
            <a:spAutoFit/>
          </a:bodyPr>
          <a:lstStyle/>
          <a:p>
            <a:pPr algn="ctr"/>
            <a:r>
              <a:rPr sz="1400" b="0" i="0">
                <a:solidFill>
                  <a:srgbClr val="0B0B0B"/>
                </a:solidFill>
                <a:latin typeface="Calibri"/>
              </a:rPr>
              <a:t>+0.001 pp</a:t>
            </a:r>
          </a:p>
        </p:txBody>
      </p:sp>
      <p:sp>
        <p:nvSpPr>
          <p:cNvPr id="40" name="Rectangle 39"/>
          <p:cNvSpPr/>
          <p:nvPr/>
        </p:nvSpPr>
        <p:spPr>
          <a:xfrm>
            <a:off x="7726679" y="3108959"/>
            <a:ext cx="1508760" cy="50292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18119" y="3108959"/>
            <a:ext cx="1325880" cy="502920"/>
          </a:xfrm>
          <a:prstGeom prst="rect">
            <a:avLst/>
          </a:prstGeom>
          <a:noFill/>
        </p:spPr>
        <p:txBody>
          <a:bodyPr wrap="square" lIns="0" rIns="0" tIns="0" bIns="0" anchor="ctr">
            <a:spAutoFit/>
          </a:bodyPr>
          <a:lstStyle/>
          <a:p>
            <a:pPr algn="ctr"/>
            <a:r>
              <a:rPr sz="1400" b="0" i="0">
                <a:solidFill>
                  <a:srgbClr val="0B0B0B"/>
                </a:solidFill>
                <a:latin typeface="Calibri"/>
              </a:rPr>
              <a:t>2 of 5</a:t>
            </a:r>
          </a:p>
        </p:txBody>
      </p:sp>
      <p:sp>
        <p:nvSpPr>
          <p:cNvPr id="42" name="Rectangle 41"/>
          <p:cNvSpPr/>
          <p:nvPr/>
        </p:nvSpPr>
        <p:spPr>
          <a:xfrm>
            <a:off x="9235440" y="3108959"/>
            <a:ext cx="1463040" cy="50292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0" y="3108959"/>
            <a:ext cx="1280160" cy="502920"/>
          </a:xfrm>
          <a:prstGeom prst="rect">
            <a:avLst/>
          </a:prstGeom>
          <a:noFill/>
        </p:spPr>
        <p:txBody>
          <a:bodyPr wrap="square" lIns="0" rIns="0" tIns="0" bIns="0" anchor="ctr">
            <a:spAutoFit/>
          </a:bodyPr>
          <a:lstStyle/>
          <a:p>
            <a:pPr algn="ctr"/>
            <a:r>
              <a:rPr sz="1400" b="0" i="0">
                <a:solidFill>
                  <a:srgbClr val="0B0B0B"/>
                </a:solidFill>
                <a:latin typeface="Calibri"/>
              </a:rPr>
              <a:t>dropped</a:t>
            </a:r>
          </a:p>
        </p:txBody>
      </p:sp>
      <p:sp>
        <p:nvSpPr>
          <p:cNvPr id="44" name="Rectangle 43"/>
          <p:cNvSpPr/>
          <p:nvPr/>
        </p:nvSpPr>
        <p:spPr>
          <a:xfrm>
            <a:off x="548640" y="3611879"/>
            <a:ext cx="274320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11879"/>
            <a:ext cx="2560320" cy="502920"/>
          </a:xfrm>
          <a:prstGeom prst="rect">
            <a:avLst/>
          </a:prstGeom>
          <a:noFill/>
        </p:spPr>
        <p:txBody>
          <a:bodyPr wrap="square" lIns="0" rIns="0" tIns="0" bIns="0" anchor="ctr">
            <a:spAutoFit/>
          </a:bodyPr>
          <a:lstStyle/>
          <a:p>
            <a:pPr algn="l"/>
            <a:r>
              <a:rPr sz="1400" b="0" i="0">
                <a:solidFill>
                  <a:srgbClr val="0B0B0B"/>
                </a:solidFill>
                <a:latin typeface="Calibri"/>
              </a:rPr>
              <a:t>n_superstructure</a:t>
            </a:r>
          </a:p>
        </p:txBody>
      </p:sp>
      <p:sp>
        <p:nvSpPr>
          <p:cNvPr id="46" name="Rectangle 45"/>
          <p:cNvSpPr/>
          <p:nvPr/>
        </p:nvSpPr>
        <p:spPr>
          <a:xfrm>
            <a:off x="3291840" y="3611879"/>
            <a:ext cx="283464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83280" y="3611879"/>
            <a:ext cx="2651760" cy="502920"/>
          </a:xfrm>
          <a:prstGeom prst="rect">
            <a:avLst/>
          </a:prstGeom>
          <a:noFill/>
        </p:spPr>
        <p:txBody>
          <a:bodyPr wrap="square" lIns="0" rIns="0" tIns="0" bIns="0" anchor="ctr">
            <a:spAutoFit/>
          </a:bodyPr>
          <a:lstStyle/>
          <a:p>
            <a:pPr algn="l"/>
            <a:r>
              <a:rPr sz="1400" b="0" i="0">
                <a:solidFill>
                  <a:srgbClr val="0B0B0B"/>
                </a:solidFill>
                <a:latin typeface="Calibri"/>
              </a:rPr>
              <a:t>number of materials used</a:t>
            </a:r>
          </a:p>
        </p:txBody>
      </p:sp>
      <p:sp>
        <p:nvSpPr>
          <p:cNvPr id="48" name="Rectangle 47"/>
          <p:cNvSpPr/>
          <p:nvPr/>
        </p:nvSpPr>
        <p:spPr>
          <a:xfrm>
            <a:off x="6126480" y="3611879"/>
            <a:ext cx="160020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17920" y="3611879"/>
            <a:ext cx="1417320" cy="502920"/>
          </a:xfrm>
          <a:prstGeom prst="rect">
            <a:avLst/>
          </a:prstGeom>
          <a:noFill/>
        </p:spPr>
        <p:txBody>
          <a:bodyPr wrap="square" lIns="0" rIns="0" tIns="0" bIns="0" anchor="ctr">
            <a:spAutoFit/>
          </a:bodyPr>
          <a:lstStyle/>
          <a:p>
            <a:pPr algn="ctr"/>
            <a:r>
              <a:rPr sz="1400" b="0" i="0">
                <a:solidFill>
                  <a:srgbClr val="0B0B0B"/>
                </a:solidFill>
                <a:latin typeface="Calibri"/>
              </a:rPr>
              <a:t>-0.004 pp</a:t>
            </a:r>
          </a:p>
        </p:txBody>
      </p:sp>
      <p:sp>
        <p:nvSpPr>
          <p:cNvPr id="50" name="Rectangle 49"/>
          <p:cNvSpPr/>
          <p:nvPr/>
        </p:nvSpPr>
        <p:spPr>
          <a:xfrm>
            <a:off x="7726679" y="3611879"/>
            <a:ext cx="150876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18119" y="3611879"/>
            <a:ext cx="1325880" cy="502920"/>
          </a:xfrm>
          <a:prstGeom prst="rect">
            <a:avLst/>
          </a:prstGeom>
          <a:noFill/>
        </p:spPr>
        <p:txBody>
          <a:bodyPr wrap="square" lIns="0" rIns="0" tIns="0" bIns="0" anchor="ctr">
            <a:spAutoFit/>
          </a:bodyPr>
          <a:lstStyle/>
          <a:p>
            <a:pPr algn="ctr"/>
            <a:r>
              <a:rPr sz="1400" b="0" i="0">
                <a:solidFill>
                  <a:srgbClr val="0B0B0B"/>
                </a:solidFill>
                <a:latin typeface="Calibri"/>
              </a:rPr>
              <a:t>2 of 5</a:t>
            </a:r>
          </a:p>
        </p:txBody>
      </p:sp>
      <p:sp>
        <p:nvSpPr>
          <p:cNvPr id="52" name="Rectangle 51"/>
          <p:cNvSpPr/>
          <p:nvPr/>
        </p:nvSpPr>
        <p:spPr>
          <a:xfrm>
            <a:off x="9235440" y="3611879"/>
            <a:ext cx="1463040" cy="50292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326880" y="3611879"/>
            <a:ext cx="1280160" cy="502920"/>
          </a:xfrm>
          <a:prstGeom prst="rect">
            <a:avLst/>
          </a:prstGeom>
          <a:noFill/>
        </p:spPr>
        <p:txBody>
          <a:bodyPr wrap="square" lIns="0" rIns="0" tIns="0" bIns="0" anchor="ctr">
            <a:spAutoFit/>
          </a:bodyPr>
          <a:lstStyle/>
          <a:p>
            <a:pPr algn="ctr"/>
            <a:r>
              <a:rPr sz="1400" b="0" i="0">
                <a:solidFill>
                  <a:srgbClr val="0B0B0B"/>
                </a:solidFill>
                <a:latin typeface="Calibri"/>
              </a:rPr>
              <a:t>dropped</a:t>
            </a:r>
          </a:p>
        </p:txBody>
      </p:sp>
      <p:sp>
        <p:nvSpPr>
          <p:cNvPr id="54" name="Rounded Rectangle 53"/>
          <p:cNvSpPr/>
          <p:nvPr/>
        </p:nvSpPr>
        <p:spPr>
          <a:xfrm>
            <a:off x="548640" y="4343400"/>
            <a:ext cx="5486400" cy="18288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4480560"/>
            <a:ext cx="5029200" cy="365760"/>
          </a:xfrm>
          <a:prstGeom prst="rect">
            <a:avLst/>
          </a:prstGeom>
          <a:noFill/>
        </p:spPr>
        <p:txBody>
          <a:bodyPr wrap="square" lIns="0" rIns="0" tIns="0" bIns="0" anchor="t">
            <a:spAutoFit/>
          </a:bodyPr>
          <a:lstStyle/>
          <a:p>
            <a:pPr algn="l"/>
            <a:r>
              <a:rPr sz="1700" b="1" i="0">
                <a:solidFill>
                  <a:srgbClr val="142340"/>
                </a:solidFill>
                <a:latin typeface="Calibri"/>
              </a:rPr>
              <a:t>The test: paired add-one</a:t>
            </a:r>
          </a:p>
        </p:txBody>
      </p:sp>
      <p:sp>
        <p:nvSpPr>
          <p:cNvPr id="56" name="TextBox 55"/>
          <p:cNvSpPr txBox="1"/>
          <p:nvPr/>
        </p:nvSpPr>
        <p:spPr>
          <a:xfrm>
            <a:off x="777240" y="4892040"/>
            <a:ext cx="5029200" cy="1280160"/>
          </a:xfrm>
          <a:prstGeom prst="rect">
            <a:avLst/>
          </a:prstGeom>
          <a:noFill/>
        </p:spPr>
        <p:txBody>
          <a:bodyPr wrap="square" lIns="0" rIns="0" tIns="0" bIns="0" anchor="t">
            <a:spAutoFit/>
          </a:bodyPr>
          <a:lstStyle/>
          <a:p>
            <a:pPr algn="l">
              <a:spcAft>
                <a:spcPts val="600"/>
              </a:spcAft>
            </a:pPr>
            <a:r>
              <a:rPr sz="1350" b="0" i="0">
                <a:solidFill>
                  <a:srgbClr val="52514E"/>
                </a:solidFill>
                <a:latin typeface="Calibri"/>
              </a:rPr>
              <a:t>Add one candidate at a time to the best LR setup (E3) and score it on the same 5 folds.</a:t>
            </a:r>
          </a:p>
          <a:p>
            <a:pPr algn="l">
              <a:spcAft>
                <a:spcPts val="600"/>
              </a:spcAft>
            </a:pPr>
            <a:r>
              <a:rPr sz="1350" b="0" i="0">
                <a:solidFill>
                  <a:srgbClr val="52514E"/>
                </a:solidFill>
                <a:latin typeface="Calibri"/>
              </a:rPr>
              <a:t>Keep it only if the average improves AND it wins in at least 4 of 5 folds, so luck cannot sneak a feature in.</a:t>
            </a:r>
          </a:p>
        </p:txBody>
      </p:sp>
      <p:sp>
        <p:nvSpPr>
          <p:cNvPr id="57" name="Rounded Rectangle 56"/>
          <p:cNvSpPr/>
          <p:nvPr/>
        </p:nvSpPr>
        <p:spPr>
          <a:xfrm>
            <a:off x="6263640" y="4343400"/>
            <a:ext cx="5394960" cy="182880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92240" y="4480560"/>
            <a:ext cx="4937760" cy="365760"/>
          </a:xfrm>
          <a:prstGeom prst="rect">
            <a:avLst/>
          </a:prstGeom>
          <a:noFill/>
        </p:spPr>
        <p:txBody>
          <a:bodyPr wrap="square" lIns="0" rIns="0" tIns="0" bIns="0" anchor="t">
            <a:spAutoFit/>
          </a:bodyPr>
          <a:lstStyle/>
          <a:p>
            <a:pPr algn="l"/>
            <a:r>
              <a:rPr sz="1700" b="1" i="0">
                <a:solidFill>
                  <a:srgbClr val="FFFFFF"/>
                </a:solidFill>
                <a:latin typeface="Calibri"/>
              </a:rPr>
              <a:t>Takeaway</a:t>
            </a:r>
          </a:p>
        </p:txBody>
      </p:sp>
      <p:sp>
        <p:nvSpPr>
          <p:cNvPr id="59" name="TextBox 58"/>
          <p:cNvSpPr txBox="1"/>
          <p:nvPr/>
        </p:nvSpPr>
        <p:spPr>
          <a:xfrm>
            <a:off x="6492240" y="4892040"/>
            <a:ext cx="4937760" cy="1280160"/>
          </a:xfrm>
          <a:prstGeom prst="rect">
            <a:avLst/>
          </a:prstGeom>
          <a:noFill/>
        </p:spPr>
        <p:txBody>
          <a:bodyPr wrap="square" lIns="0" rIns="0" tIns="0" bIns="0" anchor="t">
            <a:spAutoFit/>
          </a:bodyPr>
          <a:lstStyle/>
          <a:p>
            <a:pPr algn="l">
              <a:spcAft>
                <a:spcPts val="600"/>
              </a:spcAft>
            </a:pPr>
            <a:r>
              <a:rPr sz="1350" b="0" i="0">
                <a:solidFill>
                  <a:srgbClr val="86B6EF"/>
                </a:solidFill>
                <a:latin typeface="Calibri"/>
              </a:rPr>
              <a:t>Even the kept feature adds only +0.02 pp of micro-F1.</a:t>
            </a:r>
          </a:p>
          <a:p>
            <a:pPr algn="l">
              <a:spcAft>
                <a:spcPts val="600"/>
              </a:spcAft>
            </a:pPr>
            <a:r>
              <a:rPr sz="1350" b="0" i="0">
                <a:solidFill>
                  <a:srgbClr val="86B6EF"/>
                </a:solidFill>
                <a:latin typeface="Calibri"/>
              </a:rPr>
              <a:t>The raw survey columns already hold almost all the signal; better information (location) matters far more than clever transformations.</a:t>
            </a:r>
          </a:p>
        </p:txBody>
      </p:sp>
      <p:sp>
        <p:nvSpPr>
          <p:cNvPr id="60" name="TextBox 59"/>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61" name="TextBox 60"/>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GEO TARGET ENCODING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Replace each area's ID with its damage history</a:t>
            </a:r>
          </a:p>
        </p:txBody>
      </p:sp>
      <p:sp>
        <p:nvSpPr>
          <p:cNvPr id="4" name="TextBox 3"/>
          <p:cNvSpPr txBox="1"/>
          <p:nvPr/>
        </p:nvSpPr>
        <p:spPr>
          <a:xfrm>
            <a:off x="548640" y="1417320"/>
            <a:ext cx="10972800" cy="365760"/>
          </a:xfrm>
          <a:prstGeom prst="rect">
            <a:avLst/>
          </a:prstGeom>
          <a:noFill/>
        </p:spPr>
        <p:txBody>
          <a:bodyPr wrap="square" lIns="0" rIns="0" tIns="0" bIns="0" anchor="t">
            <a:spAutoFit/>
          </a:bodyPr>
          <a:lstStyle/>
          <a:p>
            <a:pPr algn="l"/>
            <a:r>
              <a:rPr sz="1400" b="0" i="0">
                <a:solidFill>
                  <a:srgbClr val="52514E"/>
                </a:solidFill>
                <a:latin typeface="Calibri"/>
              </a:rPr>
              <a:t>Problem: an area ID (e.g. 4523) is a name, not a quantity, and one-hot would need 13,009 columns.</a:t>
            </a:r>
          </a:p>
        </p:txBody>
      </p:sp>
      <p:sp>
        <p:nvSpPr>
          <p:cNvPr id="5" name="TextBox 4"/>
          <p:cNvSpPr txBox="1"/>
          <p:nvPr/>
        </p:nvSpPr>
        <p:spPr>
          <a:xfrm>
            <a:off x="548640" y="1874519"/>
            <a:ext cx="5760720" cy="320040"/>
          </a:xfrm>
          <a:prstGeom prst="rect">
            <a:avLst/>
          </a:prstGeom>
          <a:noFill/>
        </p:spPr>
        <p:txBody>
          <a:bodyPr wrap="square" lIns="0" rIns="0" tIns="0" bIns="0" anchor="t">
            <a:spAutoFit/>
          </a:bodyPr>
          <a:lstStyle/>
          <a:p>
            <a:pPr algn="l"/>
            <a:r>
              <a:rPr sz="1500" b="1" i="0">
                <a:solidFill>
                  <a:srgbClr val="142340"/>
                </a:solidFill>
                <a:latin typeface="Calibri"/>
              </a:rPr>
              <a:t>Step 1: count damage grades per area (training data)</a:t>
            </a:r>
          </a:p>
        </p:txBody>
      </p:sp>
      <p:sp>
        <p:nvSpPr>
          <p:cNvPr id="6" name="Rectangle 5"/>
          <p:cNvSpPr/>
          <p:nvPr/>
        </p:nvSpPr>
        <p:spPr>
          <a:xfrm>
            <a:off x="548640" y="2240280"/>
            <a:ext cx="118872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240280"/>
            <a:ext cx="1005840" cy="411480"/>
          </a:xfrm>
          <a:prstGeom prst="rect">
            <a:avLst/>
          </a:prstGeom>
          <a:noFill/>
        </p:spPr>
        <p:txBody>
          <a:bodyPr wrap="square" lIns="0" rIns="0" tIns="0" bIns="0" anchor="ctr">
            <a:spAutoFit/>
          </a:bodyPr>
          <a:lstStyle/>
          <a:p>
            <a:pPr algn="l"/>
            <a:r>
              <a:rPr sz="1350" b="1" i="0">
                <a:solidFill>
                  <a:srgbClr val="FFFFFF"/>
                </a:solidFill>
                <a:latin typeface="Calibri"/>
              </a:rPr>
              <a:t>Area</a:t>
            </a:r>
          </a:p>
        </p:txBody>
      </p:sp>
      <p:sp>
        <p:nvSpPr>
          <p:cNvPr id="8" name="Rectangle 7"/>
          <p:cNvSpPr/>
          <p:nvPr/>
        </p:nvSpPr>
        <p:spPr>
          <a:xfrm>
            <a:off x="1737360" y="2240280"/>
            <a:ext cx="114300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2240280"/>
            <a:ext cx="960120" cy="411480"/>
          </a:xfrm>
          <a:prstGeom prst="rect">
            <a:avLst/>
          </a:prstGeom>
          <a:noFill/>
        </p:spPr>
        <p:txBody>
          <a:bodyPr wrap="square" lIns="0" rIns="0" tIns="0" bIns="0" anchor="ctr">
            <a:spAutoFit/>
          </a:bodyPr>
          <a:lstStyle/>
          <a:p>
            <a:pPr algn="ctr"/>
            <a:r>
              <a:rPr sz="1350" b="1" i="0">
                <a:solidFill>
                  <a:srgbClr val="FFFFFF"/>
                </a:solidFill>
                <a:latin typeface="Calibri"/>
              </a:rPr>
              <a:t>Buildings</a:t>
            </a:r>
          </a:p>
        </p:txBody>
      </p:sp>
      <p:sp>
        <p:nvSpPr>
          <p:cNvPr id="10" name="Rectangle 9"/>
          <p:cNvSpPr/>
          <p:nvPr/>
        </p:nvSpPr>
        <p:spPr>
          <a:xfrm>
            <a:off x="2880360" y="2240280"/>
            <a:ext cx="114300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240280"/>
            <a:ext cx="960120" cy="411480"/>
          </a:xfrm>
          <a:prstGeom prst="rect">
            <a:avLst/>
          </a:prstGeom>
          <a:noFill/>
        </p:spPr>
        <p:txBody>
          <a:bodyPr wrap="square" lIns="0" rIns="0" tIns="0" bIns="0" anchor="ctr">
            <a:spAutoFit/>
          </a:bodyPr>
          <a:lstStyle/>
          <a:p>
            <a:pPr algn="ctr"/>
            <a:r>
              <a:rPr sz="1350" b="1" i="0">
                <a:solidFill>
                  <a:srgbClr val="FFFFFF"/>
                </a:solidFill>
                <a:latin typeface="Calibri"/>
              </a:rPr>
              <a:t>Grade 1</a:t>
            </a:r>
          </a:p>
        </p:txBody>
      </p:sp>
      <p:sp>
        <p:nvSpPr>
          <p:cNvPr id="12" name="Rectangle 11"/>
          <p:cNvSpPr/>
          <p:nvPr/>
        </p:nvSpPr>
        <p:spPr>
          <a:xfrm>
            <a:off x="4023360" y="2240280"/>
            <a:ext cx="114300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0" y="2240280"/>
            <a:ext cx="960120" cy="411480"/>
          </a:xfrm>
          <a:prstGeom prst="rect">
            <a:avLst/>
          </a:prstGeom>
          <a:noFill/>
        </p:spPr>
        <p:txBody>
          <a:bodyPr wrap="square" lIns="0" rIns="0" tIns="0" bIns="0" anchor="ctr">
            <a:spAutoFit/>
          </a:bodyPr>
          <a:lstStyle/>
          <a:p>
            <a:pPr algn="ctr"/>
            <a:r>
              <a:rPr sz="1350" b="1" i="0">
                <a:solidFill>
                  <a:srgbClr val="FFFFFF"/>
                </a:solidFill>
                <a:latin typeface="Calibri"/>
              </a:rPr>
              <a:t>Grade 2</a:t>
            </a:r>
          </a:p>
        </p:txBody>
      </p:sp>
      <p:sp>
        <p:nvSpPr>
          <p:cNvPr id="14" name="Rectangle 13"/>
          <p:cNvSpPr/>
          <p:nvPr/>
        </p:nvSpPr>
        <p:spPr>
          <a:xfrm>
            <a:off x="5166360" y="2240280"/>
            <a:ext cx="114300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240280"/>
            <a:ext cx="960120" cy="411480"/>
          </a:xfrm>
          <a:prstGeom prst="rect">
            <a:avLst/>
          </a:prstGeom>
          <a:noFill/>
        </p:spPr>
        <p:txBody>
          <a:bodyPr wrap="square" lIns="0" rIns="0" tIns="0" bIns="0" anchor="ctr">
            <a:spAutoFit/>
          </a:bodyPr>
          <a:lstStyle/>
          <a:p>
            <a:pPr algn="ctr"/>
            <a:r>
              <a:rPr sz="1350" b="1" i="0">
                <a:solidFill>
                  <a:srgbClr val="FFFFFF"/>
                </a:solidFill>
                <a:latin typeface="Calibri"/>
              </a:rPr>
              <a:t>Grade 3</a:t>
            </a:r>
          </a:p>
        </p:txBody>
      </p:sp>
      <p:sp>
        <p:nvSpPr>
          <p:cNvPr id="16" name="Rectangle 15"/>
          <p:cNvSpPr/>
          <p:nvPr/>
        </p:nvSpPr>
        <p:spPr>
          <a:xfrm>
            <a:off x="548640" y="2651760"/>
            <a:ext cx="118872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651760"/>
            <a:ext cx="1005840" cy="411480"/>
          </a:xfrm>
          <a:prstGeom prst="rect">
            <a:avLst/>
          </a:prstGeom>
          <a:noFill/>
        </p:spPr>
        <p:txBody>
          <a:bodyPr wrap="square" lIns="0" rIns="0" tIns="0" bIns="0" anchor="ctr">
            <a:spAutoFit/>
          </a:bodyPr>
          <a:lstStyle/>
          <a:p>
            <a:pPr algn="l"/>
            <a:r>
              <a:rPr sz="1350" b="1" i="0">
                <a:solidFill>
                  <a:srgbClr val="0B0B0B"/>
                </a:solidFill>
                <a:latin typeface="Calibri"/>
              </a:rPr>
              <a:t>Area A</a:t>
            </a:r>
          </a:p>
        </p:txBody>
      </p:sp>
      <p:sp>
        <p:nvSpPr>
          <p:cNvPr id="18" name="Rectangle 17"/>
          <p:cNvSpPr/>
          <p:nvPr/>
        </p:nvSpPr>
        <p:spPr>
          <a:xfrm>
            <a:off x="1737360" y="2651760"/>
            <a:ext cx="114300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8800" y="2651760"/>
            <a:ext cx="960120" cy="411480"/>
          </a:xfrm>
          <a:prstGeom prst="rect">
            <a:avLst/>
          </a:prstGeom>
          <a:noFill/>
        </p:spPr>
        <p:txBody>
          <a:bodyPr wrap="square" lIns="0" rIns="0" tIns="0" bIns="0" anchor="ctr">
            <a:spAutoFit/>
          </a:bodyPr>
          <a:lstStyle/>
          <a:p>
            <a:pPr algn="ctr"/>
            <a:r>
              <a:rPr sz="1350" b="0" i="0">
                <a:solidFill>
                  <a:srgbClr val="0B0B0B"/>
                </a:solidFill>
                <a:latin typeface="Calibri"/>
              </a:rPr>
              <a:t>200</a:t>
            </a:r>
          </a:p>
        </p:txBody>
      </p:sp>
      <p:sp>
        <p:nvSpPr>
          <p:cNvPr id="20" name="Rectangle 19"/>
          <p:cNvSpPr/>
          <p:nvPr/>
        </p:nvSpPr>
        <p:spPr>
          <a:xfrm>
            <a:off x="2880360" y="2651760"/>
            <a:ext cx="114300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2651760"/>
            <a:ext cx="960120" cy="411480"/>
          </a:xfrm>
          <a:prstGeom prst="rect">
            <a:avLst/>
          </a:prstGeom>
          <a:noFill/>
        </p:spPr>
        <p:txBody>
          <a:bodyPr wrap="square" lIns="0" rIns="0" tIns="0" bIns="0" anchor="ctr">
            <a:spAutoFit/>
          </a:bodyPr>
          <a:lstStyle/>
          <a:p>
            <a:pPr algn="ctr"/>
            <a:r>
              <a:rPr sz="1350" b="0" i="0">
                <a:solidFill>
                  <a:srgbClr val="0B0B0B"/>
                </a:solidFill>
                <a:latin typeface="Calibri"/>
              </a:rPr>
              <a:t>30</a:t>
            </a:r>
          </a:p>
        </p:txBody>
      </p:sp>
      <p:sp>
        <p:nvSpPr>
          <p:cNvPr id="22" name="Rectangle 21"/>
          <p:cNvSpPr/>
          <p:nvPr/>
        </p:nvSpPr>
        <p:spPr>
          <a:xfrm>
            <a:off x="4023360" y="2651760"/>
            <a:ext cx="114300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0" y="2651760"/>
            <a:ext cx="960120" cy="411480"/>
          </a:xfrm>
          <a:prstGeom prst="rect">
            <a:avLst/>
          </a:prstGeom>
          <a:noFill/>
        </p:spPr>
        <p:txBody>
          <a:bodyPr wrap="square" lIns="0" rIns="0" tIns="0" bIns="0" anchor="ctr">
            <a:spAutoFit/>
          </a:bodyPr>
          <a:lstStyle/>
          <a:p>
            <a:pPr algn="ctr"/>
            <a:r>
              <a:rPr sz="1350" b="0" i="0">
                <a:solidFill>
                  <a:srgbClr val="0B0B0B"/>
                </a:solidFill>
                <a:latin typeface="Calibri"/>
              </a:rPr>
              <a:t>120</a:t>
            </a:r>
          </a:p>
        </p:txBody>
      </p:sp>
      <p:sp>
        <p:nvSpPr>
          <p:cNvPr id="24" name="Rectangle 23"/>
          <p:cNvSpPr/>
          <p:nvPr/>
        </p:nvSpPr>
        <p:spPr>
          <a:xfrm>
            <a:off x="5166360" y="2651760"/>
            <a:ext cx="114300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57800" y="2651760"/>
            <a:ext cx="960120" cy="411480"/>
          </a:xfrm>
          <a:prstGeom prst="rect">
            <a:avLst/>
          </a:prstGeom>
          <a:noFill/>
        </p:spPr>
        <p:txBody>
          <a:bodyPr wrap="square" lIns="0" rIns="0" tIns="0" bIns="0" anchor="ctr">
            <a:spAutoFit/>
          </a:bodyPr>
          <a:lstStyle/>
          <a:p>
            <a:pPr algn="ctr"/>
            <a:r>
              <a:rPr sz="1350" b="0" i="0">
                <a:solidFill>
                  <a:srgbClr val="0B0B0B"/>
                </a:solidFill>
                <a:latin typeface="Calibri"/>
              </a:rPr>
              <a:t>50</a:t>
            </a:r>
          </a:p>
        </p:txBody>
      </p:sp>
      <p:sp>
        <p:nvSpPr>
          <p:cNvPr id="26" name="Rectangle 25"/>
          <p:cNvSpPr/>
          <p:nvPr/>
        </p:nvSpPr>
        <p:spPr>
          <a:xfrm>
            <a:off x="548640" y="3063240"/>
            <a:ext cx="118872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063240"/>
            <a:ext cx="1005840" cy="411480"/>
          </a:xfrm>
          <a:prstGeom prst="rect">
            <a:avLst/>
          </a:prstGeom>
          <a:noFill/>
        </p:spPr>
        <p:txBody>
          <a:bodyPr wrap="square" lIns="0" rIns="0" tIns="0" bIns="0" anchor="ctr">
            <a:spAutoFit/>
          </a:bodyPr>
          <a:lstStyle/>
          <a:p>
            <a:pPr algn="l"/>
            <a:r>
              <a:rPr sz="1350" b="1" i="0">
                <a:solidFill>
                  <a:srgbClr val="0B0B0B"/>
                </a:solidFill>
                <a:latin typeface="Calibri"/>
              </a:rPr>
              <a:t>Area B</a:t>
            </a:r>
          </a:p>
        </p:txBody>
      </p:sp>
      <p:sp>
        <p:nvSpPr>
          <p:cNvPr id="28" name="Rectangle 27"/>
          <p:cNvSpPr/>
          <p:nvPr/>
        </p:nvSpPr>
        <p:spPr>
          <a:xfrm>
            <a:off x="1737360" y="3063240"/>
            <a:ext cx="114300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28800" y="3063240"/>
            <a:ext cx="960120" cy="411480"/>
          </a:xfrm>
          <a:prstGeom prst="rect">
            <a:avLst/>
          </a:prstGeom>
          <a:noFill/>
        </p:spPr>
        <p:txBody>
          <a:bodyPr wrap="square" lIns="0" rIns="0" tIns="0" bIns="0" anchor="ctr">
            <a:spAutoFit/>
          </a:bodyPr>
          <a:lstStyle/>
          <a:p>
            <a:pPr algn="ctr"/>
            <a:r>
              <a:rPr sz="1350" b="0" i="0">
                <a:solidFill>
                  <a:srgbClr val="0B0B0B"/>
                </a:solidFill>
                <a:latin typeface="Calibri"/>
              </a:rPr>
              <a:t>150</a:t>
            </a:r>
          </a:p>
        </p:txBody>
      </p:sp>
      <p:sp>
        <p:nvSpPr>
          <p:cNvPr id="30" name="Rectangle 29"/>
          <p:cNvSpPr/>
          <p:nvPr/>
        </p:nvSpPr>
        <p:spPr>
          <a:xfrm>
            <a:off x="2880360" y="3063240"/>
            <a:ext cx="114300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71800" y="3063240"/>
            <a:ext cx="960120" cy="411480"/>
          </a:xfrm>
          <a:prstGeom prst="rect">
            <a:avLst/>
          </a:prstGeom>
          <a:noFill/>
        </p:spPr>
        <p:txBody>
          <a:bodyPr wrap="square" lIns="0" rIns="0" tIns="0" bIns="0" anchor="ctr">
            <a:spAutoFit/>
          </a:bodyPr>
          <a:lstStyle/>
          <a:p>
            <a:pPr algn="ctr"/>
            <a:r>
              <a:rPr sz="1350" b="0" i="0">
                <a:solidFill>
                  <a:srgbClr val="0B0B0B"/>
                </a:solidFill>
                <a:latin typeface="Calibri"/>
              </a:rPr>
              <a:t>3</a:t>
            </a:r>
          </a:p>
        </p:txBody>
      </p:sp>
      <p:sp>
        <p:nvSpPr>
          <p:cNvPr id="32" name="Rectangle 31"/>
          <p:cNvSpPr/>
          <p:nvPr/>
        </p:nvSpPr>
        <p:spPr>
          <a:xfrm>
            <a:off x="4023360" y="3063240"/>
            <a:ext cx="114300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0" y="3063240"/>
            <a:ext cx="960120" cy="411480"/>
          </a:xfrm>
          <a:prstGeom prst="rect">
            <a:avLst/>
          </a:prstGeom>
          <a:noFill/>
        </p:spPr>
        <p:txBody>
          <a:bodyPr wrap="square" lIns="0" rIns="0" tIns="0" bIns="0" anchor="ctr">
            <a:spAutoFit/>
          </a:bodyPr>
          <a:lstStyle/>
          <a:p>
            <a:pPr algn="ctr"/>
            <a:r>
              <a:rPr sz="1350" b="0" i="0">
                <a:solidFill>
                  <a:srgbClr val="0B0B0B"/>
                </a:solidFill>
                <a:latin typeface="Calibri"/>
              </a:rPr>
              <a:t>42</a:t>
            </a:r>
          </a:p>
        </p:txBody>
      </p:sp>
      <p:sp>
        <p:nvSpPr>
          <p:cNvPr id="34" name="Rectangle 33"/>
          <p:cNvSpPr/>
          <p:nvPr/>
        </p:nvSpPr>
        <p:spPr>
          <a:xfrm>
            <a:off x="5166360" y="3063240"/>
            <a:ext cx="114300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57800" y="3063240"/>
            <a:ext cx="960120" cy="411480"/>
          </a:xfrm>
          <a:prstGeom prst="rect">
            <a:avLst/>
          </a:prstGeom>
          <a:noFill/>
        </p:spPr>
        <p:txBody>
          <a:bodyPr wrap="square" lIns="0" rIns="0" tIns="0" bIns="0" anchor="ctr">
            <a:spAutoFit/>
          </a:bodyPr>
          <a:lstStyle/>
          <a:p>
            <a:pPr algn="ctr"/>
            <a:r>
              <a:rPr sz="1350" b="0" i="0">
                <a:solidFill>
                  <a:srgbClr val="0B0B0B"/>
                </a:solidFill>
                <a:latin typeface="Calibri"/>
              </a:rPr>
              <a:t>105</a:t>
            </a:r>
          </a:p>
        </p:txBody>
      </p:sp>
      <p:sp>
        <p:nvSpPr>
          <p:cNvPr id="36" name="TextBox 35"/>
          <p:cNvSpPr txBox="1"/>
          <p:nvPr/>
        </p:nvSpPr>
        <p:spPr>
          <a:xfrm>
            <a:off x="6400800" y="1874519"/>
            <a:ext cx="5303520" cy="320040"/>
          </a:xfrm>
          <a:prstGeom prst="rect">
            <a:avLst/>
          </a:prstGeom>
          <a:noFill/>
        </p:spPr>
        <p:txBody>
          <a:bodyPr wrap="square" lIns="0" rIns="0" tIns="0" bIns="0" anchor="t">
            <a:spAutoFit/>
          </a:bodyPr>
          <a:lstStyle/>
          <a:p>
            <a:pPr algn="l"/>
            <a:r>
              <a:rPr sz="1500" b="1" i="0">
                <a:solidFill>
                  <a:srgbClr val="142340"/>
                </a:solidFill>
                <a:latin typeface="Calibri"/>
              </a:rPr>
              <a:t>Step 2: each building gets its area's rates</a:t>
            </a:r>
          </a:p>
        </p:txBody>
      </p:sp>
      <p:sp>
        <p:nvSpPr>
          <p:cNvPr id="37" name="Rectangle 36"/>
          <p:cNvSpPr/>
          <p:nvPr/>
        </p:nvSpPr>
        <p:spPr>
          <a:xfrm>
            <a:off x="6400800" y="2240280"/>
            <a:ext cx="169164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2240280"/>
            <a:ext cx="1508760" cy="411480"/>
          </a:xfrm>
          <a:prstGeom prst="rect">
            <a:avLst/>
          </a:prstGeom>
          <a:noFill/>
        </p:spPr>
        <p:txBody>
          <a:bodyPr wrap="square" lIns="0" rIns="0" tIns="0" bIns="0" anchor="ctr">
            <a:spAutoFit/>
          </a:bodyPr>
          <a:lstStyle/>
          <a:p>
            <a:pPr algn="l"/>
            <a:r>
              <a:rPr sz="1350" b="1" i="0">
                <a:solidFill>
                  <a:srgbClr val="FFFFFF"/>
                </a:solidFill>
                <a:latin typeface="Calibri"/>
              </a:rPr>
              <a:t>Building</a:t>
            </a:r>
          </a:p>
        </p:txBody>
      </p:sp>
      <p:sp>
        <p:nvSpPr>
          <p:cNvPr id="39" name="Rectangle 38"/>
          <p:cNvSpPr/>
          <p:nvPr/>
        </p:nvSpPr>
        <p:spPr>
          <a:xfrm>
            <a:off x="8092440" y="2240280"/>
            <a:ext cx="118872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79" y="2240280"/>
            <a:ext cx="1005840" cy="411480"/>
          </a:xfrm>
          <a:prstGeom prst="rect">
            <a:avLst/>
          </a:prstGeom>
          <a:noFill/>
        </p:spPr>
        <p:txBody>
          <a:bodyPr wrap="square" lIns="0" rIns="0" tIns="0" bIns="0" anchor="ctr">
            <a:spAutoFit/>
          </a:bodyPr>
          <a:lstStyle/>
          <a:p>
            <a:pPr algn="ctr"/>
            <a:r>
              <a:rPr sz="1350" b="1" i="0">
                <a:solidFill>
                  <a:srgbClr val="FFFFFF"/>
                </a:solidFill>
                <a:latin typeface="Calibri"/>
              </a:rPr>
              <a:t>P(g1)</a:t>
            </a:r>
          </a:p>
        </p:txBody>
      </p:sp>
      <p:sp>
        <p:nvSpPr>
          <p:cNvPr id="41" name="Rectangle 40"/>
          <p:cNvSpPr/>
          <p:nvPr/>
        </p:nvSpPr>
        <p:spPr>
          <a:xfrm>
            <a:off x="9281160" y="2240280"/>
            <a:ext cx="118872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72600" y="2240280"/>
            <a:ext cx="1005840" cy="411480"/>
          </a:xfrm>
          <a:prstGeom prst="rect">
            <a:avLst/>
          </a:prstGeom>
          <a:noFill/>
        </p:spPr>
        <p:txBody>
          <a:bodyPr wrap="square" lIns="0" rIns="0" tIns="0" bIns="0" anchor="ctr">
            <a:spAutoFit/>
          </a:bodyPr>
          <a:lstStyle/>
          <a:p>
            <a:pPr algn="ctr"/>
            <a:r>
              <a:rPr sz="1350" b="1" i="0">
                <a:solidFill>
                  <a:srgbClr val="FFFFFF"/>
                </a:solidFill>
                <a:latin typeface="Calibri"/>
              </a:rPr>
              <a:t>P(g2)</a:t>
            </a:r>
          </a:p>
        </p:txBody>
      </p:sp>
      <p:sp>
        <p:nvSpPr>
          <p:cNvPr id="43" name="Rectangle 42"/>
          <p:cNvSpPr/>
          <p:nvPr/>
        </p:nvSpPr>
        <p:spPr>
          <a:xfrm>
            <a:off x="10469880" y="2240280"/>
            <a:ext cx="1188720" cy="411480"/>
          </a:xfrm>
          <a:prstGeom prst="rect">
            <a:avLst/>
          </a:prstGeom>
          <a:solidFill>
            <a:srgbClr val="142340"/>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61320" y="2240280"/>
            <a:ext cx="1005840" cy="411480"/>
          </a:xfrm>
          <a:prstGeom prst="rect">
            <a:avLst/>
          </a:prstGeom>
          <a:noFill/>
        </p:spPr>
        <p:txBody>
          <a:bodyPr wrap="square" lIns="0" rIns="0" tIns="0" bIns="0" anchor="ctr">
            <a:spAutoFit/>
          </a:bodyPr>
          <a:lstStyle/>
          <a:p>
            <a:pPr algn="ctr"/>
            <a:r>
              <a:rPr sz="1350" b="1" i="0">
                <a:solidFill>
                  <a:srgbClr val="FFFFFF"/>
                </a:solidFill>
                <a:latin typeface="Calibri"/>
              </a:rPr>
              <a:t>P(g3)</a:t>
            </a:r>
          </a:p>
        </p:txBody>
      </p:sp>
      <p:sp>
        <p:nvSpPr>
          <p:cNvPr id="45" name="Rectangle 44"/>
          <p:cNvSpPr/>
          <p:nvPr/>
        </p:nvSpPr>
        <p:spPr>
          <a:xfrm>
            <a:off x="6400800" y="2651760"/>
            <a:ext cx="169164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92240" y="2651760"/>
            <a:ext cx="1508760" cy="411480"/>
          </a:xfrm>
          <a:prstGeom prst="rect">
            <a:avLst/>
          </a:prstGeom>
          <a:noFill/>
        </p:spPr>
        <p:txBody>
          <a:bodyPr wrap="square" lIns="0" rIns="0" tIns="0" bIns="0" anchor="ctr">
            <a:spAutoFit/>
          </a:bodyPr>
          <a:lstStyle/>
          <a:p>
            <a:pPr algn="l"/>
            <a:r>
              <a:rPr sz="1350" b="1" i="0">
                <a:solidFill>
                  <a:srgbClr val="0B0B0B"/>
                </a:solidFill>
                <a:latin typeface="Calibri"/>
              </a:rPr>
              <a:t>#1 (area A)</a:t>
            </a:r>
          </a:p>
        </p:txBody>
      </p:sp>
      <p:sp>
        <p:nvSpPr>
          <p:cNvPr id="47" name="Rectangle 46"/>
          <p:cNvSpPr/>
          <p:nvPr/>
        </p:nvSpPr>
        <p:spPr>
          <a:xfrm>
            <a:off x="8092440" y="2651760"/>
            <a:ext cx="118872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83879" y="2651760"/>
            <a:ext cx="1005840" cy="411480"/>
          </a:xfrm>
          <a:prstGeom prst="rect">
            <a:avLst/>
          </a:prstGeom>
          <a:noFill/>
        </p:spPr>
        <p:txBody>
          <a:bodyPr wrap="square" lIns="0" rIns="0" tIns="0" bIns="0" anchor="ctr">
            <a:spAutoFit/>
          </a:bodyPr>
          <a:lstStyle/>
          <a:p>
            <a:pPr algn="ctr"/>
            <a:r>
              <a:rPr sz="1350" b="0" i="0">
                <a:solidFill>
                  <a:srgbClr val="0B0B0B"/>
                </a:solidFill>
                <a:latin typeface="Calibri"/>
              </a:rPr>
              <a:t>0.15</a:t>
            </a:r>
          </a:p>
        </p:txBody>
      </p:sp>
      <p:sp>
        <p:nvSpPr>
          <p:cNvPr id="49" name="Rectangle 48"/>
          <p:cNvSpPr/>
          <p:nvPr/>
        </p:nvSpPr>
        <p:spPr>
          <a:xfrm>
            <a:off x="9281160" y="2651760"/>
            <a:ext cx="118872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72600" y="2651760"/>
            <a:ext cx="1005840" cy="411480"/>
          </a:xfrm>
          <a:prstGeom prst="rect">
            <a:avLst/>
          </a:prstGeom>
          <a:noFill/>
        </p:spPr>
        <p:txBody>
          <a:bodyPr wrap="square" lIns="0" rIns="0" tIns="0" bIns="0" anchor="ctr">
            <a:spAutoFit/>
          </a:bodyPr>
          <a:lstStyle/>
          <a:p>
            <a:pPr algn="ctr"/>
            <a:r>
              <a:rPr sz="1350" b="0" i="0">
                <a:solidFill>
                  <a:srgbClr val="0B0B0B"/>
                </a:solidFill>
                <a:latin typeface="Calibri"/>
              </a:rPr>
              <a:t>0.60</a:t>
            </a:r>
          </a:p>
        </p:txBody>
      </p:sp>
      <p:sp>
        <p:nvSpPr>
          <p:cNvPr id="51" name="Rectangle 50"/>
          <p:cNvSpPr/>
          <p:nvPr/>
        </p:nvSpPr>
        <p:spPr>
          <a:xfrm>
            <a:off x="10469880" y="2651760"/>
            <a:ext cx="1188720" cy="411480"/>
          </a:xfrm>
          <a:prstGeom prst="rect">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61320" y="2651760"/>
            <a:ext cx="1005840" cy="411480"/>
          </a:xfrm>
          <a:prstGeom prst="rect">
            <a:avLst/>
          </a:prstGeom>
          <a:noFill/>
        </p:spPr>
        <p:txBody>
          <a:bodyPr wrap="square" lIns="0" rIns="0" tIns="0" bIns="0" anchor="ctr">
            <a:spAutoFit/>
          </a:bodyPr>
          <a:lstStyle/>
          <a:p>
            <a:pPr algn="ctr"/>
            <a:r>
              <a:rPr sz="1350" b="0" i="0">
                <a:solidFill>
                  <a:srgbClr val="0B0B0B"/>
                </a:solidFill>
                <a:latin typeface="Calibri"/>
              </a:rPr>
              <a:t>0.25</a:t>
            </a:r>
          </a:p>
        </p:txBody>
      </p:sp>
      <p:sp>
        <p:nvSpPr>
          <p:cNvPr id="53" name="Rectangle 52"/>
          <p:cNvSpPr/>
          <p:nvPr/>
        </p:nvSpPr>
        <p:spPr>
          <a:xfrm>
            <a:off x="6400800" y="3063240"/>
            <a:ext cx="169164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92240" y="3063240"/>
            <a:ext cx="1508760" cy="411480"/>
          </a:xfrm>
          <a:prstGeom prst="rect">
            <a:avLst/>
          </a:prstGeom>
          <a:noFill/>
        </p:spPr>
        <p:txBody>
          <a:bodyPr wrap="square" lIns="0" rIns="0" tIns="0" bIns="0" anchor="ctr">
            <a:spAutoFit/>
          </a:bodyPr>
          <a:lstStyle/>
          <a:p>
            <a:pPr algn="l"/>
            <a:r>
              <a:rPr sz="1350" b="1" i="0">
                <a:solidFill>
                  <a:srgbClr val="0B0B0B"/>
                </a:solidFill>
                <a:latin typeface="Calibri"/>
              </a:rPr>
              <a:t>#2 (area B)</a:t>
            </a:r>
          </a:p>
        </p:txBody>
      </p:sp>
      <p:sp>
        <p:nvSpPr>
          <p:cNvPr id="55" name="Rectangle 54"/>
          <p:cNvSpPr/>
          <p:nvPr/>
        </p:nvSpPr>
        <p:spPr>
          <a:xfrm>
            <a:off x="8092440" y="3063240"/>
            <a:ext cx="118872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83879" y="3063240"/>
            <a:ext cx="1005840" cy="411480"/>
          </a:xfrm>
          <a:prstGeom prst="rect">
            <a:avLst/>
          </a:prstGeom>
          <a:noFill/>
        </p:spPr>
        <p:txBody>
          <a:bodyPr wrap="square" lIns="0" rIns="0" tIns="0" bIns="0" anchor="ctr">
            <a:spAutoFit/>
          </a:bodyPr>
          <a:lstStyle/>
          <a:p>
            <a:pPr algn="ctr"/>
            <a:r>
              <a:rPr sz="1350" b="0" i="0">
                <a:solidFill>
                  <a:srgbClr val="0B0B0B"/>
                </a:solidFill>
                <a:latin typeface="Calibri"/>
              </a:rPr>
              <a:t>0.02</a:t>
            </a:r>
          </a:p>
        </p:txBody>
      </p:sp>
      <p:sp>
        <p:nvSpPr>
          <p:cNvPr id="57" name="Rectangle 56"/>
          <p:cNvSpPr/>
          <p:nvPr/>
        </p:nvSpPr>
        <p:spPr>
          <a:xfrm>
            <a:off x="9281160" y="3063240"/>
            <a:ext cx="118872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372600" y="3063240"/>
            <a:ext cx="1005840" cy="411480"/>
          </a:xfrm>
          <a:prstGeom prst="rect">
            <a:avLst/>
          </a:prstGeom>
          <a:noFill/>
        </p:spPr>
        <p:txBody>
          <a:bodyPr wrap="square" lIns="0" rIns="0" tIns="0" bIns="0" anchor="ctr">
            <a:spAutoFit/>
          </a:bodyPr>
          <a:lstStyle/>
          <a:p>
            <a:pPr algn="ctr"/>
            <a:r>
              <a:rPr sz="1350" b="0" i="0">
                <a:solidFill>
                  <a:srgbClr val="0B0B0B"/>
                </a:solidFill>
                <a:latin typeface="Calibri"/>
              </a:rPr>
              <a:t>0.28</a:t>
            </a:r>
          </a:p>
        </p:txBody>
      </p:sp>
      <p:sp>
        <p:nvSpPr>
          <p:cNvPr id="59" name="Rectangle 58"/>
          <p:cNvSpPr/>
          <p:nvPr/>
        </p:nvSpPr>
        <p:spPr>
          <a:xfrm>
            <a:off x="10469880" y="3063240"/>
            <a:ext cx="1188720" cy="411480"/>
          </a:xfrm>
          <a:prstGeom prst="rect">
            <a:avLst/>
          </a:prstGeom>
          <a:solidFill>
            <a:srgbClr val="FFFFFF"/>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561320" y="3063240"/>
            <a:ext cx="1005840" cy="411480"/>
          </a:xfrm>
          <a:prstGeom prst="rect">
            <a:avLst/>
          </a:prstGeom>
          <a:noFill/>
        </p:spPr>
        <p:txBody>
          <a:bodyPr wrap="square" lIns="0" rIns="0" tIns="0" bIns="0" anchor="ctr">
            <a:spAutoFit/>
          </a:bodyPr>
          <a:lstStyle/>
          <a:p>
            <a:pPr algn="ctr"/>
            <a:r>
              <a:rPr sz="1350" b="0" i="0">
                <a:solidFill>
                  <a:srgbClr val="0B0B0B"/>
                </a:solidFill>
                <a:latin typeface="Calibri"/>
              </a:rPr>
              <a:t>0.70</a:t>
            </a:r>
          </a:p>
        </p:txBody>
      </p:sp>
      <p:cxnSp>
        <p:nvCxnSpPr>
          <p:cNvPr id="61" name="Connector 60"/>
          <p:cNvCxnSpPr/>
          <p:nvPr/>
        </p:nvCxnSpPr>
        <p:spPr>
          <a:xfrm>
            <a:off x="6035040" y="2834640"/>
            <a:ext cx="32004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548640" y="3611880"/>
            <a:ext cx="11064240" cy="365760"/>
          </a:xfrm>
          <a:prstGeom prst="rect">
            <a:avLst/>
          </a:prstGeom>
          <a:noFill/>
        </p:spPr>
        <p:txBody>
          <a:bodyPr wrap="square" lIns="0" rIns="0" tIns="0" bIns="0" anchor="t">
            <a:spAutoFit/>
          </a:bodyPr>
          <a:lstStyle/>
          <a:p>
            <a:pPr algn="l"/>
            <a:r>
              <a:rPr sz="1350" b="1" i="0">
                <a:solidFill>
                  <a:srgbClr val="142340"/>
                </a:solidFill>
                <a:latin typeface="Calibri"/>
              </a:rPr>
              <a:t>Result: </a:t>
            </a:r>
            <a:r>
              <a:rPr sz="1350" b="0" i="0">
                <a:solidFill>
                  <a:srgbClr val="52514E"/>
                </a:solidFill>
                <a:latin typeface="Calibri"/>
              </a:rPr>
              <a:t>an ID becomes 3 meaningful numbers, “how badly was this neighbourhood hit?”, for level 2 and level 3: 6 columns instead of thousands. </a:t>
            </a:r>
            <a:r>
              <a:rPr sz="1350" b="0" i="0">
                <a:solidFill>
                  <a:srgbClr val="8A8984"/>
                </a:solidFill>
                <a:latin typeface="Calibri"/>
              </a:rPr>
              <a:t>(Illustrative areas.)</a:t>
            </a:r>
          </a:p>
        </p:txBody>
      </p:sp>
      <p:sp>
        <p:nvSpPr>
          <p:cNvPr id="63" name="Rounded Rectangle 62"/>
          <p:cNvSpPr/>
          <p:nvPr/>
        </p:nvSpPr>
        <p:spPr>
          <a:xfrm>
            <a:off x="548640" y="4160520"/>
            <a:ext cx="5394960" cy="2057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7240" y="4279392"/>
            <a:ext cx="4937760" cy="320040"/>
          </a:xfrm>
          <a:prstGeom prst="rect">
            <a:avLst/>
          </a:prstGeom>
          <a:noFill/>
        </p:spPr>
        <p:txBody>
          <a:bodyPr wrap="square" lIns="0" rIns="0" tIns="0" bIns="0" anchor="t">
            <a:spAutoFit/>
          </a:bodyPr>
          <a:lstStyle/>
          <a:p>
            <a:pPr algn="l"/>
            <a:r>
              <a:rPr sz="1500" b="1" i="0">
                <a:solidFill>
                  <a:srgbClr val="142340"/>
                </a:solidFill>
                <a:latin typeface="Calibri"/>
              </a:rPr>
              <a:t>Safety 1: smoothing for small areas</a:t>
            </a:r>
          </a:p>
        </p:txBody>
      </p:sp>
      <p:sp>
        <p:nvSpPr>
          <p:cNvPr id="65" name="TextBox 64"/>
          <p:cNvSpPr txBox="1"/>
          <p:nvPr/>
        </p:nvSpPr>
        <p:spPr>
          <a:xfrm>
            <a:off x="777240" y="4663440"/>
            <a:ext cx="4983480" cy="1508760"/>
          </a:xfrm>
          <a:prstGeom prst="rect">
            <a:avLst/>
          </a:prstGeom>
          <a:noFill/>
        </p:spPr>
        <p:txBody>
          <a:bodyPr wrap="square" lIns="0" rIns="0" tIns="0" bIns="0" anchor="t">
            <a:spAutoFit/>
          </a:bodyPr>
          <a:lstStyle/>
          <a:p>
            <a:pPr algn="l">
              <a:spcAft>
                <a:spcPts val="500"/>
              </a:spcAft>
            </a:pPr>
            <a:r>
              <a:rPr sz="1300" b="0" i="0">
                <a:solidFill>
                  <a:srgbClr val="52514E"/>
                </a:solidFill>
                <a:latin typeface="Calibri"/>
              </a:rPr>
              <a:t>An area with 3 buildings, all destroyed, has a raw grade-3 rate of 100%, but 3 buildings is weak evidence.</a:t>
            </a:r>
          </a:p>
          <a:p>
            <a:pPr algn="l">
              <a:spcAft>
                <a:spcPts val="500"/>
              </a:spcAft>
            </a:pPr>
            <a:r>
              <a:rPr sz="1300" b="0" i="0">
                <a:solidFill>
                  <a:srgbClr val="52514E"/>
                </a:solidFill>
                <a:latin typeface="Calibri"/>
              </a:rPr>
              <a:t>Small areas are pulled toward the overall mix (10% / 57% / 33%); unseen areas get exactly that mix.</a:t>
            </a:r>
          </a:p>
        </p:txBody>
      </p:sp>
      <p:sp>
        <p:nvSpPr>
          <p:cNvPr id="66" name="Rounded Rectangle 65"/>
          <p:cNvSpPr/>
          <p:nvPr/>
        </p:nvSpPr>
        <p:spPr>
          <a:xfrm>
            <a:off x="6263640" y="4160520"/>
            <a:ext cx="5394960" cy="2057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92240" y="4279392"/>
            <a:ext cx="4937760" cy="320040"/>
          </a:xfrm>
          <a:prstGeom prst="rect">
            <a:avLst/>
          </a:prstGeom>
          <a:noFill/>
        </p:spPr>
        <p:txBody>
          <a:bodyPr wrap="square" lIns="0" rIns="0" tIns="0" bIns="0" anchor="t">
            <a:spAutoFit/>
          </a:bodyPr>
          <a:lstStyle/>
          <a:p>
            <a:pPr algn="l"/>
            <a:r>
              <a:rPr sz="1500" b="1" i="0">
                <a:solidFill>
                  <a:srgbClr val="142340"/>
                </a:solidFill>
                <a:latin typeface="Calibri"/>
              </a:rPr>
              <a:t>Safety 2: cross-fitting, no peeking at the answer</a:t>
            </a:r>
          </a:p>
        </p:txBody>
      </p:sp>
      <p:sp>
        <p:nvSpPr>
          <p:cNvPr id="68" name="Rounded Rectangle 67"/>
          <p:cNvSpPr/>
          <p:nvPr/>
        </p:nvSpPr>
        <p:spPr>
          <a:xfrm>
            <a:off x="6492240" y="4681728"/>
            <a:ext cx="896112" cy="45720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92240" y="4681728"/>
            <a:ext cx="896112" cy="457200"/>
          </a:xfrm>
          <a:prstGeom prst="rect">
            <a:avLst/>
          </a:prstGeom>
          <a:noFill/>
        </p:spPr>
        <p:txBody>
          <a:bodyPr wrap="square" lIns="0" rIns="0" tIns="0" bIns="0" anchor="ctr">
            <a:spAutoFit/>
          </a:bodyPr>
          <a:lstStyle/>
          <a:p>
            <a:pPr algn="ctr"/>
            <a:r>
              <a:rPr sz="1200" b="1" i="0">
                <a:solidFill>
                  <a:srgbClr val="FFFFFF"/>
                </a:solidFill>
                <a:latin typeface="Calibri"/>
              </a:rPr>
              <a:t>encode</a:t>
            </a:r>
          </a:p>
        </p:txBody>
      </p:sp>
      <p:sp>
        <p:nvSpPr>
          <p:cNvPr id="70" name="Rounded Rectangle 69"/>
          <p:cNvSpPr/>
          <p:nvPr/>
        </p:nvSpPr>
        <p:spPr>
          <a:xfrm>
            <a:off x="7479792" y="4681728"/>
            <a:ext cx="896112" cy="457200"/>
          </a:xfrm>
          <a:prstGeom prst="roundRect">
            <a:avLst>
              <a:gd name="adj" fmla="val 8000"/>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479792" y="4681728"/>
            <a:ext cx="896112" cy="457200"/>
          </a:xfrm>
          <a:prstGeom prst="rect">
            <a:avLst/>
          </a:prstGeom>
          <a:noFill/>
        </p:spPr>
        <p:txBody>
          <a:bodyPr wrap="square" lIns="0" rIns="0" tIns="0" bIns="0" anchor="ctr">
            <a:spAutoFit/>
          </a:bodyPr>
          <a:lstStyle/>
          <a:p>
            <a:pPr algn="ctr"/>
            <a:r>
              <a:rPr sz="1200" b="0" i="0">
                <a:solidFill>
                  <a:srgbClr val="52514E"/>
                </a:solidFill>
                <a:latin typeface="Calibri"/>
              </a:rPr>
              <a:t>learn</a:t>
            </a:r>
          </a:p>
        </p:txBody>
      </p:sp>
      <p:sp>
        <p:nvSpPr>
          <p:cNvPr id="72" name="Rounded Rectangle 71"/>
          <p:cNvSpPr/>
          <p:nvPr/>
        </p:nvSpPr>
        <p:spPr>
          <a:xfrm>
            <a:off x="8467344" y="4681728"/>
            <a:ext cx="896112" cy="457200"/>
          </a:xfrm>
          <a:prstGeom prst="roundRect">
            <a:avLst>
              <a:gd name="adj" fmla="val 8000"/>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67344" y="4681728"/>
            <a:ext cx="896112" cy="457200"/>
          </a:xfrm>
          <a:prstGeom prst="rect">
            <a:avLst/>
          </a:prstGeom>
          <a:noFill/>
        </p:spPr>
        <p:txBody>
          <a:bodyPr wrap="square" lIns="0" rIns="0" tIns="0" bIns="0" anchor="ctr">
            <a:spAutoFit/>
          </a:bodyPr>
          <a:lstStyle/>
          <a:p>
            <a:pPr algn="ctr"/>
            <a:r>
              <a:rPr sz="1200" b="0" i="0">
                <a:solidFill>
                  <a:srgbClr val="52514E"/>
                </a:solidFill>
                <a:latin typeface="Calibri"/>
              </a:rPr>
              <a:t>learn</a:t>
            </a:r>
          </a:p>
        </p:txBody>
      </p:sp>
      <p:sp>
        <p:nvSpPr>
          <p:cNvPr id="74" name="Rounded Rectangle 73"/>
          <p:cNvSpPr/>
          <p:nvPr/>
        </p:nvSpPr>
        <p:spPr>
          <a:xfrm>
            <a:off x="9454896" y="4681728"/>
            <a:ext cx="896112" cy="457200"/>
          </a:xfrm>
          <a:prstGeom prst="roundRect">
            <a:avLst>
              <a:gd name="adj" fmla="val 8000"/>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454896" y="4681728"/>
            <a:ext cx="896112" cy="457200"/>
          </a:xfrm>
          <a:prstGeom prst="rect">
            <a:avLst/>
          </a:prstGeom>
          <a:noFill/>
        </p:spPr>
        <p:txBody>
          <a:bodyPr wrap="square" lIns="0" rIns="0" tIns="0" bIns="0" anchor="ctr">
            <a:spAutoFit/>
          </a:bodyPr>
          <a:lstStyle/>
          <a:p>
            <a:pPr algn="ctr"/>
            <a:r>
              <a:rPr sz="1200" b="0" i="0">
                <a:solidFill>
                  <a:srgbClr val="52514E"/>
                </a:solidFill>
                <a:latin typeface="Calibri"/>
              </a:rPr>
              <a:t>learn</a:t>
            </a:r>
          </a:p>
        </p:txBody>
      </p:sp>
      <p:sp>
        <p:nvSpPr>
          <p:cNvPr id="76" name="Rounded Rectangle 75"/>
          <p:cNvSpPr/>
          <p:nvPr/>
        </p:nvSpPr>
        <p:spPr>
          <a:xfrm>
            <a:off x="10442448" y="4681728"/>
            <a:ext cx="896112" cy="457200"/>
          </a:xfrm>
          <a:prstGeom prst="roundRect">
            <a:avLst>
              <a:gd name="adj" fmla="val 8000"/>
            </a:avLst>
          </a:prstGeom>
          <a:solidFill>
            <a:srgbClr val="F1F5FB"/>
          </a:solidFill>
          <a:ln w="15875">
            <a:solidFill>
              <a:srgbClr val="D9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442448" y="4681728"/>
            <a:ext cx="896112" cy="457200"/>
          </a:xfrm>
          <a:prstGeom prst="rect">
            <a:avLst/>
          </a:prstGeom>
          <a:noFill/>
        </p:spPr>
        <p:txBody>
          <a:bodyPr wrap="square" lIns="0" rIns="0" tIns="0" bIns="0" anchor="ctr">
            <a:spAutoFit/>
          </a:bodyPr>
          <a:lstStyle/>
          <a:p>
            <a:pPr algn="ctr"/>
            <a:r>
              <a:rPr sz="1200" b="0" i="0">
                <a:solidFill>
                  <a:srgbClr val="52514E"/>
                </a:solidFill>
                <a:latin typeface="Calibri"/>
              </a:rPr>
              <a:t>learn</a:t>
            </a:r>
          </a:p>
        </p:txBody>
      </p:sp>
      <p:sp>
        <p:nvSpPr>
          <p:cNvPr id="78" name="TextBox 77"/>
          <p:cNvSpPr txBox="1"/>
          <p:nvPr/>
        </p:nvSpPr>
        <p:spPr>
          <a:xfrm>
            <a:off x="6492240" y="5257800"/>
            <a:ext cx="4983480" cy="914400"/>
          </a:xfrm>
          <a:prstGeom prst="rect">
            <a:avLst/>
          </a:prstGeom>
          <a:noFill/>
        </p:spPr>
        <p:txBody>
          <a:bodyPr wrap="square" lIns="0" rIns="0" tIns="0" bIns="0" anchor="t">
            <a:spAutoFit/>
          </a:bodyPr>
          <a:lstStyle/>
          <a:p>
            <a:pPr algn="l"/>
            <a:r>
              <a:rPr sz="1300" b="0" i="0">
                <a:solidFill>
                  <a:srgbClr val="52514E"/>
                </a:solidFill>
                <a:latin typeface="Calibri"/>
              </a:rPr>
              <a:t>Training data split into 5 parts: each part is encoded with rates learned from the other 4, so no building's own grade is used in its own feature. Repeat for every part.</a:t>
            </a:r>
          </a:p>
        </p:txBody>
      </p:sp>
      <p:sp>
        <p:nvSpPr>
          <p:cNvPr id="79" name="TextBox 78"/>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80" name="TextBox 79"/>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GEO TARGET ENCODING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Target encoding gives the biggest jump of the project</a:t>
            </a:r>
          </a:p>
        </p:txBody>
      </p:sp>
      <p:sp>
        <p:nvSpPr>
          <p:cNvPr id="4" name="Rounded Rectangle 3"/>
          <p:cNvSpPr/>
          <p:nvPr/>
        </p:nvSpPr>
        <p:spPr>
          <a:xfrm>
            <a:off x="548640" y="1600200"/>
            <a:ext cx="4663440" cy="452628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114800" cy="365760"/>
          </a:xfrm>
          <a:prstGeom prst="rect">
            <a:avLst/>
          </a:prstGeom>
          <a:noFill/>
        </p:spPr>
        <p:txBody>
          <a:bodyPr wrap="square" lIns="0" rIns="0" tIns="0" bIns="0" anchor="t">
            <a:spAutoFit/>
          </a:bodyPr>
          <a:lstStyle/>
          <a:p>
            <a:pPr algn="l"/>
            <a:r>
              <a:rPr sz="1600" b="1" i="0">
                <a:solidFill>
                  <a:srgbClr val="86B6EF"/>
                </a:solidFill>
                <a:latin typeface="Calibri"/>
              </a:rPr>
              <a:t>CV micro-F1</a:t>
            </a:r>
          </a:p>
        </p:txBody>
      </p:sp>
      <p:sp>
        <p:nvSpPr>
          <p:cNvPr id="6" name="TextBox 5"/>
          <p:cNvSpPr txBox="1"/>
          <p:nvPr/>
        </p:nvSpPr>
        <p:spPr>
          <a:xfrm>
            <a:off x="868680" y="2331720"/>
            <a:ext cx="2011680" cy="640080"/>
          </a:xfrm>
          <a:prstGeom prst="rect">
            <a:avLst/>
          </a:prstGeom>
          <a:noFill/>
        </p:spPr>
        <p:txBody>
          <a:bodyPr wrap="square" lIns="0" rIns="0" tIns="0" bIns="0" anchor="t">
            <a:spAutoFit/>
          </a:bodyPr>
          <a:lstStyle/>
          <a:p>
            <a:pPr algn="l"/>
            <a:r>
              <a:rPr sz="3600" b="1" i="0">
                <a:solidFill>
                  <a:srgbClr val="FFFFFF"/>
                </a:solidFill>
                <a:latin typeface="Cambria"/>
              </a:rPr>
              <a:t>0.591</a:t>
            </a:r>
          </a:p>
        </p:txBody>
      </p:sp>
      <p:sp>
        <p:nvSpPr>
          <p:cNvPr id="7" name="TextBox 6"/>
          <p:cNvSpPr txBox="1"/>
          <p:nvPr/>
        </p:nvSpPr>
        <p:spPr>
          <a:xfrm>
            <a:off x="2788920" y="2514600"/>
            <a:ext cx="2286000" cy="548640"/>
          </a:xfrm>
          <a:prstGeom prst="rect">
            <a:avLst/>
          </a:prstGeom>
          <a:noFill/>
        </p:spPr>
        <p:txBody>
          <a:bodyPr wrap="square" lIns="0" rIns="0" tIns="0" bIns="0" anchor="t">
            <a:spAutoFit/>
          </a:bodyPr>
          <a:lstStyle/>
          <a:p>
            <a:pPr algn="l"/>
            <a:r>
              <a:rPr sz="1400" b="0" i="0">
                <a:solidFill>
                  <a:srgbClr val="FFFFFF"/>
                </a:solidFill>
                <a:latin typeface="Calibri"/>
              </a:rPr>
              <a:t>E1: structure only</a:t>
            </a:r>
          </a:p>
        </p:txBody>
      </p:sp>
      <p:sp>
        <p:nvSpPr>
          <p:cNvPr id="8" name="TextBox 7"/>
          <p:cNvSpPr txBox="1"/>
          <p:nvPr/>
        </p:nvSpPr>
        <p:spPr>
          <a:xfrm>
            <a:off x="868680" y="3520439"/>
            <a:ext cx="2011680" cy="640080"/>
          </a:xfrm>
          <a:prstGeom prst="rect">
            <a:avLst/>
          </a:prstGeom>
          <a:noFill/>
        </p:spPr>
        <p:txBody>
          <a:bodyPr wrap="square" lIns="0" rIns="0" tIns="0" bIns="0" anchor="t">
            <a:spAutoFit/>
          </a:bodyPr>
          <a:lstStyle/>
          <a:p>
            <a:pPr algn="l"/>
            <a:r>
              <a:rPr sz="3600" b="1" i="0">
                <a:solidFill>
                  <a:srgbClr val="FFFFFF"/>
                </a:solidFill>
                <a:latin typeface="Cambria"/>
              </a:rPr>
              <a:t>0.672</a:t>
            </a:r>
          </a:p>
        </p:txBody>
      </p:sp>
      <p:sp>
        <p:nvSpPr>
          <p:cNvPr id="9" name="TextBox 8"/>
          <p:cNvSpPr txBox="1"/>
          <p:nvPr/>
        </p:nvSpPr>
        <p:spPr>
          <a:xfrm>
            <a:off x="2788920" y="3703320"/>
            <a:ext cx="2286000" cy="548640"/>
          </a:xfrm>
          <a:prstGeom prst="rect">
            <a:avLst/>
          </a:prstGeom>
          <a:noFill/>
        </p:spPr>
        <p:txBody>
          <a:bodyPr wrap="square" lIns="0" rIns="0" tIns="0" bIns="0" anchor="t">
            <a:spAutoFit/>
          </a:bodyPr>
          <a:lstStyle/>
          <a:p>
            <a:pPr algn="l"/>
            <a:r>
              <a:rPr sz="1400" b="0" i="0">
                <a:solidFill>
                  <a:srgbClr val="FFFFFF"/>
                </a:solidFill>
                <a:latin typeface="Calibri"/>
              </a:rPr>
              <a:t>E2: + region (one-hot)</a:t>
            </a:r>
          </a:p>
        </p:txBody>
      </p:sp>
      <p:sp>
        <p:nvSpPr>
          <p:cNvPr id="10" name="TextBox 9"/>
          <p:cNvSpPr txBox="1"/>
          <p:nvPr/>
        </p:nvSpPr>
        <p:spPr>
          <a:xfrm>
            <a:off x="868680" y="4709160"/>
            <a:ext cx="2011680" cy="640080"/>
          </a:xfrm>
          <a:prstGeom prst="rect">
            <a:avLst/>
          </a:prstGeom>
          <a:noFill/>
        </p:spPr>
        <p:txBody>
          <a:bodyPr wrap="square" lIns="0" rIns="0" tIns="0" bIns="0" anchor="t">
            <a:spAutoFit/>
          </a:bodyPr>
          <a:lstStyle/>
          <a:p>
            <a:pPr algn="l"/>
            <a:r>
              <a:rPr sz="3600" b="1" i="0">
                <a:solidFill>
                  <a:srgbClr val="EB6834"/>
                </a:solidFill>
                <a:latin typeface="Cambria"/>
              </a:rPr>
              <a:t>0.735</a:t>
            </a:r>
          </a:p>
        </p:txBody>
      </p:sp>
      <p:sp>
        <p:nvSpPr>
          <p:cNvPr id="11" name="TextBox 10"/>
          <p:cNvSpPr txBox="1"/>
          <p:nvPr/>
        </p:nvSpPr>
        <p:spPr>
          <a:xfrm>
            <a:off x="2788920" y="4892040"/>
            <a:ext cx="2286000" cy="548640"/>
          </a:xfrm>
          <a:prstGeom prst="rect">
            <a:avLst/>
          </a:prstGeom>
          <a:noFill/>
        </p:spPr>
        <p:txBody>
          <a:bodyPr wrap="square" lIns="0" rIns="0" tIns="0" bIns="0" anchor="t">
            <a:spAutoFit/>
          </a:bodyPr>
          <a:lstStyle/>
          <a:p>
            <a:pPr algn="l"/>
            <a:r>
              <a:rPr sz="1400" b="0" i="0">
                <a:solidFill>
                  <a:srgbClr val="FFFFFF"/>
                </a:solidFill>
                <a:latin typeface="Calibri"/>
              </a:rPr>
              <a:t>E3: + target-encoded geo 2 &amp; 3</a:t>
            </a:r>
          </a:p>
        </p:txBody>
      </p:sp>
      <p:sp>
        <p:nvSpPr>
          <p:cNvPr id="12" name="TextBox 11"/>
          <p:cNvSpPr txBox="1"/>
          <p:nvPr/>
        </p:nvSpPr>
        <p:spPr>
          <a:xfrm>
            <a:off x="868680" y="5623560"/>
            <a:ext cx="4114800" cy="365760"/>
          </a:xfrm>
          <a:prstGeom prst="rect">
            <a:avLst/>
          </a:prstGeom>
          <a:noFill/>
        </p:spPr>
        <p:txBody>
          <a:bodyPr wrap="square" lIns="0" rIns="0" tIns="0" bIns="0" anchor="t">
            <a:spAutoFit/>
          </a:bodyPr>
          <a:lstStyle/>
          <a:p>
            <a:pPr algn="l"/>
            <a:r>
              <a:rPr sz="1500" b="1" i="0">
                <a:solidFill>
                  <a:srgbClr val="EB6834"/>
                </a:solidFill>
                <a:latin typeface="Calibri"/>
              </a:rPr>
              <a:t>Target encoding alone: +6.3 pp</a:t>
            </a:r>
          </a:p>
        </p:txBody>
      </p:sp>
      <p:sp>
        <p:nvSpPr>
          <p:cNvPr id="13" name="TextBox 12"/>
          <p:cNvSpPr txBox="1"/>
          <p:nvPr/>
        </p:nvSpPr>
        <p:spPr>
          <a:xfrm>
            <a:off x="5669280" y="1645920"/>
            <a:ext cx="5943600" cy="365760"/>
          </a:xfrm>
          <a:prstGeom prst="rect">
            <a:avLst/>
          </a:prstGeom>
          <a:noFill/>
        </p:spPr>
        <p:txBody>
          <a:bodyPr wrap="square" lIns="0" rIns="0" tIns="0" bIns="0" anchor="t">
            <a:spAutoFit/>
          </a:bodyPr>
          <a:lstStyle/>
          <a:p>
            <a:pPr algn="l"/>
            <a:r>
              <a:rPr sz="1800" b="1" i="0">
                <a:solidFill>
                  <a:srgbClr val="142340"/>
                </a:solidFill>
                <a:latin typeface="Calibri"/>
              </a:rPr>
              <a:t>Recap</a:t>
            </a:r>
          </a:p>
        </p:txBody>
      </p:sp>
      <p:sp>
        <p:nvSpPr>
          <p:cNvPr id="14" name="Rounded Rectangle 13"/>
          <p:cNvSpPr/>
          <p:nvPr/>
        </p:nvSpPr>
        <p:spPr>
          <a:xfrm>
            <a:off x="5669280" y="2103120"/>
            <a:ext cx="1737360" cy="914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2194560"/>
            <a:ext cx="1554480" cy="731520"/>
          </a:xfrm>
          <a:prstGeom prst="rect">
            <a:avLst/>
          </a:prstGeom>
          <a:noFill/>
        </p:spPr>
        <p:txBody>
          <a:bodyPr wrap="square" lIns="0" rIns="0" tIns="0" bIns="0" anchor="ctr">
            <a:spAutoFit/>
          </a:bodyPr>
          <a:lstStyle/>
          <a:p>
            <a:pPr algn="ctr"/>
            <a:r>
              <a:rPr sz="1300" b="0" i="0">
                <a:solidFill>
                  <a:srgbClr val="142340"/>
                </a:solidFill>
                <a:latin typeface="Calibri"/>
              </a:rPr>
              <a:t>village id
(11,595 levels)</a:t>
            </a:r>
          </a:p>
        </p:txBody>
      </p:sp>
      <p:cxnSp>
        <p:nvCxnSpPr>
          <p:cNvPr id="16" name="Connector 15"/>
          <p:cNvCxnSpPr/>
          <p:nvPr/>
        </p:nvCxnSpPr>
        <p:spPr>
          <a:xfrm>
            <a:off x="7452360" y="2560320"/>
            <a:ext cx="54864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92440" y="2103120"/>
            <a:ext cx="1051560" cy="914400"/>
          </a:xfrm>
          <a:prstGeom prst="roundRect">
            <a:avLst>
              <a:gd name="adj" fmla="val 8000"/>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2103120"/>
            <a:ext cx="1051560" cy="914400"/>
          </a:xfrm>
          <a:prstGeom prst="rect">
            <a:avLst/>
          </a:prstGeom>
          <a:noFill/>
        </p:spPr>
        <p:txBody>
          <a:bodyPr wrap="square" lIns="0" rIns="0" tIns="0" bIns="0" anchor="ctr">
            <a:spAutoFit/>
          </a:bodyPr>
          <a:lstStyle/>
          <a:p>
            <a:pPr algn="ctr"/>
            <a:r>
              <a:rPr sz="1400" b="1" i="0">
                <a:solidFill>
                  <a:srgbClr val="0B0B0B"/>
                </a:solidFill>
                <a:latin typeface="Calibri"/>
              </a:rPr>
              <a:t>P(g1)</a:t>
            </a:r>
          </a:p>
        </p:txBody>
      </p:sp>
      <p:sp>
        <p:nvSpPr>
          <p:cNvPr id="19" name="Rounded Rectangle 18"/>
          <p:cNvSpPr/>
          <p:nvPr/>
        </p:nvSpPr>
        <p:spPr>
          <a:xfrm>
            <a:off x="9281160" y="2103120"/>
            <a:ext cx="1051560" cy="9144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1160" y="2103120"/>
            <a:ext cx="1051560" cy="914400"/>
          </a:xfrm>
          <a:prstGeom prst="rect">
            <a:avLst/>
          </a:prstGeom>
          <a:noFill/>
        </p:spPr>
        <p:txBody>
          <a:bodyPr wrap="square" lIns="0" rIns="0" tIns="0" bIns="0" anchor="ctr">
            <a:spAutoFit/>
          </a:bodyPr>
          <a:lstStyle/>
          <a:p>
            <a:pPr algn="ctr"/>
            <a:r>
              <a:rPr sz="1400" b="1" i="0">
                <a:solidFill>
                  <a:srgbClr val="FFFFFF"/>
                </a:solidFill>
                <a:latin typeface="Calibri"/>
              </a:rPr>
              <a:t>P(g2)</a:t>
            </a:r>
          </a:p>
        </p:txBody>
      </p:sp>
      <p:sp>
        <p:nvSpPr>
          <p:cNvPr id="21" name="Rounded Rectangle 20"/>
          <p:cNvSpPr/>
          <p:nvPr/>
        </p:nvSpPr>
        <p:spPr>
          <a:xfrm>
            <a:off x="10469880" y="2103120"/>
            <a:ext cx="1051560" cy="914400"/>
          </a:xfrm>
          <a:prstGeom prst="roundRect">
            <a:avLst>
              <a:gd name="adj" fmla="val 8000"/>
            </a:avLst>
          </a:prstGeom>
          <a:solidFill>
            <a:srgbClr val="1042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69880" y="2103120"/>
            <a:ext cx="1051560" cy="914400"/>
          </a:xfrm>
          <a:prstGeom prst="rect">
            <a:avLst/>
          </a:prstGeom>
          <a:noFill/>
        </p:spPr>
        <p:txBody>
          <a:bodyPr wrap="square" lIns="0" rIns="0" tIns="0" bIns="0" anchor="ctr">
            <a:spAutoFit/>
          </a:bodyPr>
          <a:lstStyle/>
          <a:p>
            <a:pPr algn="ctr"/>
            <a:r>
              <a:rPr sz="1400" b="1" i="0">
                <a:solidFill>
                  <a:srgbClr val="FFFFFF"/>
                </a:solidFill>
                <a:latin typeface="Calibri"/>
              </a:rPr>
              <a:t>P(g3)</a:t>
            </a:r>
          </a:p>
        </p:txBody>
      </p:sp>
      <p:sp>
        <p:nvSpPr>
          <p:cNvPr id="23" name="TextBox 22"/>
          <p:cNvSpPr txBox="1"/>
          <p:nvPr/>
        </p:nvSpPr>
        <p:spPr>
          <a:xfrm>
            <a:off x="5669280" y="3291840"/>
            <a:ext cx="5989320" cy="2834640"/>
          </a:xfrm>
          <a:prstGeom prst="rect">
            <a:avLst/>
          </a:prstGeom>
          <a:noFill/>
        </p:spPr>
        <p:txBody>
          <a:bodyPr wrap="square" lIns="0" rIns="0" tIns="0" bIns="0" anchor="t">
            <a:spAutoFit/>
          </a:bodyPr>
          <a:lstStyle/>
          <a:p>
            <a:pPr algn="l">
              <a:spcAft>
                <a:spcPts val="1000"/>
              </a:spcAft>
            </a:pPr>
            <a:r>
              <a:rPr sz="1500" b="1" i="0">
                <a:solidFill>
                  <a:srgbClr val="142340"/>
                </a:solidFill>
                <a:latin typeface="Calibri"/>
              </a:rPr>
              <a:t>Compact: </a:t>
            </a:r>
            <a:r>
              <a:rPr sz="1500" b="0" i="0">
                <a:solidFill>
                  <a:srgbClr val="52514E"/>
                </a:solidFill>
                <a:latin typeface="Calibri"/>
              </a:rPr>
              <a:t>3 numbers per level instead of 13,009 one-hot columns.</a:t>
            </a:r>
          </a:p>
          <a:p>
            <a:pPr algn="l">
              <a:spcAft>
                <a:spcPts val="1000"/>
              </a:spcAft>
            </a:pPr>
            <a:r>
              <a:rPr sz="1500" b="1" i="0">
                <a:solidFill>
                  <a:srgbClr val="142340"/>
                </a:solidFill>
                <a:latin typeface="Calibri"/>
              </a:rPr>
              <a:t>Smoothed: </a:t>
            </a:r>
            <a:r>
              <a:rPr sz="1500" b="0" i="0">
                <a:solidFill>
                  <a:srgbClr val="52514E"/>
                </a:solidFill>
                <a:latin typeface="Calibri"/>
              </a:rPr>
              <a:t>rare villages shrink toward the overall class mix.</a:t>
            </a:r>
          </a:p>
          <a:p>
            <a:pPr algn="l">
              <a:spcAft>
                <a:spcPts val="1000"/>
              </a:spcAft>
            </a:pPr>
            <a:r>
              <a:rPr sz="1500" b="1" i="0">
                <a:solidFill>
                  <a:srgbClr val="142340"/>
                </a:solidFill>
                <a:latin typeface="Calibri"/>
              </a:rPr>
              <a:t>Leakage-safe: </a:t>
            </a:r>
            <a:r>
              <a:rPr sz="1500" b="0" i="0">
                <a:solidFill>
                  <a:srgbClr val="52514E"/>
                </a:solidFill>
                <a:latin typeface="Calibri"/>
              </a:rPr>
              <a:t>cross-fitted, so no building ever sees its own label, and re-fitted inside every CV fold.</a:t>
            </a:r>
          </a:p>
          <a:p>
            <a:pPr algn="l">
              <a:spcAft>
                <a:spcPts val="1000"/>
              </a:spcAft>
            </a:pPr>
            <a:r>
              <a:rPr sz="1500" b="1" i="0">
                <a:solidFill>
                  <a:srgbClr val="142340"/>
                </a:solidFill>
                <a:latin typeface="Calibri"/>
              </a:rPr>
              <a:t>Interpretable: </a:t>
            </a:r>
            <a:r>
              <a:rPr sz="1500" b="0" i="0">
                <a:solidFill>
                  <a:srgbClr val="52514E"/>
                </a:solidFill>
                <a:latin typeface="Calibri"/>
              </a:rPr>
              <a:t>“how badly was this neighbourhood hit?”</a:t>
            </a:r>
          </a:p>
        </p:txBody>
      </p:sp>
      <p:sp>
        <p:nvSpPr>
          <p:cNvPr id="24" name="TextBox 23"/>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5" name="TextBox 24"/>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ORDINAL VS MULTINOMIAL</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Does respecting the order of damage grades help?</a:t>
            </a:r>
          </a:p>
        </p:txBody>
      </p:sp>
      <p:pic>
        <p:nvPicPr>
          <p:cNvPr id="4" name="Picture 3" descr="fig12_recall_comparison.png"/>
          <p:cNvPicPr>
            <a:picLocks noChangeAspect="1"/>
          </p:cNvPicPr>
          <p:nvPr/>
        </p:nvPicPr>
        <p:blipFill>
          <a:blip r:embed="rId2"/>
          <a:stretch>
            <a:fillRect/>
          </a:stretch>
        </p:blipFill>
        <p:spPr>
          <a:xfrm>
            <a:off x="457200" y="1748030"/>
            <a:ext cx="6949439" cy="4184898"/>
          </a:xfrm>
          <a:prstGeom prst="rect">
            <a:avLst/>
          </a:prstGeom>
        </p:spPr>
      </p:pic>
      <p:sp>
        <p:nvSpPr>
          <p:cNvPr id="5" name="Rounded Rectangle 4"/>
          <p:cNvSpPr/>
          <p:nvPr/>
        </p:nvSpPr>
        <p:spPr>
          <a:xfrm>
            <a:off x="7726679" y="1554480"/>
            <a:ext cx="3931920" cy="22402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691640"/>
            <a:ext cx="3566160" cy="365760"/>
          </a:xfrm>
          <a:prstGeom prst="rect">
            <a:avLst/>
          </a:prstGeom>
          <a:noFill/>
        </p:spPr>
        <p:txBody>
          <a:bodyPr wrap="square" lIns="0" rIns="0" tIns="0" bIns="0" anchor="t">
            <a:spAutoFit/>
          </a:bodyPr>
          <a:lstStyle/>
          <a:p>
            <a:pPr algn="l"/>
            <a:r>
              <a:rPr sz="1700" b="1" i="0">
                <a:solidFill>
                  <a:srgbClr val="142340"/>
                </a:solidFill>
                <a:latin typeface="Calibri"/>
              </a:rPr>
              <a:t>Ordinal logistic (E6)</a:t>
            </a:r>
          </a:p>
        </p:txBody>
      </p:sp>
      <p:sp>
        <p:nvSpPr>
          <p:cNvPr id="7" name="TextBox 6"/>
          <p:cNvSpPr txBox="1"/>
          <p:nvPr/>
        </p:nvSpPr>
        <p:spPr>
          <a:xfrm>
            <a:off x="7955279" y="2103120"/>
            <a:ext cx="3566160" cy="1645920"/>
          </a:xfrm>
          <a:prstGeom prst="rect">
            <a:avLst/>
          </a:prstGeom>
          <a:noFill/>
        </p:spPr>
        <p:txBody>
          <a:bodyPr wrap="square" lIns="0" rIns="0" tIns="0" bIns="0" anchor="t">
            <a:spAutoFit/>
          </a:bodyPr>
          <a:lstStyle/>
          <a:p>
            <a:pPr algn="l">
              <a:spcAft>
                <a:spcPts val="600"/>
              </a:spcAft>
            </a:pPr>
            <a:r>
              <a:rPr sz="1400" b="0" i="0">
                <a:solidFill>
                  <a:srgbClr val="52514E"/>
                </a:solidFill>
                <a:latin typeface="Calibri"/>
              </a:rPr>
              <a:t>Two binary models, P(grade &gt; 1) and P(grade &gt; 2), combined into 3 class probabilities.</a:t>
            </a:r>
          </a:p>
          <a:p>
            <a:pPr algn="l">
              <a:spcAft>
                <a:spcPts val="600"/>
              </a:spcAft>
            </a:pPr>
            <a:r>
              <a:rPr sz="1400" b="0" i="0">
                <a:solidFill>
                  <a:srgbClr val="52514E"/>
                </a:solidFill>
                <a:latin typeface="Calibri"/>
              </a:rPr>
              <a:t>Micro-F1 </a:t>
            </a:r>
            <a:r>
              <a:rPr sz="1400" b="1" i="0">
                <a:solidFill>
                  <a:srgbClr val="EB6834"/>
                </a:solidFill>
                <a:latin typeface="Calibri"/>
              </a:rPr>
              <a:t>-0.06 pp</a:t>
            </a:r>
            <a:r>
              <a:rPr sz="1400" b="0" i="0">
                <a:solidFill>
                  <a:srgbClr val="52514E"/>
                </a:solidFill>
                <a:latin typeface="Calibri"/>
              </a:rPr>
              <a:t>, macro-F1 </a:t>
            </a:r>
            <a:r>
              <a:rPr sz="1400" b="1" i="0">
                <a:solidFill>
                  <a:srgbClr val="EB6834"/>
                </a:solidFill>
                <a:latin typeface="Calibri"/>
              </a:rPr>
              <a:t>-0.04 pp</a:t>
            </a:r>
            <a:r>
              <a:rPr sz="1400" b="0" i="0">
                <a:solidFill>
                  <a:srgbClr val="52514E"/>
                </a:solidFill>
                <a:latin typeface="Calibri"/>
              </a:rPr>
              <a:t> vs multinomial: it made no real difference.</a:t>
            </a:r>
          </a:p>
        </p:txBody>
      </p:sp>
      <p:sp>
        <p:nvSpPr>
          <p:cNvPr id="8" name="Rounded Rectangle 7"/>
          <p:cNvSpPr/>
          <p:nvPr/>
        </p:nvSpPr>
        <p:spPr>
          <a:xfrm>
            <a:off x="7726679" y="3977639"/>
            <a:ext cx="3931920" cy="22402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4114800"/>
            <a:ext cx="3566160" cy="365760"/>
          </a:xfrm>
          <a:prstGeom prst="rect">
            <a:avLst/>
          </a:prstGeom>
          <a:noFill/>
        </p:spPr>
        <p:txBody>
          <a:bodyPr wrap="square" lIns="0" rIns="0" tIns="0" bIns="0" anchor="t">
            <a:spAutoFit/>
          </a:bodyPr>
          <a:lstStyle/>
          <a:p>
            <a:pPr algn="l"/>
            <a:r>
              <a:rPr sz="1700" b="1" i="0">
                <a:solidFill>
                  <a:srgbClr val="142340"/>
                </a:solidFill>
                <a:latin typeface="Calibri"/>
              </a:rPr>
              <a:t>Class weighting (E5)</a:t>
            </a:r>
          </a:p>
        </p:txBody>
      </p:sp>
      <p:sp>
        <p:nvSpPr>
          <p:cNvPr id="10" name="TextBox 9"/>
          <p:cNvSpPr txBox="1"/>
          <p:nvPr/>
        </p:nvSpPr>
        <p:spPr>
          <a:xfrm>
            <a:off x="7955279" y="4526280"/>
            <a:ext cx="3566160" cy="1645920"/>
          </a:xfrm>
          <a:prstGeom prst="rect">
            <a:avLst/>
          </a:prstGeom>
          <a:noFill/>
        </p:spPr>
        <p:txBody>
          <a:bodyPr wrap="square" lIns="0" rIns="0" tIns="0" bIns="0" anchor="t">
            <a:spAutoFit/>
          </a:bodyPr>
          <a:lstStyle/>
          <a:p>
            <a:pPr algn="l">
              <a:spcAft>
                <a:spcPts val="600"/>
              </a:spcAft>
            </a:pPr>
            <a:r>
              <a:rPr sz="1400" b="0" i="0">
                <a:solidFill>
                  <a:srgbClr val="52514E"/>
                </a:solidFill>
                <a:latin typeface="Calibri"/>
              </a:rPr>
              <a:t>Grade-1 recall </a:t>
            </a:r>
            <a:r>
              <a:rPr sz="1400" b="1" i="0">
                <a:solidFill>
                  <a:srgbClr val="EB6834"/>
                </a:solidFill>
                <a:latin typeface="Calibri"/>
              </a:rPr>
              <a:t>0.47 → 0.83</a:t>
            </a:r>
          </a:p>
          <a:p>
            <a:pPr algn="l">
              <a:spcAft>
                <a:spcPts val="600"/>
              </a:spcAft>
            </a:pPr>
            <a:r>
              <a:rPr sz="1400" b="0" i="0">
                <a:solidFill>
                  <a:srgbClr val="52514E"/>
                </a:solidFill>
                <a:latin typeface="Calibri"/>
              </a:rPr>
              <a:t>Micro-F1 </a:t>
            </a:r>
            <a:r>
              <a:rPr sz="1400" b="1" i="0">
                <a:solidFill>
                  <a:srgbClr val="EB6834"/>
                </a:solidFill>
                <a:latin typeface="Calibri"/>
              </a:rPr>
              <a:t>-4.43 pp</a:t>
            </a:r>
            <a:r>
              <a:rPr sz="1400" b="0" i="0">
                <a:solidFill>
                  <a:srgbClr val="52514E"/>
                </a:solidFill>
                <a:latin typeface="Calibri"/>
              </a:rPr>
              <a:t>, macro-F1 </a:t>
            </a:r>
            <a:r>
              <a:rPr sz="1400" b="1" i="0">
                <a:solidFill>
                  <a:srgbClr val="EB6834"/>
                </a:solidFill>
                <a:latin typeface="Calibri"/>
              </a:rPr>
              <a:t>-0.88 pp</a:t>
            </a:r>
          </a:p>
          <a:p>
            <a:pPr algn="l">
              <a:spcAft>
                <a:spcPts val="600"/>
              </a:spcAft>
            </a:pPr>
            <a:r>
              <a:rPr sz="1400" b="0" i="0">
                <a:solidFill>
                  <a:srgbClr val="52514E"/>
                </a:solidFill>
                <a:latin typeface="Calibri"/>
              </a:rPr>
              <a:t>A trade-off: it finds more low-damage buildings but costs overall accuracy.</a:t>
            </a:r>
          </a:p>
        </p:txBody>
      </p:sp>
      <p:sp>
        <p:nvSpPr>
          <p:cNvPr id="11" name="TextBox 10"/>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2" name="TextBox 11"/>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TRAINING AND TESTING PROCEDURE</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Select on cross-validation, test once on the holdout</a:t>
            </a:r>
          </a:p>
        </p:txBody>
      </p:sp>
      <p:sp>
        <p:nvSpPr>
          <p:cNvPr id="4" name="Rounded Rectangle 3"/>
          <p:cNvSpPr/>
          <p:nvPr/>
        </p:nvSpPr>
        <p:spPr>
          <a:xfrm>
            <a:off x="548640" y="1645920"/>
            <a:ext cx="2377440" cy="11887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377440" cy="1188720"/>
          </a:xfrm>
          <a:prstGeom prst="rect">
            <a:avLst/>
          </a:prstGeom>
          <a:noFill/>
        </p:spPr>
        <p:txBody>
          <a:bodyPr wrap="square" lIns="0" rIns="0" tIns="0" bIns="0" anchor="ctr">
            <a:spAutoFit/>
          </a:bodyPr>
          <a:lstStyle/>
          <a:p>
            <a:pPr algn="ctr"/>
            <a:r>
              <a:rPr sz="1600" b="1" i="0">
                <a:solidFill>
                  <a:srgbClr val="FFFFFF"/>
                </a:solidFill>
                <a:latin typeface="Calibri"/>
              </a:rPr>
              <a:t>260,601</a:t>
            </a:r>
          </a:p>
          <a:p>
            <a:pPr algn="ctr"/>
            <a:r>
              <a:rPr sz="1600" b="1" i="0">
                <a:solidFill>
                  <a:srgbClr val="FFFFFF"/>
                </a:solidFill>
                <a:latin typeface="Calibri"/>
              </a:rPr>
              <a:t>labelled buildings</a:t>
            </a:r>
          </a:p>
        </p:txBody>
      </p:sp>
      <p:cxnSp>
        <p:nvCxnSpPr>
          <p:cNvPr id="6" name="Connector 5"/>
          <p:cNvCxnSpPr/>
          <p:nvPr/>
        </p:nvCxnSpPr>
        <p:spPr>
          <a:xfrm flipV="1">
            <a:off x="2971800" y="1783080"/>
            <a:ext cx="640080" cy="22860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71800" y="2468880"/>
            <a:ext cx="640080" cy="169164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657600" y="1417320"/>
            <a:ext cx="4206240" cy="2057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86200" y="1554480"/>
            <a:ext cx="3840480" cy="365760"/>
          </a:xfrm>
          <a:prstGeom prst="rect">
            <a:avLst/>
          </a:prstGeom>
          <a:noFill/>
        </p:spPr>
        <p:txBody>
          <a:bodyPr wrap="square" lIns="0" rIns="0" tIns="0" bIns="0" anchor="t">
            <a:spAutoFit/>
          </a:bodyPr>
          <a:lstStyle/>
          <a:p>
            <a:pPr algn="l"/>
            <a:r>
              <a:rPr sz="1600" b="1" i="0">
                <a:solidFill>
                  <a:srgbClr val="142340"/>
                </a:solidFill>
                <a:latin typeface="Calibri"/>
              </a:rPr>
              <a:t>80% training split · 208,480</a:t>
            </a:r>
          </a:p>
        </p:txBody>
      </p:sp>
      <p:sp>
        <p:nvSpPr>
          <p:cNvPr id="10" name="TextBox 9"/>
          <p:cNvSpPr txBox="1"/>
          <p:nvPr/>
        </p:nvSpPr>
        <p:spPr>
          <a:xfrm>
            <a:off x="3886200" y="1965960"/>
            <a:ext cx="3840480" cy="1463040"/>
          </a:xfrm>
          <a:prstGeom prst="rect">
            <a:avLst/>
          </a:prstGeom>
          <a:noFill/>
        </p:spPr>
        <p:txBody>
          <a:bodyPr wrap="square" lIns="0" rIns="0" tIns="0" bIns="0" anchor="t">
            <a:spAutoFit/>
          </a:bodyPr>
          <a:lstStyle/>
          <a:p>
            <a:pPr algn="l">
              <a:spcAft>
                <a:spcPts val="500"/>
              </a:spcAft>
            </a:pPr>
            <a:r>
              <a:rPr sz="1350" b="0" i="0">
                <a:solidFill>
                  <a:srgbClr val="52514E"/>
                </a:solidFill>
                <a:latin typeface="Calibri"/>
              </a:rPr>
              <a:t>Stratified 5-fold CV: LR experiments E0–E6</a:t>
            </a:r>
          </a:p>
          <a:p>
            <a:pPr algn="l">
              <a:spcAft>
                <a:spcPts val="500"/>
              </a:spcAft>
            </a:pPr>
            <a:r>
              <a:rPr sz="1350" b="0" i="0">
                <a:solidFill>
                  <a:srgbClr val="52514E"/>
                </a:solidFill>
                <a:latin typeface="Calibri"/>
              </a:rPr>
              <a:t>GridSearchCV, micro-F1: LR (9 values of C), random forest (4), boosting (6)</a:t>
            </a:r>
          </a:p>
          <a:p>
            <a:pPr algn="l">
              <a:spcAft>
                <a:spcPts val="500"/>
              </a:spcAft>
            </a:pPr>
            <a:r>
              <a:rPr sz="1350" b="0" i="0">
                <a:solidFill>
                  <a:srgbClr val="52514E"/>
                </a:solidFill>
                <a:latin typeface="Calibri"/>
              </a:rPr>
              <a:t>Encoders, imputers re-fit inside each fold</a:t>
            </a:r>
          </a:p>
        </p:txBody>
      </p:sp>
      <p:sp>
        <p:nvSpPr>
          <p:cNvPr id="11" name="Rounded Rectangle 10"/>
          <p:cNvSpPr/>
          <p:nvPr/>
        </p:nvSpPr>
        <p:spPr>
          <a:xfrm>
            <a:off x="3657600" y="3794760"/>
            <a:ext cx="4206240" cy="1417320"/>
          </a:xfrm>
          <a:prstGeom prst="roundRect">
            <a:avLst>
              <a:gd name="adj" fmla="val 8000"/>
            </a:avLst>
          </a:prstGeom>
          <a:solidFill>
            <a:srgbClr val="FD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3931920"/>
            <a:ext cx="3840480" cy="365760"/>
          </a:xfrm>
          <a:prstGeom prst="rect">
            <a:avLst/>
          </a:prstGeom>
          <a:noFill/>
        </p:spPr>
        <p:txBody>
          <a:bodyPr wrap="square" lIns="0" rIns="0" tIns="0" bIns="0" anchor="t">
            <a:spAutoFit/>
          </a:bodyPr>
          <a:lstStyle/>
          <a:p>
            <a:pPr algn="l"/>
            <a:r>
              <a:rPr sz="1600" b="1" i="0">
                <a:solidFill>
                  <a:srgbClr val="EB6834"/>
                </a:solidFill>
                <a:latin typeface="Calibri"/>
              </a:rPr>
              <a:t>20% holdout · 52,121</a:t>
            </a:r>
          </a:p>
        </p:txBody>
      </p:sp>
      <p:sp>
        <p:nvSpPr>
          <p:cNvPr id="13" name="TextBox 12"/>
          <p:cNvSpPr txBox="1"/>
          <p:nvPr/>
        </p:nvSpPr>
        <p:spPr>
          <a:xfrm>
            <a:off x="3886200" y="4343400"/>
            <a:ext cx="3840480" cy="822960"/>
          </a:xfrm>
          <a:prstGeom prst="rect">
            <a:avLst/>
          </a:prstGeom>
          <a:noFill/>
        </p:spPr>
        <p:txBody>
          <a:bodyPr wrap="square" lIns="0" rIns="0" tIns="0" bIns="0" anchor="t">
            <a:spAutoFit/>
          </a:bodyPr>
          <a:lstStyle/>
          <a:p>
            <a:pPr algn="l"/>
            <a:r>
              <a:rPr sz="1350" b="0" i="0">
                <a:solidFill>
                  <a:srgbClr val="52514E"/>
                </a:solidFill>
                <a:latin typeface="Calibri"/>
              </a:rPr>
              <a:t>Locked away; each of the 3 tuned models scored exactly once.</a:t>
            </a:r>
          </a:p>
        </p:txBody>
      </p:sp>
      <p:cxnSp>
        <p:nvCxnSpPr>
          <p:cNvPr id="14" name="Connector 13"/>
          <p:cNvCxnSpPr/>
          <p:nvPr/>
        </p:nvCxnSpPr>
        <p:spPr>
          <a:xfrm>
            <a:off x="7909560" y="2423160"/>
            <a:ext cx="64008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95360" y="1417320"/>
            <a:ext cx="3063240" cy="205740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0" y="1554480"/>
            <a:ext cx="2743200" cy="1828800"/>
          </a:xfrm>
          <a:prstGeom prst="rect">
            <a:avLst/>
          </a:prstGeom>
          <a:noFill/>
        </p:spPr>
        <p:txBody>
          <a:bodyPr wrap="square" lIns="0" rIns="0" tIns="0" bIns="0" anchor="t">
            <a:spAutoFit/>
          </a:bodyPr>
          <a:lstStyle/>
          <a:p>
            <a:pPr algn="l">
              <a:spcAft>
                <a:spcPts val="500"/>
              </a:spcAft>
            </a:pPr>
            <a:r>
              <a:rPr sz="1600" b="1" i="0">
                <a:solidFill>
                  <a:srgbClr val="FFFFFF"/>
                </a:solidFill>
                <a:latin typeface="Calibri"/>
              </a:rPr>
              <a:t>Final model</a:t>
            </a:r>
          </a:p>
          <a:p>
            <a:pPr algn="l">
              <a:spcAft>
                <a:spcPts val="500"/>
              </a:spcAft>
            </a:pPr>
            <a:r>
              <a:rPr sz="1350" b="0" i="0">
                <a:solidFill>
                  <a:srgbClr val="86B6EF"/>
                </a:solidFill>
                <a:latin typeface="Calibri"/>
              </a:rPr>
              <a:t>HistGradientBoosting: highest CV micro-F1 of the 3 tuned models</a:t>
            </a:r>
          </a:p>
          <a:p>
            <a:pPr algn="l">
              <a:spcAft>
                <a:spcPts val="500"/>
              </a:spcAft>
            </a:pPr>
            <a:r>
              <a:rPr sz="1350" b="0" i="0">
                <a:solidFill>
                  <a:srgbClr val="86B6EF"/>
                </a:solidFill>
                <a:latin typeface="Calibri"/>
              </a:rPr>
              <a:t>LR: E4, C = 0.3; all fits converged</a:t>
            </a:r>
          </a:p>
        </p:txBody>
      </p:sp>
      <p:sp>
        <p:nvSpPr>
          <p:cNvPr id="17" name="Rounded Rectangle 16"/>
          <p:cNvSpPr/>
          <p:nvPr/>
        </p:nvSpPr>
        <p:spPr>
          <a:xfrm>
            <a:off x="8595360" y="3794760"/>
            <a:ext cx="306324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3931920"/>
            <a:ext cx="2743200" cy="1188720"/>
          </a:xfrm>
          <a:prstGeom prst="rect">
            <a:avLst/>
          </a:prstGeom>
          <a:noFill/>
        </p:spPr>
        <p:txBody>
          <a:bodyPr wrap="square" lIns="0" rIns="0" tIns="0" bIns="0" anchor="t">
            <a:spAutoFit/>
          </a:bodyPr>
          <a:lstStyle/>
          <a:p>
            <a:pPr algn="l">
              <a:spcAft>
                <a:spcPts val="500"/>
              </a:spcAft>
            </a:pPr>
            <a:r>
              <a:rPr sz="1600" b="1" i="0">
                <a:solidFill>
                  <a:srgbClr val="142340"/>
                </a:solidFill>
                <a:latin typeface="Calibri"/>
              </a:rPr>
              <a:t>Submission</a:t>
            </a:r>
          </a:p>
          <a:p>
            <a:pPr algn="l">
              <a:spcAft>
                <a:spcPts val="500"/>
              </a:spcAft>
            </a:pPr>
            <a:r>
              <a:rPr sz="1350" b="0" i="0">
                <a:solidFill>
                  <a:srgbClr val="52514E"/>
                </a:solidFill>
                <a:latin typeface="Calibri"/>
              </a:rPr>
              <a:t>Refit on all 260,601 rows → 86,868 test predictions</a:t>
            </a:r>
          </a:p>
        </p:txBody>
      </p:sp>
      <p:sp>
        <p:nvSpPr>
          <p:cNvPr id="19" name="TextBox 18"/>
          <p:cNvSpPr txBox="1"/>
          <p:nvPr/>
        </p:nvSpPr>
        <p:spPr>
          <a:xfrm>
            <a:off x="548640" y="5532120"/>
            <a:ext cx="11064240" cy="640080"/>
          </a:xfrm>
          <a:prstGeom prst="rect">
            <a:avLst/>
          </a:prstGeom>
          <a:noFill/>
        </p:spPr>
        <p:txBody>
          <a:bodyPr wrap="square" lIns="0" rIns="0" tIns="0" bIns="0" anchor="t">
            <a:spAutoFit/>
          </a:bodyPr>
          <a:lstStyle/>
          <a:p>
            <a:pPr algn="l"/>
            <a:r>
              <a:rPr sz="1300" b="0" i="0">
                <a:solidFill>
                  <a:srgbClr val="8A8984"/>
                </a:solidFill>
                <a:latin typeface="Calibri"/>
              </a:rPr>
              <a:t>Random state 42 everywhere. Model 1 experiments: E0 baseline → E1 structure → E2 + region → E3 + geo target encoding → E4 + engineered → E5 balanced → E6 ordinal. Models 2–3 reuse the E4 features.</a:t>
            </a:r>
          </a:p>
        </p:txBody>
      </p:sp>
      <p:sp>
        <p:nvSpPr>
          <p:cNvPr id="20" name="TextBox 19"/>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1" name="TextBox 20"/>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 MODEL 1: LOGISTIC REGRESSION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Location drives the gains; reweighting and ordinal do not</a:t>
            </a:r>
          </a:p>
        </p:txBody>
      </p:sp>
      <p:pic>
        <p:nvPicPr>
          <p:cNvPr id="4" name="Picture 3" descr="fig07_experiments.png"/>
          <p:cNvPicPr>
            <a:picLocks noChangeAspect="1"/>
          </p:cNvPicPr>
          <p:nvPr/>
        </p:nvPicPr>
        <p:blipFill>
          <a:blip r:embed="rId2"/>
          <a:stretch>
            <a:fillRect/>
          </a:stretch>
        </p:blipFill>
        <p:spPr>
          <a:xfrm>
            <a:off x="457200" y="2016657"/>
            <a:ext cx="7589520" cy="3647645"/>
          </a:xfrm>
          <a:prstGeom prst="rect">
            <a:avLst/>
          </a:prstGeom>
        </p:spPr>
      </p:pic>
      <p:sp>
        <p:nvSpPr>
          <p:cNvPr id="5" name="TextBox 4"/>
          <p:cNvSpPr txBox="1"/>
          <p:nvPr/>
        </p:nvSpPr>
        <p:spPr>
          <a:xfrm>
            <a:off x="8321040" y="1645920"/>
            <a:ext cx="3383280" cy="4572000"/>
          </a:xfrm>
          <a:prstGeom prst="rect">
            <a:avLst/>
          </a:prstGeom>
          <a:noFill/>
        </p:spPr>
        <p:txBody>
          <a:bodyPr wrap="square" lIns="0" rIns="0" tIns="0" bIns="0" anchor="t">
            <a:spAutoFit/>
          </a:bodyPr>
          <a:lstStyle/>
          <a:p>
            <a:pPr algn="l">
              <a:spcAft>
                <a:spcPts val="1200"/>
              </a:spcAft>
            </a:pPr>
            <a:r>
              <a:rPr sz="1450" b="1" i="0">
                <a:solidFill>
                  <a:srgbClr val="142340"/>
                </a:solidFill>
                <a:latin typeface="Calibri"/>
              </a:rPr>
              <a:t>Baseline </a:t>
            </a:r>
            <a:r>
              <a:rPr sz="1450" b="0" i="0">
                <a:solidFill>
                  <a:srgbClr val="52514E"/>
                </a:solidFill>
                <a:latin typeface="Calibri"/>
              </a:rPr>
              <a:t>always predicts grade 2: 0.569</a:t>
            </a:r>
          </a:p>
          <a:p>
            <a:pPr algn="l">
              <a:spcAft>
                <a:spcPts val="1200"/>
              </a:spcAft>
            </a:pPr>
            <a:r>
              <a:rPr sz="1450" b="1" i="0">
                <a:solidFill>
                  <a:srgbClr val="142340"/>
                </a:solidFill>
                <a:latin typeface="Calibri"/>
              </a:rPr>
              <a:t>Structure alone </a:t>
            </a:r>
            <a:r>
              <a:rPr sz="1450" b="0" i="0">
                <a:solidFill>
                  <a:srgbClr val="52514E"/>
                </a:solidFill>
                <a:latin typeface="Calibri"/>
              </a:rPr>
              <a:t>0.591 (+2.2 pp)</a:t>
            </a:r>
          </a:p>
          <a:p>
            <a:pPr algn="l">
              <a:spcAft>
                <a:spcPts val="1200"/>
              </a:spcAft>
            </a:pPr>
            <a:r>
              <a:rPr sz="1450" b="1" i="0">
                <a:solidFill>
                  <a:srgbClr val="142340"/>
                </a:solidFill>
                <a:latin typeface="Calibri"/>
              </a:rPr>
              <a:t>Location </a:t>
            </a:r>
            <a:r>
              <a:rPr sz="1450" b="0" i="0">
                <a:solidFill>
                  <a:srgbClr val="52514E"/>
                </a:solidFill>
                <a:latin typeface="Calibri"/>
              </a:rPr>
              <a:t>adds +8.1 pp (region) and +6.3 pp (villages)</a:t>
            </a:r>
          </a:p>
          <a:p>
            <a:pPr algn="l">
              <a:spcAft>
                <a:spcPts val="1200"/>
              </a:spcAft>
            </a:pPr>
            <a:r>
              <a:rPr sz="1450" b="1" i="0">
                <a:solidFill>
                  <a:srgbClr val="142340"/>
                </a:solidFill>
                <a:latin typeface="Calibri"/>
              </a:rPr>
              <a:t>Engineered features </a:t>
            </a:r>
            <a:r>
              <a:rPr sz="1450" b="0" i="0">
                <a:solidFill>
                  <a:srgbClr val="52514E"/>
                </a:solidFill>
                <a:latin typeface="Calibri"/>
              </a:rPr>
              <a:t>+0.02 pp</a:t>
            </a:r>
          </a:p>
          <a:p>
            <a:pPr algn="l">
              <a:spcAft>
                <a:spcPts val="1200"/>
              </a:spcAft>
            </a:pPr>
            <a:r>
              <a:rPr sz="1450" b="1" i="0">
                <a:solidFill>
                  <a:srgbClr val="142340"/>
                </a:solidFill>
                <a:latin typeface="Calibri"/>
              </a:rPr>
              <a:t>Fold std </a:t>
            </a:r>
            <a:r>
              <a:rPr sz="1450" b="0" i="0">
                <a:solidFill>
                  <a:srgbClr val="52514E"/>
                </a:solidFill>
                <a:latin typeface="Calibri"/>
              </a:rPr>
              <a:t>≤ 0.0019, so gaps of ≥ 0.9 pp are well beyond noise</a:t>
            </a:r>
          </a:p>
        </p:txBody>
      </p:sp>
      <p:sp>
        <p:nvSpPr>
          <p:cNvPr id="6" name="TextBox 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7" name="TextBox 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 THREE MODELS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HistGradientBoosting wins on cross-validation</a:t>
            </a:r>
          </a:p>
        </p:txBody>
      </p:sp>
      <p:pic>
        <p:nvPicPr>
          <p:cNvPr id="4" name="Picture 3" descr="fig13_model_comparison.png"/>
          <p:cNvPicPr>
            <a:picLocks noChangeAspect="1"/>
          </p:cNvPicPr>
          <p:nvPr/>
        </p:nvPicPr>
        <p:blipFill>
          <a:blip r:embed="rId2"/>
          <a:stretch>
            <a:fillRect/>
          </a:stretch>
        </p:blipFill>
        <p:spPr>
          <a:xfrm>
            <a:off x="411480" y="1800828"/>
            <a:ext cx="7223759" cy="3713542"/>
          </a:xfrm>
          <a:prstGeom prst="rect">
            <a:avLst/>
          </a:prstGeom>
        </p:spPr>
      </p:pic>
      <p:sp>
        <p:nvSpPr>
          <p:cNvPr id="5" name="Rounded Rectangle 4"/>
          <p:cNvSpPr/>
          <p:nvPr/>
        </p:nvSpPr>
        <p:spPr>
          <a:xfrm>
            <a:off x="7863840" y="1463040"/>
            <a:ext cx="3794760" cy="13258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554480"/>
            <a:ext cx="3474720" cy="320040"/>
          </a:xfrm>
          <a:prstGeom prst="rect">
            <a:avLst/>
          </a:prstGeom>
          <a:noFill/>
        </p:spPr>
        <p:txBody>
          <a:bodyPr wrap="square" lIns="0" rIns="0" tIns="0" bIns="0" anchor="t">
            <a:spAutoFit/>
          </a:bodyPr>
          <a:lstStyle/>
          <a:p>
            <a:pPr algn="l"/>
            <a:r>
              <a:rPr sz="1500" b="1" i="0">
                <a:solidFill>
                  <a:srgbClr val="142340"/>
                </a:solidFill>
                <a:latin typeface="Calibri"/>
              </a:rPr>
              <a:t>Logistic regression</a:t>
            </a:r>
          </a:p>
        </p:txBody>
      </p:sp>
      <p:sp>
        <p:nvSpPr>
          <p:cNvPr id="7" name="TextBox 6"/>
          <p:cNvSpPr txBox="1"/>
          <p:nvPr/>
        </p:nvSpPr>
        <p:spPr>
          <a:xfrm>
            <a:off x="8046720" y="1901952"/>
            <a:ext cx="3474720" cy="868680"/>
          </a:xfrm>
          <a:prstGeom prst="rect">
            <a:avLst/>
          </a:prstGeom>
          <a:noFill/>
        </p:spPr>
        <p:txBody>
          <a:bodyPr wrap="square" lIns="0" rIns="0" tIns="0" bIns="0" anchor="t">
            <a:spAutoFit/>
          </a:bodyPr>
          <a:lstStyle/>
          <a:p>
            <a:pPr algn="l">
              <a:spcAft>
                <a:spcPts val="200"/>
              </a:spcAft>
            </a:pPr>
            <a:r>
              <a:rPr sz="1250" b="0" i="0">
                <a:solidFill>
                  <a:srgbClr val="52514E"/>
                </a:solidFill>
                <a:latin typeface="Calibri"/>
              </a:rPr>
              <a:t>CV </a:t>
            </a:r>
            <a:r>
              <a:rPr sz="1250" b="1" i="0">
                <a:solidFill>
                  <a:srgbClr val="EB6834"/>
                </a:solidFill>
                <a:latin typeface="Calibri"/>
              </a:rPr>
              <a:t>0.735</a:t>
            </a:r>
            <a:r>
              <a:rPr sz="1250" b="0" i="0">
                <a:solidFill>
                  <a:srgbClr val="52514E"/>
                </a:solidFill>
                <a:latin typeface="Calibri"/>
              </a:rPr>
              <a:t>   holdout </a:t>
            </a:r>
            <a:r>
              <a:rPr sz="1250" b="1" i="0">
                <a:solidFill>
                  <a:srgbClr val="EB6834"/>
                </a:solidFill>
                <a:latin typeface="Calibri"/>
              </a:rPr>
              <a:t>0.740</a:t>
            </a:r>
            <a:r>
              <a:rPr sz="1250" b="0" i="0">
                <a:solidFill>
                  <a:srgbClr val="52514E"/>
                </a:solidFill>
                <a:latin typeface="Calibri"/>
              </a:rPr>
              <a:t>  micro-F1</a:t>
            </a:r>
          </a:p>
          <a:p>
            <a:pPr algn="l">
              <a:spcAft>
                <a:spcPts val="200"/>
              </a:spcAft>
            </a:pPr>
            <a:r>
              <a:rPr sz="1250" b="0" i="0">
                <a:solidFill>
                  <a:srgbClr val="52514E"/>
                </a:solidFill>
                <a:latin typeface="Calibri"/>
              </a:rPr>
              <a:t>C = 0.3</a:t>
            </a:r>
          </a:p>
        </p:txBody>
      </p:sp>
      <p:sp>
        <p:nvSpPr>
          <p:cNvPr id="8" name="Rounded Rectangle 7"/>
          <p:cNvSpPr/>
          <p:nvPr/>
        </p:nvSpPr>
        <p:spPr>
          <a:xfrm>
            <a:off x="7863840" y="2944368"/>
            <a:ext cx="3794760" cy="13258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3035808"/>
            <a:ext cx="3474720" cy="320040"/>
          </a:xfrm>
          <a:prstGeom prst="rect">
            <a:avLst/>
          </a:prstGeom>
          <a:noFill/>
        </p:spPr>
        <p:txBody>
          <a:bodyPr wrap="square" lIns="0" rIns="0" tIns="0" bIns="0" anchor="t">
            <a:spAutoFit/>
          </a:bodyPr>
          <a:lstStyle/>
          <a:p>
            <a:pPr algn="l"/>
            <a:r>
              <a:rPr sz="1500" b="1" i="0">
                <a:solidFill>
                  <a:srgbClr val="142340"/>
                </a:solidFill>
                <a:latin typeface="Calibri"/>
              </a:rPr>
              <a:t>Random forest</a:t>
            </a:r>
          </a:p>
        </p:txBody>
      </p:sp>
      <p:sp>
        <p:nvSpPr>
          <p:cNvPr id="10" name="TextBox 9"/>
          <p:cNvSpPr txBox="1"/>
          <p:nvPr/>
        </p:nvSpPr>
        <p:spPr>
          <a:xfrm>
            <a:off x="8046720" y="3383280"/>
            <a:ext cx="3474720" cy="868680"/>
          </a:xfrm>
          <a:prstGeom prst="rect">
            <a:avLst/>
          </a:prstGeom>
          <a:noFill/>
        </p:spPr>
        <p:txBody>
          <a:bodyPr wrap="square" lIns="0" rIns="0" tIns="0" bIns="0" anchor="t">
            <a:spAutoFit/>
          </a:bodyPr>
          <a:lstStyle/>
          <a:p>
            <a:pPr algn="l">
              <a:spcAft>
                <a:spcPts val="200"/>
              </a:spcAft>
            </a:pPr>
            <a:r>
              <a:rPr sz="1250" b="0" i="0">
                <a:solidFill>
                  <a:srgbClr val="52514E"/>
                </a:solidFill>
                <a:latin typeface="Calibri"/>
              </a:rPr>
              <a:t>CV </a:t>
            </a:r>
            <a:r>
              <a:rPr sz="1250" b="1" i="0">
                <a:solidFill>
                  <a:srgbClr val="EB6834"/>
                </a:solidFill>
                <a:latin typeface="Calibri"/>
              </a:rPr>
              <a:t>0.744</a:t>
            </a:r>
            <a:r>
              <a:rPr sz="1250" b="0" i="0">
                <a:solidFill>
                  <a:srgbClr val="52514E"/>
                </a:solidFill>
                <a:latin typeface="Calibri"/>
              </a:rPr>
              <a:t>   holdout </a:t>
            </a:r>
            <a:r>
              <a:rPr sz="1250" b="1" i="0">
                <a:solidFill>
                  <a:srgbClr val="EB6834"/>
                </a:solidFill>
                <a:latin typeface="Calibri"/>
              </a:rPr>
              <a:t>0.750</a:t>
            </a:r>
            <a:r>
              <a:rPr sz="1250" b="0" i="0">
                <a:solidFill>
                  <a:srgbClr val="52514E"/>
                </a:solidFill>
                <a:latin typeface="Calibri"/>
              </a:rPr>
              <a:t>  micro-F1</a:t>
            </a:r>
          </a:p>
          <a:p>
            <a:pPr algn="l">
              <a:spcAft>
                <a:spcPts val="200"/>
              </a:spcAft>
            </a:pPr>
            <a:r>
              <a:rPr sz="1250" b="0" i="0">
                <a:solidFill>
                  <a:srgbClr val="52514E"/>
                </a:solidFill>
                <a:latin typeface="Calibri"/>
              </a:rPr>
              <a:t>max_features = sqrt, min_samples_leaf = 2</a:t>
            </a:r>
          </a:p>
        </p:txBody>
      </p:sp>
      <p:sp>
        <p:nvSpPr>
          <p:cNvPr id="11" name="Rounded Rectangle 10"/>
          <p:cNvSpPr/>
          <p:nvPr/>
        </p:nvSpPr>
        <p:spPr>
          <a:xfrm>
            <a:off x="7863840" y="4425696"/>
            <a:ext cx="3794760" cy="132588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517136"/>
            <a:ext cx="3474720" cy="320040"/>
          </a:xfrm>
          <a:prstGeom prst="rect">
            <a:avLst/>
          </a:prstGeom>
          <a:noFill/>
        </p:spPr>
        <p:txBody>
          <a:bodyPr wrap="square" lIns="0" rIns="0" tIns="0" bIns="0" anchor="t">
            <a:spAutoFit/>
          </a:bodyPr>
          <a:lstStyle/>
          <a:p>
            <a:pPr algn="l"/>
            <a:r>
              <a:rPr sz="1500" b="1" i="0">
                <a:solidFill>
                  <a:srgbClr val="FFFFFF"/>
                </a:solidFill>
                <a:latin typeface="Calibri"/>
              </a:rPr>
              <a:t>HistGradientBoosting  ·  final model</a:t>
            </a:r>
          </a:p>
        </p:txBody>
      </p:sp>
      <p:sp>
        <p:nvSpPr>
          <p:cNvPr id="13" name="TextBox 12"/>
          <p:cNvSpPr txBox="1"/>
          <p:nvPr/>
        </p:nvSpPr>
        <p:spPr>
          <a:xfrm>
            <a:off x="8046720" y="4864608"/>
            <a:ext cx="3474720" cy="868680"/>
          </a:xfrm>
          <a:prstGeom prst="rect">
            <a:avLst/>
          </a:prstGeom>
          <a:noFill/>
        </p:spPr>
        <p:txBody>
          <a:bodyPr wrap="square" lIns="0" rIns="0" tIns="0" bIns="0" anchor="t">
            <a:spAutoFit/>
          </a:bodyPr>
          <a:lstStyle/>
          <a:p>
            <a:pPr algn="l">
              <a:spcAft>
                <a:spcPts val="200"/>
              </a:spcAft>
            </a:pPr>
            <a:r>
              <a:rPr sz="1250" b="0" i="0">
                <a:solidFill>
                  <a:srgbClr val="86B6EF"/>
                </a:solidFill>
                <a:latin typeface="Calibri"/>
              </a:rPr>
              <a:t>CV </a:t>
            </a:r>
            <a:r>
              <a:rPr sz="1250" b="1" i="0">
                <a:solidFill>
                  <a:srgbClr val="EB6834"/>
                </a:solidFill>
                <a:latin typeface="Calibri"/>
              </a:rPr>
              <a:t>0.745</a:t>
            </a:r>
            <a:r>
              <a:rPr sz="1250" b="0" i="0">
                <a:solidFill>
                  <a:srgbClr val="86B6EF"/>
                </a:solidFill>
                <a:latin typeface="Calibri"/>
              </a:rPr>
              <a:t>   holdout </a:t>
            </a:r>
            <a:r>
              <a:rPr sz="1250" b="1" i="0">
                <a:solidFill>
                  <a:srgbClr val="EB6834"/>
                </a:solidFill>
                <a:latin typeface="Calibri"/>
              </a:rPr>
              <a:t>0.750</a:t>
            </a:r>
            <a:r>
              <a:rPr sz="1250" b="0" i="0">
                <a:solidFill>
                  <a:srgbClr val="86B6EF"/>
                </a:solidFill>
                <a:latin typeface="Calibri"/>
              </a:rPr>
              <a:t>  micro-F1</a:t>
            </a:r>
          </a:p>
          <a:p>
            <a:pPr algn="l">
              <a:spcAft>
                <a:spcPts val="200"/>
              </a:spcAft>
            </a:pPr>
            <a:r>
              <a:rPr sz="1250" b="0" i="0">
                <a:solidFill>
                  <a:srgbClr val="86B6EF"/>
                </a:solidFill>
                <a:latin typeface="Calibri"/>
              </a:rPr>
              <a:t>learning_rate = 0.1, max_leaf_nodes = 31</a:t>
            </a:r>
          </a:p>
        </p:txBody>
      </p:sp>
      <p:sp>
        <p:nvSpPr>
          <p:cNvPr id="14" name="TextBox 13"/>
          <p:cNvSpPr txBox="1"/>
          <p:nvPr/>
        </p:nvSpPr>
        <p:spPr>
          <a:xfrm>
            <a:off x="548640" y="5989320"/>
            <a:ext cx="11064240" cy="320040"/>
          </a:xfrm>
          <a:prstGeom prst="rect">
            <a:avLst/>
          </a:prstGeom>
          <a:noFill/>
        </p:spPr>
        <p:txBody>
          <a:bodyPr wrap="square" lIns="0" rIns="0" tIns="0" bIns="0" anchor="t">
            <a:spAutoFit/>
          </a:bodyPr>
          <a:lstStyle/>
          <a:p>
            <a:pPr algn="l"/>
            <a:r>
              <a:rPr sz="1250" b="0" i="0">
                <a:solidFill>
                  <a:srgbClr val="8A8984"/>
                </a:solidFill>
                <a:latin typeface="Calibri"/>
              </a:rPr>
              <a:t>Same features, same 5 folds. Final model chosen by CV micro-F1; vs LR: +0.98 pp in CV, +0.93 pp on the holdout.</a:t>
            </a:r>
          </a:p>
        </p:txBody>
      </p:sp>
      <p:sp>
        <p:nvSpPr>
          <p:cNvPr id="15" name="TextBox 1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6" name="TextBox 1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Final model on the holdout: HistGradientBoosting</a:t>
            </a:r>
          </a:p>
        </p:txBody>
      </p:sp>
      <p:sp>
        <p:nvSpPr>
          <p:cNvPr id="4" name="TextBox 3"/>
          <p:cNvSpPr txBox="1"/>
          <p:nvPr/>
        </p:nvSpPr>
        <p:spPr>
          <a:xfrm>
            <a:off x="548640" y="1600200"/>
            <a:ext cx="3017520" cy="685800"/>
          </a:xfrm>
          <a:prstGeom prst="rect">
            <a:avLst/>
          </a:prstGeom>
          <a:noFill/>
        </p:spPr>
        <p:txBody>
          <a:bodyPr wrap="square" lIns="0" rIns="0" tIns="0" bIns="0" anchor="t">
            <a:spAutoFit/>
          </a:bodyPr>
          <a:lstStyle/>
          <a:p>
            <a:pPr algn="l"/>
            <a:r>
              <a:rPr sz="4800" b="1" i="0">
                <a:solidFill>
                  <a:srgbClr val="EB6834"/>
                </a:solidFill>
                <a:latin typeface="Cambria"/>
              </a:rPr>
              <a:t>0.750</a:t>
            </a:r>
          </a:p>
        </p:txBody>
      </p:sp>
      <p:sp>
        <p:nvSpPr>
          <p:cNvPr id="5" name="TextBox 4"/>
          <p:cNvSpPr txBox="1"/>
          <p:nvPr/>
        </p:nvSpPr>
        <p:spPr>
          <a:xfrm>
            <a:off x="548640" y="2331720"/>
            <a:ext cx="3017520" cy="640080"/>
          </a:xfrm>
          <a:prstGeom prst="rect">
            <a:avLst/>
          </a:prstGeom>
          <a:noFill/>
        </p:spPr>
        <p:txBody>
          <a:bodyPr wrap="square" lIns="0" rIns="0" tIns="0" bIns="0" anchor="t">
            <a:spAutoFit/>
          </a:bodyPr>
          <a:lstStyle/>
          <a:p>
            <a:pPr algn="l"/>
            <a:r>
              <a:rPr sz="1400" b="0" i="0">
                <a:solidFill>
                  <a:srgbClr val="52514E"/>
                </a:solidFill>
                <a:latin typeface="Calibri"/>
              </a:rPr>
              <a:t>holdout micro-F1
(competition metric)</a:t>
            </a:r>
          </a:p>
        </p:txBody>
      </p:sp>
      <p:sp>
        <p:nvSpPr>
          <p:cNvPr id="6" name="TextBox 5"/>
          <p:cNvSpPr txBox="1"/>
          <p:nvPr/>
        </p:nvSpPr>
        <p:spPr>
          <a:xfrm>
            <a:off x="548640" y="3108960"/>
            <a:ext cx="3017520" cy="685800"/>
          </a:xfrm>
          <a:prstGeom prst="rect">
            <a:avLst/>
          </a:prstGeom>
          <a:noFill/>
        </p:spPr>
        <p:txBody>
          <a:bodyPr wrap="square" lIns="0" rIns="0" tIns="0" bIns="0" anchor="t">
            <a:spAutoFit/>
          </a:bodyPr>
          <a:lstStyle/>
          <a:p>
            <a:pPr algn="l"/>
            <a:r>
              <a:rPr sz="4000" b="1" i="0">
                <a:solidFill>
                  <a:srgbClr val="142340"/>
                </a:solidFill>
                <a:latin typeface="Cambria"/>
              </a:rPr>
              <a:t>0.701</a:t>
            </a:r>
          </a:p>
        </p:txBody>
      </p:sp>
      <p:sp>
        <p:nvSpPr>
          <p:cNvPr id="7" name="TextBox 6"/>
          <p:cNvSpPr txBox="1"/>
          <p:nvPr/>
        </p:nvSpPr>
        <p:spPr>
          <a:xfrm>
            <a:off x="548640" y="3840480"/>
            <a:ext cx="3017520" cy="640080"/>
          </a:xfrm>
          <a:prstGeom prst="rect">
            <a:avLst/>
          </a:prstGeom>
          <a:noFill/>
        </p:spPr>
        <p:txBody>
          <a:bodyPr wrap="square" lIns="0" rIns="0" tIns="0" bIns="0" anchor="t">
            <a:spAutoFit/>
          </a:bodyPr>
          <a:lstStyle/>
          <a:p>
            <a:pPr algn="l"/>
            <a:r>
              <a:rPr sz="1400" b="0" i="0">
                <a:solidFill>
                  <a:srgbClr val="52514E"/>
                </a:solidFill>
                <a:latin typeface="Calibri"/>
              </a:rPr>
              <a:t>holdout macro-F1</a:t>
            </a:r>
          </a:p>
        </p:txBody>
      </p:sp>
      <p:sp>
        <p:nvSpPr>
          <p:cNvPr id="8" name="TextBox 7"/>
          <p:cNvSpPr txBox="1"/>
          <p:nvPr/>
        </p:nvSpPr>
        <p:spPr>
          <a:xfrm>
            <a:off x="548640" y="4434840"/>
            <a:ext cx="3017520" cy="685800"/>
          </a:xfrm>
          <a:prstGeom prst="rect">
            <a:avLst/>
          </a:prstGeom>
          <a:noFill/>
        </p:spPr>
        <p:txBody>
          <a:bodyPr wrap="square" lIns="0" rIns="0" tIns="0" bIns="0" anchor="t">
            <a:spAutoFit/>
          </a:bodyPr>
          <a:lstStyle/>
          <a:p>
            <a:pPr algn="l"/>
            <a:r>
              <a:rPr sz="3200" b="1" i="0">
                <a:solidFill>
                  <a:srgbClr val="142340"/>
                </a:solidFill>
                <a:latin typeface="Cambria"/>
              </a:rPr>
              <a:t>0.745</a:t>
            </a:r>
          </a:p>
        </p:txBody>
      </p:sp>
      <p:sp>
        <p:nvSpPr>
          <p:cNvPr id="9" name="TextBox 8"/>
          <p:cNvSpPr txBox="1"/>
          <p:nvPr/>
        </p:nvSpPr>
        <p:spPr>
          <a:xfrm>
            <a:off x="548640" y="5166359"/>
            <a:ext cx="3017520" cy="640080"/>
          </a:xfrm>
          <a:prstGeom prst="rect">
            <a:avLst/>
          </a:prstGeom>
          <a:noFill/>
        </p:spPr>
        <p:txBody>
          <a:bodyPr wrap="square" lIns="0" rIns="0" tIns="0" bIns="0" anchor="t">
            <a:spAutoFit/>
          </a:bodyPr>
          <a:lstStyle/>
          <a:p>
            <a:pPr algn="l"/>
            <a:r>
              <a:rPr sz="1400" b="0" i="0">
                <a:solidFill>
                  <a:srgbClr val="52514E"/>
                </a:solidFill>
                <a:latin typeface="Calibri"/>
              </a:rPr>
              <a:t>CV micro-F1
(holdout agrees with CV)</a:t>
            </a:r>
          </a:p>
        </p:txBody>
      </p:sp>
      <p:pic>
        <p:nvPicPr>
          <p:cNvPr id="10" name="Picture 9" descr="fig15_confusion_final.png"/>
          <p:cNvPicPr>
            <a:picLocks noChangeAspect="1"/>
          </p:cNvPicPr>
          <p:nvPr/>
        </p:nvPicPr>
        <p:blipFill>
          <a:blip r:embed="rId2"/>
          <a:stretch>
            <a:fillRect/>
          </a:stretch>
        </p:blipFill>
        <p:spPr>
          <a:xfrm>
            <a:off x="3566160" y="2044519"/>
            <a:ext cx="4754880" cy="3591921"/>
          </a:xfrm>
          <a:prstGeom prst="rect">
            <a:avLst/>
          </a:prstGeom>
        </p:spPr>
      </p:pic>
      <p:sp>
        <p:nvSpPr>
          <p:cNvPr id="11" name="TextBox 10"/>
          <p:cNvSpPr txBox="1"/>
          <p:nvPr/>
        </p:nvSpPr>
        <p:spPr>
          <a:xfrm>
            <a:off x="8595360" y="1600200"/>
            <a:ext cx="3108960" cy="365760"/>
          </a:xfrm>
          <a:prstGeom prst="rect">
            <a:avLst/>
          </a:prstGeom>
          <a:noFill/>
        </p:spPr>
        <p:txBody>
          <a:bodyPr wrap="square" lIns="0" rIns="0" tIns="0" bIns="0" anchor="t">
            <a:spAutoFit/>
          </a:bodyPr>
          <a:lstStyle/>
          <a:p>
            <a:pPr algn="l"/>
            <a:r>
              <a:rPr sz="1700" b="1" i="0">
                <a:solidFill>
                  <a:srgbClr val="142340"/>
                </a:solidFill>
                <a:latin typeface="Calibri"/>
              </a:rPr>
              <a:t>Holdout recall (vs LR)</a:t>
            </a:r>
          </a:p>
        </p:txBody>
      </p:sp>
      <p:sp>
        <p:nvSpPr>
          <p:cNvPr id="12" name="Rounded Rectangle 11"/>
          <p:cNvSpPr/>
          <p:nvPr/>
        </p:nvSpPr>
        <p:spPr>
          <a:xfrm>
            <a:off x="8595360" y="2103120"/>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0" y="2212848"/>
            <a:ext cx="1188720" cy="640080"/>
          </a:xfrm>
          <a:prstGeom prst="rect">
            <a:avLst/>
          </a:prstGeom>
          <a:noFill/>
        </p:spPr>
        <p:txBody>
          <a:bodyPr wrap="square" lIns="0" rIns="0" tIns="0" bIns="0" anchor="ctr">
            <a:spAutoFit/>
          </a:bodyPr>
          <a:lstStyle/>
          <a:p>
            <a:pPr algn="l"/>
            <a:r>
              <a:rPr sz="1500" b="1" i="0">
                <a:solidFill>
                  <a:srgbClr val="142340"/>
                </a:solidFill>
                <a:latin typeface="Calibri"/>
              </a:rPr>
              <a:t>Grade 1</a:t>
            </a:r>
          </a:p>
        </p:txBody>
      </p:sp>
      <p:sp>
        <p:nvSpPr>
          <p:cNvPr id="14" name="TextBox 13"/>
          <p:cNvSpPr txBox="1"/>
          <p:nvPr/>
        </p:nvSpPr>
        <p:spPr>
          <a:xfrm>
            <a:off x="9829800" y="2176272"/>
            <a:ext cx="914400" cy="685800"/>
          </a:xfrm>
          <a:prstGeom prst="rect">
            <a:avLst/>
          </a:prstGeom>
          <a:noFill/>
        </p:spPr>
        <p:txBody>
          <a:bodyPr wrap="square" lIns="0" rIns="0" tIns="0" bIns="0" anchor="ctr">
            <a:spAutoFit/>
          </a:bodyPr>
          <a:lstStyle/>
          <a:p>
            <a:pPr algn="r"/>
            <a:r>
              <a:rPr sz="2600" b="1" i="0">
                <a:solidFill>
                  <a:srgbClr val="142340"/>
                </a:solidFill>
                <a:latin typeface="Cambria"/>
              </a:rPr>
              <a:t>0.55</a:t>
            </a:r>
          </a:p>
        </p:txBody>
      </p:sp>
      <p:sp>
        <p:nvSpPr>
          <p:cNvPr id="15" name="TextBox 14"/>
          <p:cNvSpPr txBox="1"/>
          <p:nvPr/>
        </p:nvSpPr>
        <p:spPr>
          <a:xfrm>
            <a:off x="10835640" y="2176272"/>
            <a:ext cx="731520" cy="685800"/>
          </a:xfrm>
          <a:prstGeom prst="rect">
            <a:avLst/>
          </a:prstGeom>
          <a:noFill/>
        </p:spPr>
        <p:txBody>
          <a:bodyPr wrap="square" lIns="0" rIns="0" tIns="0" bIns="0" anchor="ctr">
            <a:spAutoFit/>
          </a:bodyPr>
          <a:lstStyle/>
          <a:p>
            <a:pPr algn="r"/>
            <a:r>
              <a:rPr sz="1300" b="0" i="0">
                <a:solidFill>
                  <a:srgbClr val="8A8984"/>
                </a:solidFill>
                <a:latin typeface="Calibri"/>
              </a:rPr>
              <a:t>(0.48)</a:t>
            </a:r>
          </a:p>
        </p:txBody>
      </p:sp>
      <p:sp>
        <p:nvSpPr>
          <p:cNvPr id="16" name="Rounded Rectangle 15"/>
          <p:cNvSpPr/>
          <p:nvPr/>
        </p:nvSpPr>
        <p:spPr>
          <a:xfrm>
            <a:off x="8595360" y="3063239"/>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0" y="3172968"/>
            <a:ext cx="1188720" cy="640080"/>
          </a:xfrm>
          <a:prstGeom prst="rect">
            <a:avLst/>
          </a:prstGeom>
          <a:noFill/>
        </p:spPr>
        <p:txBody>
          <a:bodyPr wrap="square" lIns="0" rIns="0" tIns="0" bIns="0" anchor="ctr">
            <a:spAutoFit/>
          </a:bodyPr>
          <a:lstStyle/>
          <a:p>
            <a:pPr algn="l"/>
            <a:r>
              <a:rPr sz="1500" b="1" i="0">
                <a:solidFill>
                  <a:srgbClr val="142340"/>
                </a:solidFill>
                <a:latin typeface="Calibri"/>
              </a:rPr>
              <a:t>Grade 2</a:t>
            </a:r>
          </a:p>
        </p:txBody>
      </p:sp>
      <p:sp>
        <p:nvSpPr>
          <p:cNvPr id="18" name="TextBox 17"/>
          <p:cNvSpPr txBox="1"/>
          <p:nvPr/>
        </p:nvSpPr>
        <p:spPr>
          <a:xfrm>
            <a:off x="9829800" y="3136391"/>
            <a:ext cx="914400" cy="685800"/>
          </a:xfrm>
          <a:prstGeom prst="rect">
            <a:avLst/>
          </a:prstGeom>
          <a:noFill/>
        </p:spPr>
        <p:txBody>
          <a:bodyPr wrap="square" lIns="0" rIns="0" tIns="0" bIns="0" anchor="ctr">
            <a:spAutoFit/>
          </a:bodyPr>
          <a:lstStyle/>
          <a:p>
            <a:pPr algn="r"/>
            <a:r>
              <a:rPr sz="2600" b="1" i="0">
                <a:solidFill>
                  <a:srgbClr val="142340"/>
                </a:solidFill>
                <a:latin typeface="Cambria"/>
              </a:rPr>
              <a:t>0.85</a:t>
            </a:r>
          </a:p>
        </p:txBody>
      </p:sp>
      <p:sp>
        <p:nvSpPr>
          <p:cNvPr id="19" name="TextBox 18"/>
          <p:cNvSpPr txBox="1"/>
          <p:nvPr/>
        </p:nvSpPr>
        <p:spPr>
          <a:xfrm>
            <a:off x="10835640" y="3136391"/>
            <a:ext cx="731520" cy="685800"/>
          </a:xfrm>
          <a:prstGeom prst="rect">
            <a:avLst/>
          </a:prstGeom>
          <a:noFill/>
        </p:spPr>
        <p:txBody>
          <a:bodyPr wrap="square" lIns="0" rIns="0" tIns="0" bIns="0" anchor="ctr">
            <a:spAutoFit/>
          </a:bodyPr>
          <a:lstStyle/>
          <a:p>
            <a:pPr algn="r"/>
            <a:r>
              <a:rPr sz="1300" b="0" i="0">
                <a:solidFill>
                  <a:srgbClr val="8A8984"/>
                </a:solidFill>
                <a:latin typeface="Calibri"/>
              </a:rPr>
              <a:t>(0.85)</a:t>
            </a:r>
          </a:p>
        </p:txBody>
      </p:sp>
      <p:sp>
        <p:nvSpPr>
          <p:cNvPr id="20" name="Rounded Rectangle 19"/>
          <p:cNvSpPr/>
          <p:nvPr/>
        </p:nvSpPr>
        <p:spPr>
          <a:xfrm>
            <a:off x="8595360" y="4023360"/>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0" y="4133088"/>
            <a:ext cx="1188720" cy="640080"/>
          </a:xfrm>
          <a:prstGeom prst="rect">
            <a:avLst/>
          </a:prstGeom>
          <a:noFill/>
        </p:spPr>
        <p:txBody>
          <a:bodyPr wrap="square" lIns="0" rIns="0" tIns="0" bIns="0" anchor="ctr">
            <a:spAutoFit/>
          </a:bodyPr>
          <a:lstStyle/>
          <a:p>
            <a:pPr algn="l"/>
            <a:r>
              <a:rPr sz="1500" b="1" i="0">
                <a:solidFill>
                  <a:srgbClr val="142340"/>
                </a:solidFill>
                <a:latin typeface="Calibri"/>
              </a:rPr>
              <a:t>Grade 3</a:t>
            </a:r>
          </a:p>
        </p:txBody>
      </p:sp>
      <p:sp>
        <p:nvSpPr>
          <p:cNvPr id="22" name="TextBox 21"/>
          <p:cNvSpPr txBox="1"/>
          <p:nvPr/>
        </p:nvSpPr>
        <p:spPr>
          <a:xfrm>
            <a:off x="9829800" y="4096512"/>
            <a:ext cx="914400" cy="685800"/>
          </a:xfrm>
          <a:prstGeom prst="rect">
            <a:avLst/>
          </a:prstGeom>
          <a:noFill/>
        </p:spPr>
        <p:txBody>
          <a:bodyPr wrap="square" lIns="0" rIns="0" tIns="0" bIns="0" anchor="ctr">
            <a:spAutoFit/>
          </a:bodyPr>
          <a:lstStyle/>
          <a:p>
            <a:pPr algn="r"/>
            <a:r>
              <a:rPr sz="2600" b="1" i="0">
                <a:solidFill>
                  <a:srgbClr val="EB6834"/>
                </a:solidFill>
                <a:latin typeface="Cambria"/>
              </a:rPr>
              <a:t>0.64</a:t>
            </a:r>
          </a:p>
        </p:txBody>
      </p:sp>
      <p:sp>
        <p:nvSpPr>
          <p:cNvPr id="23" name="TextBox 22"/>
          <p:cNvSpPr txBox="1"/>
          <p:nvPr/>
        </p:nvSpPr>
        <p:spPr>
          <a:xfrm>
            <a:off x="10835640" y="4096512"/>
            <a:ext cx="731520" cy="685800"/>
          </a:xfrm>
          <a:prstGeom prst="rect">
            <a:avLst/>
          </a:prstGeom>
          <a:noFill/>
        </p:spPr>
        <p:txBody>
          <a:bodyPr wrap="square" lIns="0" rIns="0" tIns="0" bIns="0" anchor="ctr">
            <a:spAutoFit/>
          </a:bodyPr>
          <a:lstStyle/>
          <a:p>
            <a:pPr algn="r"/>
            <a:r>
              <a:rPr sz="1300" b="0" i="0">
                <a:solidFill>
                  <a:srgbClr val="8A8984"/>
                </a:solidFill>
                <a:latin typeface="Calibri"/>
              </a:rPr>
              <a:t>(0.63)</a:t>
            </a:r>
          </a:p>
        </p:txBody>
      </p:sp>
      <p:sp>
        <p:nvSpPr>
          <p:cNvPr id="24" name="TextBox 23"/>
          <p:cNvSpPr txBox="1"/>
          <p:nvPr/>
        </p:nvSpPr>
        <p:spPr>
          <a:xfrm>
            <a:off x="8595360" y="5074920"/>
            <a:ext cx="3108960" cy="1188720"/>
          </a:xfrm>
          <a:prstGeom prst="rect">
            <a:avLst/>
          </a:prstGeom>
          <a:noFill/>
        </p:spPr>
        <p:txBody>
          <a:bodyPr wrap="square" lIns="0" rIns="0" tIns="0" bIns="0" anchor="t">
            <a:spAutoFit/>
          </a:bodyPr>
          <a:lstStyle/>
          <a:p>
            <a:pPr algn="l"/>
            <a:r>
              <a:rPr sz="1350" b="0" i="0">
                <a:solidFill>
                  <a:srgbClr val="52514E"/>
                </a:solidFill>
                <a:latin typeface="Calibri"/>
              </a:rPr>
              <a:t>Errors are almost all between adjacent grades: only 0.6% of grade-3 buildings are predicted as grade 1.</a:t>
            </a:r>
          </a:p>
        </p:txBody>
      </p:sp>
      <p:sp>
        <p:nvSpPr>
          <p:cNvPr id="25" name="TextBox 2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6" name="TextBox 2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Ranking finds destroyed buildings far faster than random</a:t>
            </a:r>
          </a:p>
        </p:txBody>
      </p:sp>
      <p:pic>
        <p:nvPicPr>
          <p:cNvPr id="4" name="Picture 3" descr="fig14_capture_comparison.png"/>
          <p:cNvPicPr>
            <a:picLocks noChangeAspect="1"/>
          </p:cNvPicPr>
          <p:nvPr/>
        </p:nvPicPr>
        <p:blipFill>
          <a:blip r:embed="rId2"/>
          <a:stretch>
            <a:fillRect/>
          </a:stretch>
        </p:blipFill>
        <p:spPr>
          <a:xfrm>
            <a:off x="457199" y="1461255"/>
            <a:ext cx="6766560" cy="4758448"/>
          </a:xfrm>
          <a:prstGeom prst="rect">
            <a:avLst/>
          </a:prstGeom>
        </p:spPr>
      </p:pic>
      <p:sp>
        <p:nvSpPr>
          <p:cNvPr id="5" name="Rounded Rectangle 4"/>
          <p:cNvSpPr/>
          <p:nvPr/>
        </p:nvSpPr>
        <p:spPr>
          <a:xfrm>
            <a:off x="7589520" y="155448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8120" y="1691639"/>
            <a:ext cx="1737360" cy="731520"/>
          </a:xfrm>
          <a:prstGeom prst="rect">
            <a:avLst/>
          </a:prstGeom>
          <a:noFill/>
        </p:spPr>
        <p:txBody>
          <a:bodyPr wrap="square" lIns="0" rIns="0" tIns="0" bIns="0" anchor="t">
            <a:spAutoFit/>
          </a:bodyPr>
          <a:lstStyle/>
          <a:p>
            <a:pPr algn="l"/>
            <a:r>
              <a:rPr sz="4000" b="1" i="0">
                <a:solidFill>
                  <a:srgbClr val="EB6834"/>
                </a:solidFill>
                <a:latin typeface="Cambria"/>
              </a:rPr>
              <a:t>28%</a:t>
            </a:r>
          </a:p>
        </p:txBody>
      </p:sp>
      <p:sp>
        <p:nvSpPr>
          <p:cNvPr id="7" name="TextBox 6"/>
          <p:cNvSpPr txBox="1"/>
          <p:nvPr/>
        </p:nvSpPr>
        <p:spPr>
          <a:xfrm>
            <a:off x="9555480" y="173736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in the top 10%</a:t>
            </a:r>
          </a:p>
          <a:p>
            <a:pPr algn="l">
              <a:spcAft>
                <a:spcPts val="300"/>
              </a:spcAft>
            </a:pPr>
            <a:r>
              <a:rPr sz="1350" b="1" i="0">
                <a:solidFill>
                  <a:srgbClr val="142340"/>
                </a:solidFill>
                <a:latin typeface="Calibri"/>
              </a:rPr>
              <a:t>2.8× better than random</a:t>
            </a:r>
          </a:p>
        </p:txBody>
      </p:sp>
      <p:sp>
        <p:nvSpPr>
          <p:cNvPr id="8" name="Rounded Rectangle 7"/>
          <p:cNvSpPr/>
          <p:nvPr/>
        </p:nvSpPr>
        <p:spPr>
          <a:xfrm>
            <a:off x="7589520" y="301752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3154679"/>
            <a:ext cx="1737360" cy="731520"/>
          </a:xfrm>
          <a:prstGeom prst="rect">
            <a:avLst/>
          </a:prstGeom>
          <a:noFill/>
        </p:spPr>
        <p:txBody>
          <a:bodyPr wrap="square" lIns="0" rIns="0" tIns="0" bIns="0" anchor="t">
            <a:spAutoFit/>
          </a:bodyPr>
          <a:lstStyle/>
          <a:p>
            <a:pPr algn="l"/>
            <a:r>
              <a:rPr sz="4000" b="1" i="0">
                <a:solidFill>
                  <a:srgbClr val="EB6834"/>
                </a:solidFill>
                <a:latin typeface="Cambria"/>
              </a:rPr>
              <a:t>51%</a:t>
            </a:r>
          </a:p>
        </p:txBody>
      </p:sp>
      <p:sp>
        <p:nvSpPr>
          <p:cNvPr id="10" name="TextBox 9"/>
          <p:cNvSpPr txBox="1"/>
          <p:nvPr/>
        </p:nvSpPr>
        <p:spPr>
          <a:xfrm>
            <a:off x="9555480" y="320040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in the top 20%</a:t>
            </a:r>
          </a:p>
          <a:p>
            <a:pPr algn="l">
              <a:spcAft>
                <a:spcPts val="300"/>
              </a:spcAft>
            </a:pPr>
            <a:r>
              <a:rPr sz="1350" b="1" i="0">
                <a:solidFill>
                  <a:srgbClr val="142340"/>
                </a:solidFill>
                <a:latin typeface="Calibri"/>
              </a:rPr>
              <a:t>2.5× better than random</a:t>
            </a:r>
          </a:p>
        </p:txBody>
      </p:sp>
      <p:sp>
        <p:nvSpPr>
          <p:cNvPr id="11" name="Rounded Rectangle 10"/>
          <p:cNvSpPr/>
          <p:nvPr/>
        </p:nvSpPr>
        <p:spPr>
          <a:xfrm>
            <a:off x="7589520" y="448056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4617720"/>
            <a:ext cx="1737360" cy="731520"/>
          </a:xfrm>
          <a:prstGeom prst="rect">
            <a:avLst/>
          </a:prstGeom>
          <a:noFill/>
        </p:spPr>
        <p:txBody>
          <a:bodyPr wrap="square" lIns="0" rIns="0" tIns="0" bIns="0" anchor="t">
            <a:spAutoFit/>
          </a:bodyPr>
          <a:lstStyle/>
          <a:p>
            <a:pPr algn="l"/>
            <a:r>
              <a:rPr sz="4000" b="1" i="0">
                <a:solidFill>
                  <a:srgbClr val="EB6834"/>
                </a:solidFill>
                <a:latin typeface="Cambria"/>
              </a:rPr>
              <a:t>67%</a:t>
            </a:r>
          </a:p>
        </p:txBody>
      </p:sp>
      <p:sp>
        <p:nvSpPr>
          <p:cNvPr id="13" name="TextBox 12"/>
          <p:cNvSpPr txBox="1"/>
          <p:nvPr/>
        </p:nvSpPr>
        <p:spPr>
          <a:xfrm>
            <a:off x="9555480" y="466344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in the top 30%</a:t>
            </a:r>
          </a:p>
          <a:p>
            <a:pPr algn="l">
              <a:spcAft>
                <a:spcPts val="300"/>
              </a:spcAft>
            </a:pPr>
            <a:r>
              <a:rPr sz="1350" b="1" i="0">
                <a:solidFill>
                  <a:srgbClr val="142340"/>
                </a:solidFill>
                <a:latin typeface="Calibri"/>
              </a:rPr>
              <a:t>2.2× better than random</a:t>
            </a:r>
          </a:p>
        </p:txBody>
      </p:sp>
      <p:sp>
        <p:nvSpPr>
          <p:cNvPr id="14" name="TextBox 13"/>
          <p:cNvSpPr txBox="1"/>
          <p:nvPr/>
        </p:nvSpPr>
        <p:spPr>
          <a:xfrm>
            <a:off x="7589520" y="5943600"/>
            <a:ext cx="4069080" cy="365760"/>
          </a:xfrm>
          <a:prstGeom prst="rect">
            <a:avLst/>
          </a:prstGeom>
          <a:noFill/>
        </p:spPr>
        <p:txBody>
          <a:bodyPr wrap="square" lIns="0" rIns="0" tIns="0" bIns="0" anchor="t">
            <a:spAutoFit/>
          </a:bodyPr>
          <a:lstStyle/>
          <a:p>
            <a:pPr algn="l"/>
            <a:r>
              <a:rPr sz="1200" b="0" i="0">
                <a:solidFill>
                  <a:srgbClr val="8A8984"/>
                </a:solidFill>
                <a:latin typeface="Calibri"/>
              </a:rPr>
              <a:t>HistGradientBoosting (final model); grade-3 ROC-AUC = 0.875</a:t>
            </a:r>
          </a:p>
        </p:txBody>
      </p:sp>
      <p:sp>
        <p:nvSpPr>
          <p:cNvPr id="15" name="TextBox 1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6" name="TextBox 1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What drives the predictions?</a:t>
            </a:r>
          </a:p>
        </p:txBody>
      </p:sp>
      <p:sp>
        <p:nvSpPr>
          <p:cNvPr id="4" name="TextBox 3"/>
          <p:cNvSpPr txBox="1"/>
          <p:nvPr/>
        </p:nvSpPr>
        <p:spPr>
          <a:xfrm>
            <a:off x="548640" y="1371600"/>
            <a:ext cx="5486400" cy="320040"/>
          </a:xfrm>
          <a:prstGeom prst="rect">
            <a:avLst/>
          </a:prstGeom>
          <a:noFill/>
        </p:spPr>
        <p:txBody>
          <a:bodyPr wrap="square" lIns="0" rIns="0" tIns="0" bIns="0" anchor="t">
            <a:spAutoFit/>
          </a:bodyPr>
          <a:lstStyle/>
          <a:p>
            <a:pPr algn="l"/>
            <a:r>
              <a:rPr sz="1500" b="1" i="0">
                <a:solidFill>
                  <a:srgbClr val="142340"/>
                </a:solidFill>
                <a:latin typeface="Calibri"/>
              </a:rPr>
              <a:t>Logistic regression: odds ratios for grade 3</a:t>
            </a:r>
          </a:p>
        </p:txBody>
      </p:sp>
      <p:pic>
        <p:nvPicPr>
          <p:cNvPr id="5" name="Picture 4" descr="fig11b_coefficients_slide.png"/>
          <p:cNvPicPr>
            <a:picLocks noChangeAspect="1"/>
          </p:cNvPicPr>
          <p:nvPr/>
        </p:nvPicPr>
        <p:blipFill>
          <a:blip r:embed="rId2"/>
          <a:stretch>
            <a:fillRect/>
          </a:stretch>
        </p:blipFill>
        <p:spPr>
          <a:xfrm>
            <a:off x="457200" y="1988594"/>
            <a:ext cx="5486400" cy="3703771"/>
          </a:xfrm>
          <a:prstGeom prst="rect">
            <a:avLst/>
          </a:prstGeom>
        </p:spPr>
      </p:pic>
      <p:sp>
        <p:nvSpPr>
          <p:cNvPr id="6" name="TextBox 5"/>
          <p:cNvSpPr txBox="1"/>
          <p:nvPr/>
        </p:nvSpPr>
        <p:spPr>
          <a:xfrm>
            <a:off x="6309360" y="1371600"/>
            <a:ext cx="5394960" cy="320040"/>
          </a:xfrm>
          <a:prstGeom prst="rect">
            <a:avLst/>
          </a:prstGeom>
          <a:noFill/>
        </p:spPr>
        <p:txBody>
          <a:bodyPr wrap="square" lIns="0" rIns="0" tIns="0" bIns="0" anchor="t">
            <a:spAutoFit/>
          </a:bodyPr>
          <a:lstStyle/>
          <a:p>
            <a:pPr algn="l"/>
            <a:r>
              <a:rPr sz="1500" b="1" i="0">
                <a:solidFill>
                  <a:srgbClr val="142340"/>
                </a:solidFill>
                <a:latin typeface="Calibri"/>
              </a:rPr>
              <a:t>All three models: permutation importance</a:t>
            </a:r>
          </a:p>
        </p:txBody>
      </p:sp>
      <p:pic>
        <p:nvPicPr>
          <p:cNvPr id="7" name="Picture 6" descr="fig16b_importance_slide.png"/>
          <p:cNvPicPr>
            <a:picLocks noChangeAspect="1"/>
          </p:cNvPicPr>
          <p:nvPr/>
        </p:nvPicPr>
        <p:blipFill>
          <a:blip r:embed="rId3"/>
          <a:stretch>
            <a:fillRect/>
          </a:stretch>
        </p:blipFill>
        <p:spPr>
          <a:xfrm>
            <a:off x="6217920" y="1930388"/>
            <a:ext cx="5486400" cy="3820182"/>
          </a:xfrm>
          <a:prstGeom prst="rect">
            <a:avLst/>
          </a:prstGeom>
        </p:spPr>
      </p:pic>
      <p:sp>
        <p:nvSpPr>
          <p:cNvPr id="8" name="Rounded Rectangle 7"/>
          <p:cNvSpPr/>
          <p:nvPr/>
        </p:nvSpPr>
        <p:spPr>
          <a:xfrm>
            <a:off x="548640" y="5943600"/>
            <a:ext cx="11109960" cy="3840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80176"/>
            <a:ext cx="10789920" cy="320040"/>
          </a:xfrm>
          <a:prstGeom prst="rect">
            <a:avLst/>
          </a:prstGeom>
          <a:noFill/>
        </p:spPr>
        <p:txBody>
          <a:bodyPr wrap="square" lIns="0" rIns="0" tIns="0" bIns="0" anchor="t">
            <a:spAutoFit/>
          </a:bodyPr>
          <a:lstStyle/>
          <a:p>
            <a:pPr algn="l"/>
            <a:r>
              <a:rPr sz="1300" b="0" i="0">
                <a:solidFill>
                  <a:srgbClr val="52514E"/>
                </a:solidFill>
                <a:latin typeface="Calibri"/>
              </a:rPr>
              <a:t>Mud-mortar stone </a:t>
            </a:r>
            <a:r>
              <a:rPr sz="1300" b="1" i="0">
                <a:solidFill>
                  <a:srgbClr val="EB6834"/>
                </a:solidFill>
                <a:latin typeface="Calibri"/>
              </a:rPr>
              <a:t>×1.38</a:t>
            </a:r>
            <a:r>
              <a:rPr sz="1300" b="0" i="0">
                <a:solidFill>
                  <a:srgbClr val="52514E"/>
                </a:solidFill>
                <a:latin typeface="Calibri"/>
              </a:rPr>
              <a:t>   Engineered RC </a:t>
            </a:r>
            <a:r>
              <a:rPr sz="1300" b="1" i="0">
                <a:solidFill>
                  <a:srgbClr val="104281"/>
                </a:solidFill>
                <a:latin typeface="Calibri"/>
              </a:rPr>
              <a:t>×0.84</a:t>
            </a:r>
            <a:r>
              <a:rPr sz="1300" b="0" i="0">
                <a:solidFill>
                  <a:srgbClr val="52514E"/>
                </a:solidFill>
                <a:latin typeface="Calibri"/>
              </a:rPr>
              <a:t>   ·   location ranks first for every model; trees say how much, LR also says which direction</a:t>
            </a:r>
          </a:p>
        </p:txBody>
      </p:sp>
      <p:sp>
        <p:nvSpPr>
          <p:cNvPr id="10" name="TextBox 9"/>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1" name="TextBox 10"/>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SUMMARY OF PROJECT ACHIEVEMENTS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What we delivered</a:t>
            </a:r>
          </a:p>
        </p:txBody>
      </p:sp>
      <p:sp>
        <p:nvSpPr>
          <p:cNvPr id="4" name="Rounded Rectangle 3"/>
          <p:cNvSpPr/>
          <p:nvPr/>
        </p:nvSpPr>
        <p:spPr>
          <a:xfrm>
            <a:off x="548640"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108960" cy="731520"/>
          </a:xfrm>
          <a:prstGeom prst="rect">
            <a:avLst/>
          </a:prstGeom>
          <a:noFill/>
        </p:spPr>
        <p:txBody>
          <a:bodyPr wrap="square" lIns="0" rIns="0" tIns="0" bIns="0" anchor="t">
            <a:spAutoFit/>
          </a:bodyPr>
          <a:lstStyle/>
          <a:p>
            <a:pPr algn="l"/>
            <a:r>
              <a:rPr sz="3600" b="1" i="0">
                <a:solidFill>
                  <a:srgbClr val="EB6834"/>
                </a:solidFill>
                <a:latin typeface="Cambria"/>
              </a:rPr>
              <a:t>0.750</a:t>
            </a:r>
          </a:p>
        </p:txBody>
      </p:sp>
      <p:sp>
        <p:nvSpPr>
          <p:cNvPr id="6" name="TextBox 5"/>
          <p:cNvSpPr txBox="1"/>
          <p:nvPr/>
        </p:nvSpPr>
        <p:spPr>
          <a:xfrm>
            <a:off x="822959"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holdout micro-F1</a:t>
            </a:r>
          </a:p>
        </p:txBody>
      </p:sp>
      <p:sp>
        <p:nvSpPr>
          <p:cNvPr id="7" name="TextBox 6"/>
          <p:cNvSpPr txBox="1"/>
          <p:nvPr/>
        </p:nvSpPr>
        <p:spPr>
          <a:xfrm>
            <a:off x="822959"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HistGradientBoosting vs 0.569 for the majority baseline</a:t>
            </a:r>
          </a:p>
        </p:txBody>
      </p:sp>
      <p:sp>
        <p:nvSpPr>
          <p:cNvPr id="8" name="Rounded Rectangle 7"/>
          <p:cNvSpPr/>
          <p:nvPr/>
        </p:nvSpPr>
        <p:spPr>
          <a:xfrm>
            <a:off x="4315968"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1783080"/>
            <a:ext cx="3108960" cy="731520"/>
          </a:xfrm>
          <a:prstGeom prst="rect">
            <a:avLst/>
          </a:prstGeom>
          <a:noFill/>
        </p:spPr>
        <p:txBody>
          <a:bodyPr wrap="square" lIns="0" rIns="0" tIns="0" bIns="0" anchor="t">
            <a:spAutoFit/>
          </a:bodyPr>
          <a:lstStyle/>
          <a:p>
            <a:pPr algn="l"/>
            <a:r>
              <a:rPr sz="3600" b="1" i="0">
                <a:solidFill>
                  <a:srgbClr val="EB6834"/>
                </a:solidFill>
                <a:latin typeface="Cambria"/>
              </a:rPr>
              <a:t>51%</a:t>
            </a:r>
          </a:p>
        </p:txBody>
      </p:sp>
      <p:sp>
        <p:nvSpPr>
          <p:cNvPr id="10" name="TextBox 9"/>
          <p:cNvSpPr txBox="1"/>
          <p:nvPr/>
        </p:nvSpPr>
        <p:spPr>
          <a:xfrm>
            <a:off x="4590288"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of destroyed buildings</a:t>
            </a:r>
          </a:p>
        </p:txBody>
      </p:sp>
      <p:sp>
        <p:nvSpPr>
          <p:cNvPr id="11" name="TextBox 10"/>
          <p:cNvSpPr txBox="1"/>
          <p:nvPr/>
        </p:nvSpPr>
        <p:spPr>
          <a:xfrm>
            <a:off x="4590288"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found by inspecting just the top 20% of the ranked list</a:t>
            </a:r>
          </a:p>
        </p:txBody>
      </p:sp>
      <p:sp>
        <p:nvSpPr>
          <p:cNvPr id="12" name="Rounded Rectangle 11"/>
          <p:cNvSpPr/>
          <p:nvPr/>
        </p:nvSpPr>
        <p:spPr>
          <a:xfrm>
            <a:off x="8083296"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57616" y="1783080"/>
            <a:ext cx="3108960" cy="731520"/>
          </a:xfrm>
          <a:prstGeom prst="rect">
            <a:avLst/>
          </a:prstGeom>
          <a:noFill/>
        </p:spPr>
        <p:txBody>
          <a:bodyPr wrap="square" lIns="0" rIns="0" tIns="0" bIns="0" anchor="t">
            <a:spAutoFit/>
          </a:bodyPr>
          <a:lstStyle/>
          <a:p>
            <a:pPr algn="l"/>
            <a:r>
              <a:rPr sz="3600" b="1" i="0">
                <a:solidFill>
                  <a:srgbClr val="142340"/>
                </a:solidFill>
                <a:latin typeface="Cambria"/>
              </a:rPr>
              <a:t>+6.3 pp</a:t>
            </a:r>
          </a:p>
        </p:txBody>
      </p:sp>
      <p:sp>
        <p:nvSpPr>
          <p:cNvPr id="14" name="TextBox 13"/>
          <p:cNvSpPr txBox="1"/>
          <p:nvPr/>
        </p:nvSpPr>
        <p:spPr>
          <a:xfrm>
            <a:off x="8357616"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from geo target encoding</a:t>
            </a:r>
          </a:p>
        </p:txBody>
      </p:sp>
      <p:sp>
        <p:nvSpPr>
          <p:cNvPr id="15" name="TextBox 14"/>
          <p:cNvSpPr txBox="1"/>
          <p:nvPr/>
        </p:nvSpPr>
        <p:spPr>
          <a:xfrm>
            <a:off x="8357616"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leakage-safe encoding of 11,595 villages</a:t>
            </a:r>
          </a:p>
        </p:txBody>
      </p:sp>
      <p:sp>
        <p:nvSpPr>
          <p:cNvPr id="16" name="Rounded Rectangle 15"/>
          <p:cNvSpPr/>
          <p:nvPr/>
        </p:nvSpPr>
        <p:spPr>
          <a:xfrm>
            <a:off x="548640"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3</a:t>
            </a:r>
          </a:p>
        </p:txBody>
      </p:sp>
      <p:sp>
        <p:nvSpPr>
          <p:cNvPr id="18" name="TextBox 17"/>
          <p:cNvSpPr txBox="1"/>
          <p:nvPr/>
        </p:nvSpPr>
        <p:spPr>
          <a:xfrm>
            <a:off x="822959"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models compared fairly</a:t>
            </a:r>
          </a:p>
        </p:txBody>
      </p:sp>
      <p:sp>
        <p:nvSpPr>
          <p:cNvPr id="19" name="TextBox 18"/>
          <p:cNvSpPr txBox="1"/>
          <p:nvPr/>
        </p:nvSpPr>
        <p:spPr>
          <a:xfrm>
            <a:off x="822959"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same features and folds; trees +0.98 pp over LR in CV</a:t>
            </a:r>
          </a:p>
        </p:txBody>
      </p:sp>
      <p:sp>
        <p:nvSpPr>
          <p:cNvPr id="20" name="Rounded Rectangle 19"/>
          <p:cNvSpPr/>
          <p:nvPr/>
        </p:nvSpPr>
        <p:spPr>
          <a:xfrm>
            <a:off x="4315968"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0288"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7</a:t>
            </a:r>
          </a:p>
        </p:txBody>
      </p:sp>
      <p:sp>
        <p:nvSpPr>
          <p:cNvPr id="22" name="TextBox 21"/>
          <p:cNvSpPr txBox="1"/>
          <p:nvPr/>
        </p:nvSpPr>
        <p:spPr>
          <a:xfrm>
            <a:off x="4590288"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controlled LR experiments</a:t>
            </a:r>
          </a:p>
        </p:txBody>
      </p:sp>
      <p:sp>
        <p:nvSpPr>
          <p:cNvPr id="23" name="TextBox 22"/>
          <p:cNvSpPr txBox="1"/>
          <p:nvPr/>
        </p:nvSpPr>
        <p:spPr>
          <a:xfrm>
            <a:off x="4590288"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incl. an honest negative result for the ordinal model</a:t>
            </a:r>
          </a:p>
        </p:txBody>
      </p:sp>
      <p:sp>
        <p:nvSpPr>
          <p:cNvPr id="24" name="Rounded Rectangle 23"/>
          <p:cNvSpPr/>
          <p:nvPr/>
        </p:nvSpPr>
        <p:spPr>
          <a:xfrm>
            <a:off x="8083296"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1</a:t>
            </a:r>
          </a:p>
        </p:txBody>
      </p:sp>
      <p:sp>
        <p:nvSpPr>
          <p:cNvPr id="26" name="TextBox 25"/>
          <p:cNvSpPr txBox="1"/>
          <p:nvPr/>
        </p:nvSpPr>
        <p:spPr>
          <a:xfrm>
            <a:off x="8357616"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command to reproduce</a:t>
            </a:r>
          </a:p>
        </p:txBody>
      </p:sp>
      <p:sp>
        <p:nvSpPr>
          <p:cNvPr id="27" name="TextBox 26"/>
          <p:cNvSpPr txBox="1"/>
          <p:nvPr/>
        </p:nvSpPr>
        <p:spPr>
          <a:xfrm>
            <a:off x="8357616"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python -m src.run_all → figures, results.json, report, slides</a:t>
            </a:r>
          </a:p>
        </p:txBody>
      </p:sp>
      <p:sp>
        <p:nvSpPr>
          <p:cNvPr id="28" name="TextBox 2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9" name="TextBox 2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FUTURE DIRECTIONS FOR FURTHER IMPROVEMENTS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Where we would go next</a:t>
            </a:r>
          </a:p>
        </p:txBody>
      </p:sp>
      <p:sp>
        <p:nvSpPr>
          <p:cNvPr id="4" name="Oval 3"/>
          <p:cNvSpPr/>
          <p:nvPr/>
        </p:nvSpPr>
        <p:spPr>
          <a:xfrm>
            <a:off x="548640" y="16002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5" name="TextBox 4"/>
          <p:cNvSpPr txBox="1"/>
          <p:nvPr/>
        </p:nvSpPr>
        <p:spPr>
          <a:xfrm>
            <a:off x="1143000" y="1554480"/>
            <a:ext cx="4846320" cy="365760"/>
          </a:xfrm>
          <a:prstGeom prst="rect">
            <a:avLst/>
          </a:prstGeom>
          <a:noFill/>
        </p:spPr>
        <p:txBody>
          <a:bodyPr wrap="square" lIns="0" rIns="0" tIns="0" bIns="0" anchor="t">
            <a:spAutoFit/>
          </a:bodyPr>
          <a:lstStyle/>
          <a:p>
            <a:pPr algn="l"/>
            <a:r>
              <a:rPr sz="1700" b="1" i="0">
                <a:solidFill>
                  <a:srgbClr val="142340"/>
                </a:solidFill>
                <a:latin typeface="Calibri"/>
              </a:rPr>
              <a:t>Richer location signal</a:t>
            </a:r>
          </a:p>
        </p:txBody>
      </p:sp>
      <p:sp>
        <p:nvSpPr>
          <p:cNvPr id="6" name="TextBox 5"/>
          <p:cNvSpPr txBox="1"/>
          <p:nvPr/>
        </p:nvSpPr>
        <p:spPr>
          <a:xfrm>
            <a:off x="1143000" y="1938528"/>
            <a:ext cx="4846320" cy="914400"/>
          </a:xfrm>
          <a:prstGeom prst="rect">
            <a:avLst/>
          </a:prstGeom>
          <a:noFill/>
        </p:spPr>
        <p:txBody>
          <a:bodyPr wrap="square" lIns="0" rIns="0" tIns="0" bIns="0" anchor="t">
            <a:spAutoFit/>
          </a:bodyPr>
          <a:lstStyle/>
          <a:p>
            <a:pPr algn="l"/>
            <a:r>
              <a:rPr sz="1400" b="0" i="0">
                <a:solidFill>
                  <a:srgbClr val="52514E"/>
                </a:solidFill>
                <a:latin typeface="Calibri"/>
              </a:rPr>
              <a:t>Add measured ground shaking (USGS ShakeMap PGA) and distance to the epicentre instead of using region ids as proxies.</a:t>
            </a:r>
          </a:p>
        </p:txBody>
      </p:sp>
      <p:sp>
        <p:nvSpPr>
          <p:cNvPr id="7" name="Oval 6"/>
          <p:cNvSpPr/>
          <p:nvPr/>
        </p:nvSpPr>
        <p:spPr>
          <a:xfrm>
            <a:off x="6172200" y="16002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8" name="TextBox 7"/>
          <p:cNvSpPr txBox="1"/>
          <p:nvPr/>
        </p:nvSpPr>
        <p:spPr>
          <a:xfrm>
            <a:off x="6766560" y="1554480"/>
            <a:ext cx="4846320" cy="365760"/>
          </a:xfrm>
          <a:prstGeom prst="rect">
            <a:avLst/>
          </a:prstGeom>
          <a:noFill/>
        </p:spPr>
        <p:txBody>
          <a:bodyPr wrap="square" lIns="0" rIns="0" tIns="0" bIns="0" anchor="t">
            <a:spAutoFit/>
          </a:bodyPr>
          <a:lstStyle/>
          <a:p>
            <a:pPr algn="l"/>
            <a:r>
              <a:rPr sz="1700" b="1" i="0">
                <a:solidFill>
                  <a:srgbClr val="142340"/>
                </a:solidFill>
                <a:latin typeface="Calibri"/>
              </a:rPr>
              <a:t>Interactions for LR</a:t>
            </a:r>
          </a:p>
        </p:txBody>
      </p:sp>
      <p:sp>
        <p:nvSpPr>
          <p:cNvPr id="9" name="TextBox 8"/>
          <p:cNvSpPr txBox="1"/>
          <p:nvPr/>
        </p:nvSpPr>
        <p:spPr>
          <a:xfrm>
            <a:off x="6766560" y="1938528"/>
            <a:ext cx="4846320" cy="914400"/>
          </a:xfrm>
          <a:prstGeom prst="rect">
            <a:avLst/>
          </a:prstGeom>
          <a:noFill/>
        </p:spPr>
        <p:txBody>
          <a:bodyPr wrap="square" lIns="0" rIns="0" tIns="0" bIns="0" anchor="t">
            <a:spAutoFit/>
          </a:bodyPr>
          <a:lstStyle/>
          <a:p>
            <a:pPr algn="l"/>
            <a:r>
              <a:rPr sz="1400" b="0" i="0">
                <a:solidFill>
                  <a:srgbClr val="52514E"/>
                </a:solidFill>
                <a:latin typeface="Calibri"/>
              </a:rPr>
              <a:t>Material × region and floors × age terms or splines, to close the gap to the trees while staying interpretable.</a:t>
            </a:r>
          </a:p>
        </p:txBody>
      </p:sp>
      <p:sp>
        <p:nvSpPr>
          <p:cNvPr id="10" name="Oval 9"/>
          <p:cNvSpPr/>
          <p:nvPr/>
        </p:nvSpPr>
        <p:spPr>
          <a:xfrm>
            <a:off x="548640" y="3063239"/>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143000" y="3017520"/>
            <a:ext cx="4846320" cy="365760"/>
          </a:xfrm>
          <a:prstGeom prst="rect">
            <a:avLst/>
          </a:prstGeom>
          <a:noFill/>
        </p:spPr>
        <p:txBody>
          <a:bodyPr wrap="square" lIns="0" rIns="0" tIns="0" bIns="0" anchor="t">
            <a:spAutoFit/>
          </a:bodyPr>
          <a:lstStyle/>
          <a:p>
            <a:pPr algn="l"/>
            <a:r>
              <a:rPr sz="1700" b="1" i="0">
                <a:solidFill>
                  <a:srgbClr val="142340"/>
                </a:solidFill>
                <a:latin typeface="Calibri"/>
              </a:rPr>
              <a:t>Explain the ensembles</a:t>
            </a:r>
          </a:p>
        </p:txBody>
      </p:sp>
      <p:sp>
        <p:nvSpPr>
          <p:cNvPr id="12" name="TextBox 11"/>
          <p:cNvSpPr txBox="1"/>
          <p:nvPr/>
        </p:nvSpPr>
        <p:spPr>
          <a:xfrm>
            <a:off x="1143000" y="3401568"/>
            <a:ext cx="4846320" cy="914400"/>
          </a:xfrm>
          <a:prstGeom prst="rect">
            <a:avLst/>
          </a:prstGeom>
          <a:noFill/>
        </p:spPr>
        <p:txBody>
          <a:bodyPr wrap="square" lIns="0" rIns="0" tIns="0" bIns="0" anchor="t">
            <a:spAutoFit/>
          </a:bodyPr>
          <a:lstStyle/>
          <a:p>
            <a:pPr algn="l"/>
            <a:r>
              <a:rPr sz="1400" b="0" i="0">
                <a:solidFill>
                  <a:srgbClr val="52514E"/>
                </a:solidFill>
                <a:latin typeface="Calibri"/>
              </a:rPr>
              <a:t>SHAP values for per-building explanations of the tree models, and wider tuning (LightGBM, CatBoost).</a:t>
            </a:r>
          </a:p>
        </p:txBody>
      </p:sp>
      <p:sp>
        <p:nvSpPr>
          <p:cNvPr id="13" name="Oval 12"/>
          <p:cNvSpPr/>
          <p:nvPr/>
        </p:nvSpPr>
        <p:spPr>
          <a:xfrm>
            <a:off x="6172200" y="3063239"/>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4" name="TextBox 13"/>
          <p:cNvSpPr txBox="1"/>
          <p:nvPr/>
        </p:nvSpPr>
        <p:spPr>
          <a:xfrm>
            <a:off x="6766560" y="3017520"/>
            <a:ext cx="4846320" cy="365760"/>
          </a:xfrm>
          <a:prstGeom prst="rect">
            <a:avLst/>
          </a:prstGeom>
          <a:noFill/>
        </p:spPr>
        <p:txBody>
          <a:bodyPr wrap="square" lIns="0" rIns="0" tIns="0" bIns="0" anchor="t">
            <a:spAutoFit/>
          </a:bodyPr>
          <a:lstStyle/>
          <a:p>
            <a:pPr algn="l"/>
            <a:r>
              <a:rPr sz="1700" b="1" i="0">
                <a:solidFill>
                  <a:srgbClr val="142340"/>
                </a:solidFill>
                <a:latin typeface="Calibri"/>
              </a:rPr>
              <a:t>Cost-aware decisions</a:t>
            </a:r>
          </a:p>
        </p:txBody>
      </p:sp>
      <p:sp>
        <p:nvSpPr>
          <p:cNvPr id="15" name="TextBox 14"/>
          <p:cNvSpPr txBox="1"/>
          <p:nvPr/>
        </p:nvSpPr>
        <p:spPr>
          <a:xfrm>
            <a:off x="6766560" y="3401568"/>
            <a:ext cx="4846320" cy="914400"/>
          </a:xfrm>
          <a:prstGeom prst="rect">
            <a:avLst/>
          </a:prstGeom>
          <a:noFill/>
        </p:spPr>
        <p:txBody>
          <a:bodyPr wrap="square" lIns="0" rIns="0" tIns="0" bIns="0" anchor="t">
            <a:spAutoFit/>
          </a:bodyPr>
          <a:lstStyle/>
          <a:p>
            <a:pPr algn="l"/>
            <a:r>
              <a:rPr sz="1400" b="0" i="0">
                <a:solidFill>
                  <a:srgbClr val="52514E"/>
                </a:solidFill>
                <a:latin typeface="Calibri"/>
              </a:rPr>
              <a:t>Pick decision thresholds from inspection capacity and the cost of missing a destroyed building.</a:t>
            </a:r>
          </a:p>
        </p:txBody>
      </p:sp>
      <p:sp>
        <p:nvSpPr>
          <p:cNvPr id="16" name="Oval 15"/>
          <p:cNvSpPr/>
          <p:nvPr/>
        </p:nvSpPr>
        <p:spPr>
          <a:xfrm>
            <a:off x="548640" y="452628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7" name="TextBox 16"/>
          <p:cNvSpPr txBox="1"/>
          <p:nvPr/>
        </p:nvSpPr>
        <p:spPr>
          <a:xfrm>
            <a:off x="1143000" y="4480560"/>
            <a:ext cx="4846320" cy="365760"/>
          </a:xfrm>
          <a:prstGeom prst="rect">
            <a:avLst/>
          </a:prstGeom>
          <a:noFill/>
        </p:spPr>
        <p:txBody>
          <a:bodyPr wrap="square" lIns="0" rIns="0" tIns="0" bIns="0" anchor="t">
            <a:spAutoFit/>
          </a:bodyPr>
          <a:lstStyle/>
          <a:p>
            <a:pPr algn="l"/>
            <a:r>
              <a:rPr sz="1700" b="1" i="0">
                <a:solidFill>
                  <a:srgbClr val="142340"/>
                </a:solidFill>
                <a:latin typeface="Calibri"/>
              </a:rPr>
              <a:t>Probability calibration</a:t>
            </a:r>
          </a:p>
        </p:txBody>
      </p:sp>
      <p:sp>
        <p:nvSpPr>
          <p:cNvPr id="18" name="TextBox 17"/>
          <p:cNvSpPr txBox="1"/>
          <p:nvPr/>
        </p:nvSpPr>
        <p:spPr>
          <a:xfrm>
            <a:off x="1143000" y="4864608"/>
            <a:ext cx="4846320" cy="914400"/>
          </a:xfrm>
          <a:prstGeom prst="rect">
            <a:avLst/>
          </a:prstGeom>
          <a:noFill/>
        </p:spPr>
        <p:txBody>
          <a:bodyPr wrap="square" lIns="0" rIns="0" tIns="0" bIns="0" anchor="t">
            <a:spAutoFit/>
          </a:bodyPr>
          <a:lstStyle/>
          <a:p>
            <a:pPr algn="l"/>
            <a:r>
              <a:rPr sz="1400" b="0" i="0">
                <a:solidFill>
                  <a:srgbClr val="52514E"/>
                </a:solidFill>
                <a:latin typeface="Calibri"/>
              </a:rPr>
              <a:t>Check and calibrate predicted risks so that teams can trust the percentages, not only the ranking.</a:t>
            </a:r>
          </a:p>
        </p:txBody>
      </p:sp>
      <p:sp>
        <p:nvSpPr>
          <p:cNvPr id="19" name="Oval 18"/>
          <p:cNvSpPr/>
          <p:nvPr/>
        </p:nvSpPr>
        <p:spPr>
          <a:xfrm>
            <a:off x="6172200" y="452628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0" name="TextBox 19"/>
          <p:cNvSpPr txBox="1"/>
          <p:nvPr/>
        </p:nvSpPr>
        <p:spPr>
          <a:xfrm>
            <a:off x="6766560" y="4480560"/>
            <a:ext cx="4846320" cy="365760"/>
          </a:xfrm>
          <a:prstGeom prst="rect">
            <a:avLst/>
          </a:prstGeom>
          <a:noFill/>
        </p:spPr>
        <p:txBody>
          <a:bodyPr wrap="square" lIns="0" rIns="0" tIns="0" bIns="0" anchor="t">
            <a:spAutoFit/>
          </a:bodyPr>
          <a:lstStyle/>
          <a:p>
            <a:pPr algn="l"/>
            <a:r>
              <a:rPr sz="1700" b="1" i="0">
                <a:solidFill>
                  <a:srgbClr val="142340"/>
                </a:solidFill>
                <a:latin typeface="Calibri"/>
              </a:rPr>
              <a:t>Validate &amp; deploy</a:t>
            </a:r>
          </a:p>
        </p:txBody>
      </p:sp>
      <p:sp>
        <p:nvSpPr>
          <p:cNvPr id="21" name="TextBox 20"/>
          <p:cNvSpPr txBox="1"/>
          <p:nvPr/>
        </p:nvSpPr>
        <p:spPr>
          <a:xfrm>
            <a:off x="6766560" y="4864608"/>
            <a:ext cx="4846320" cy="914400"/>
          </a:xfrm>
          <a:prstGeom prst="rect">
            <a:avLst/>
          </a:prstGeom>
          <a:noFill/>
        </p:spPr>
        <p:txBody>
          <a:bodyPr wrap="square" lIns="0" rIns="0" tIns="0" bIns="0" anchor="t">
            <a:spAutoFit/>
          </a:bodyPr>
          <a:lstStyle/>
          <a:p>
            <a:pPr algn="l"/>
            <a:r>
              <a:rPr sz="1400" b="0" i="0">
                <a:solidFill>
                  <a:srgbClr val="52514E"/>
                </a:solidFill>
                <a:latin typeface="Calibri"/>
              </a:rPr>
              <a:t>Spatially grouped CV for unseen areas; package the final pipeline as a simple triage tool.</a:t>
            </a:r>
          </a:p>
        </p:txBody>
      </p:sp>
      <p:sp>
        <p:nvSpPr>
          <p:cNvPr id="22" name="TextBox 21"/>
          <p:cNvSpPr txBox="1"/>
          <p:nvPr/>
        </p:nvSpPr>
        <p:spPr>
          <a:xfrm>
            <a:off x="548640" y="5943600"/>
            <a:ext cx="11064240" cy="365760"/>
          </a:xfrm>
          <a:prstGeom prst="rect">
            <a:avLst/>
          </a:prstGeom>
          <a:noFill/>
        </p:spPr>
        <p:txBody>
          <a:bodyPr wrap="square" lIns="0" rIns="0" tIns="0" bIns="0" anchor="t">
            <a:spAutoFit/>
          </a:bodyPr>
          <a:lstStyle/>
          <a:p>
            <a:pPr algn="l"/>
            <a:r>
              <a:rPr sz="1600" b="1" i="0">
                <a:solidFill>
                  <a:srgbClr val="EB6834"/>
                </a:solidFill>
                <a:latin typeface="Calibri"/>
              </a:rPr>
              <a:t>Thank you. Questions are welcome.</a:t>
            </a:r>
          </a:p>
        </p:txBody>
      </p:sp>
      <p:sp>
        <p:nvSpPr>
          <p:cNvPr id="23" name="TextBox 22"/>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4" name="TextBox 23"/>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