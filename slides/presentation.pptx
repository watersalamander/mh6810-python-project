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 are Group [XX], and our project asks a very practical question: after a major earthquake, can a simple, transparent model tell inspectors which buildings to visit first? We worked with records of 260,601 buildings surveyed after the 2015 Gorkha earthquake in Nepal, and we compared three models: a transparent logistic regression, a random forest and gradient boosting. Over the next twenty minutes, six of us will walk you through the data, our preprocessing, the two ideas we are most proud of, how we trained and tested the models, what we found, and where we would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come from the DrivenData competition Richter's Predictor, based on Nepal's post-earthquake building survey. There are 260,601 labelled buildings, each described by 38 features, plus 86,868 unlabelled buildings that we only use for a competition submission. The features fall into four groups. Location is given as three nested region levels, from 31 broad regions down to 11,595 local areas. Then size and age, construction details such as foundation, roof and eleven superstructure-material flags, and finally use and ownership. The data are clean, with no missing values, but the categorical codes are anonymised letters, so we can say a foundation of type 'i' is safer, not exactly what 'i' is. Every one of these features was recorded by the survey, so a model built on them could in principle be applied to the next earthquake as soon as the building register exists, before a single inspector has visited.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problem statement. After an earthquake, inspection teams are scarce and there are hundreds of thousands of buildings. If a model can estimate how badly each building was damaged from information that is already on record, its structure and its location, teams can visit the most dangerous buildings first. Technically this is a three-class classification problem, and the classes are ordered, grade 1 to grade 3. We report micro-F1, which is the competition metric and equals accuracy, and macro-F1, which gives the rare low-damage class equal weight. Because the real goal is prioritisation, we also rank buildings by their predicted probability of grade 3 and measure how many destroyed buildings an inspection list catches. Finally, we compare three models: logistic regression, which is transparent and easy to audit, and two tree ensembles, which are more flexible but harder to explain. Keep that trade-off in mind, accuracy against explainability, because it comes back at the end of our talk.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looking at any feature, we looked at the target itself. This chart shows how many buildings fall into each damage grade, measured on our training split. Grade 2 dominates with 57% of buildings, grade 3 follows with 33%, and grade 1, low damage, is only 10%, about one building in 10. This matters for three reasons. First, it sets the bar: a model that ignores the data and always answers grade 2 is already right 57% of the time, a micro-F1 of 0.569. Anything we build has to beat that. Second, it is why we report two metrics. Micro-F1 counts every building equally, so it is dominated by grade 2; it equals plain accuracy. Macro-F1 averages the F1 score of each grade with equal weight, so the rare grade 1 counts as much as grade 2. The always-grade-2 model gets a macro-F1 of only 0.242, which exposes it immediately. Third, it shaped our procedure. Every split and every cross-validation fold is stratified, so each one keeps the same 10, 57, 33 percent mix, and we tested class weighting, which tells the model to pay more attention to rare grades. We will come back to that experiment in the highlights.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with exploratory analysis, done on the training split only so the holdout stayed untouched. The biggest structural signal is the building material. About 76% of buildings are built from mud-mortar stone, and 38% of those were essentially destroyed. Compare engineered reinforced concrete: only 2% reached grade 3, and 64% had only low damage. Foundation and roof types show the same pattern. Foundation type r, used by 84% of buildings, has a grade-3 rate of 38%, while foundation type i has only 2%, and roof type x only 4%. The codes are anonymised, but these protective types behave exactly like engineered, reinforced construction. The lesson for modelling: what a building is made of carries real signal, and we should expect the models to pick it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key finding is geography. Each bar is one of the 31 top-level regions, sorted by its share of destroyed buildings. In region 26 only 9% of buildings reached grade 3; in region 17 it was 81%. The same mud-stone house fares very differently depending on how strongly the ground shook, and location is our best proxy for that. Remember that location comes at three nested levels: 31 regions, 1,414 sub-regions and 11,595 local areas, each sitting inside the level above, a bit like province, district and village. This chart only uses the coarsest level. This told us two things: location must be in the model, and the finer location levels, with thousands of local areas, probably carry even more signal, if we can encode them without overfitting. That is one of our highlights.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preprocessing step lives inside a single scikit-learn pipeline, so in cross-validation each step is re-fitted on the training folds only. That is how we avoid data leakage. Leakage would happen, for example, if we computed the median age or a village's damage rate on all the data before splitting: the validation buildings would then have helped build their own features, and our scores would look better than they really are. The data had no missing values, but 1,390 buildings have an age of 995 years, which is clearly a placeholder. Instead of treating them as very old buildings, we add a flag and replace the age with the training median; the flag matters because these buildings are actually damaged less often. For logistic regression, age, area and height are log-transformed and standardised, and categoricals are one-hot encoded; the tree models skip the scaling and use integer codes instead. The two fine location levels are target-encoded for all three models, which we'll explain next. For feature engineering we tested four candidates, each added on its own and compared fold by fold. We kept only features that improved the mean and won in at least four of five folds: floors_x_log_age. Overall, engineered features changed micro-F1 by +0.02 pp, which is small. Most of the signal is already in the raw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highlight is how we used location. The finest level has 11,595 villages. One-hot encoding that would create thousands of sparse columns and overfit. Instead, we used target encoding: each village is replaced by three numbers, its observed share of grade 1, 2 and 3 buildings, smoothed toward the overall mix when a village is small. For example, a village with only three buildings, all destroyed, does not get a grade-3 rate of one hundred percent; its estimate is pulled toward the national average, because three buildings are weak evidence. The danger with target encoding is leakage, because a building's own label would leak into its feature. scikit-learn's TargetEncoder cross-fits internally, so a building's encoding is always computed from other buildings, and because it sits in our pipeline it is re-fitted inside every CV fold. The effect is the biggest jump in the whole project. Structure alone gives 0.591; adding the region one-hot gives 0.672; and the target-encoded villages take us to 0.735, a gain of +6.3 pp from this one idea. Intuitively, the model now knows how badly each neighbourhood was hit, which is exactly the information an inspector would ask for first. Villages that never appear in training, 0.4% of the test set, simply receive the overall class mix.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highlight tests whether the ordering of the damage grades can be exploited. A standard multinomial model treats grades 1, 2 and 3 as unrelated labels. Our ordinal version instead fits two binary logistic models: one for 'worse than grade 1' and one for 'worse than grade 2', then turns them into three class probabilities. Compared with the multinomial model on identical features, the ordinal approach changed micro-F1 by -0.06 pp and macro-F1 by -0.04 pp, so it made no real difference. This is a negative result, but an informative one: with only three classes the multinomial model is flexible enough to learn the ordering on its own. We also tried class weighting. It lowered macro-F1 by 0.88 pp and raised grade-1 recall from 0.47 to 0.83, but micro-F1 moved by -4.43 pp. Macro-F1 does not improve either, because many grade-2 buildings are now wrongly called grade 1, so grade-1 precision collapses. So weighting is a policy choice, not a free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we trained and tested. We split the labelled data 80 to 20, stratified by damage grade, and locked the 52,121-building holdout away until the very end. All comparisons and tuning used stratified five-fold cross-validation on the 80 percent, with every encoder re-fitted inside each fold. Five-fold means we train five times, each time holding out a different fifth of the training data, and average the five scores. That gives us both a mean and a spread, so we can tell a real improvement from noise, and it means we never need to look at the holdout while making decisions. For logistic regression we ran seven experiments and tuned C on the best one, E4. The random forest and gradient boosting reuse the same features and folds, with small tuning grids. Each tuned model was scored once on the holdout, but the final model was chosen by cross-validation alone: HistGradientBoosting. It was then refit on all labelled data for our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model one. This chart shows cross-validated micro-F1 for every logistic-regression experiment, with error bars across the five folds. The majority baseline scores 0.569. Structure alone lifts this to 0.591, which is useful but modest. Adding the 31 regions gains +8.1 pp, and the target-encoded village levels add another +6.3 pp, the largest single step. Engineered features change micro-F1 by only +0.02 pp. The balanced and ordinal variants score 0.691 and 0.735, which is why we carried E4 forward. Tuning the regularisation strength C barely mattered: the best value, 0.3, is within a hair of the default, because with 208,480 training buildings the model is not starved of data. The fold-to-fold standard deviations are tiny, at most 0.19 percentage points, so the big steps are not noise. The lesson: building material matters, but only location tells a mud-stone house near the epicentre from one far away, and once location is in, hand-made features add almost nothing.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comparison our course asked for: three models on exactly the same features and folds. A quick word on the two new models. A random forest grows many decision trees, each on a random sample of buildings and features, and lets them vote; averaging makes it stable. Gradient boosting instead grows trees one after another, each new tree correcting the mistakes of the trees before it. Both can learn interactions and thresholds automatically, which logistic regression cannot do unless we hand-craft them. Logistic regression reaches 0.735 cross-validated micro-F1 and 0.740 on the holdout. The random forest reaches 0.744 and 0.750, and HistGradientBoosting 0.745 and 0.750. So HistGradientBoosting is our final model, chosen on cross-validation only. Its gain over logistic regression is +0.98 pp in cross-validation and +0.93 pp on the holdout: real and consistent, but small. The trees can combine features by themselves, for example a material that is only dangerous where shaking was strong. The two tree models are practically tied: on the holdout the random forest is even +0.05 pp ahead, but we fixed in advance that cross-validation decides, so the holdout stays an honest check. Macro-F1 tells a similar story: 0.673, 0.687 and 0.694 in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final model, HistGradientBoosting, on the holdout. It scores a micro-F1 of 0.750 and a macro-F1 of 0.701, close to its cross-validated 0.745, so our model selection did not overfit. Grade 2 is recalled 85% of the time and grade 3 64%; grade 1 is hardest at 55%, because it is rare and often looks like grade 2. The grey numbers are logistic regression, for comparison. Importantly, mistakes are almost always between neighbouring grades: only 0.6% of destroyed buildings are mistaken for low damage, which is the costly error for inspectors. The biggest remaining error is grade-3 buildings predicted as grade 2, 35% of them: many destroyed buildings look ordinary on paper, and what tipped them over, such as local shaking, is not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models back to our problem statement. We ranked every holdout building by its predicted probability of grade 3 and asked: if inspectors work down this list, how many destroyed buildings do they find? With the final model, the top 10 percent finds 28% of all grade-3 buildings, the top 20 percent 51%, and the top 30 percent 67%, against 10, 20 and 30 percent for a random order. The three curves almost overlap: at 20 percent, logistic regression finds 49.8%, the forest 50.6% and boosting 50.6%. Concretely, in our holdout the first 5,212 visits would reach about 4,914 destroyed buildings, instead of about 1,744 in random order. The curve also shows diminishing returns: the first part of the list is rich in destroyed buildings, and after about half the list most remaining buildings are lower risk, which helps an agency decide how many teams it needs in the first days.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model call a building high-risk? On the left is logistic regression, which we can read directly: odds ratios for grade-3 damage, red raising and blue lowering the odds. The strongest risk factors are superstructure: mud mortar stone and age; the strongest protective ones are foundation type = i and roof type = x. Mud-mortar stone multiplies the odds of destruction by about 1.4, engineered reinforced concrete by 0.84. Tree ensembles have no coefficients, so on the right we use permutation importance: how much micro-F1 drops when we shuffle one input column. All three models rely first on location, then on construction details such as foundation, material and age, which matches our exploration and engineering intuition. The difference is that importance says how much a feature matters, while the odds ratios also say in which direction.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Our final model, HistGradientBoosting, reaches a holdout micro-F1 of 0.750, against 0.569 for always guessing grade 2. Translated into the problem statement, inspecting the top 20 percent of buildings on its list finds 51% of the destroyed ones. The biggest technical contribution was leakage-safe target encoding of village-level location, which helps every model. We compared three models fairly, and the trees beat logistic regression by +0.98 pp, so transparency costs a little accuracy but not much. We were strict about methodology: every transformation is inside one pipeline, so nothing is learned from validation data, and each tuned model saw the holdout exactly once. We also report the experiments that did not help, such as class weighting and the ordinal model, as honestly as the ones that did. Finally, the whole project, from the raw CSV files to the figures, the report and this deck, is reproducible with one command, and every number you have seen today is read automatically from a single results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where would we go next? The most valuable addition would be measured ground shaking, for example peak ground acceleration from USGS ShakeMap, instead of letting region ids act as a proxy. Second, interaction terms such as material by region could close the gap between logistic regression and the trees while staying interpretable. Third, SHAP values would give the tree models per-building explanations, so the more accurate model could also tell an inspector why a building is flagged. A wider search, or libraries such as LightGBM or CatBoost, might add a little more accuracy. Fourth, decision thresholds should come from inspection capacity and from the cost of missing a destroyed building, and the probabilities should be calibrated so teams can trust the percentages. Lastly, before deploying a triage tool, we would test the model with spatially grouped cross-validation, to see how it performs in areas it has never seen. Thank you for listening;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340"/>
        </a:solidFill>
        <a:effectLst/>
      </p:bgPr>
    </p:bg>
    <p:spTree>
      <p:nvGrpSpPr>
        <p:cNvPr id="1" name=""/>
        <p:cNvGrpSpPr/>
        <p:nvPr/>
      </p:nvGrpSpPr>
      <p:grpSpPr/>
      <p:sp>
        <p:nvSpPr>
          <p:cNvPr id="2" name="Rounded Rectangle 1"/>
          <p:cNvSpPr/>
          <p:nvPr/>
        </p:nvSpPr>
        <p:spPr>
          <a:xfrm>
            <a:off x="548640" y="822960"/>
            <a:ext cx="292608" cy="292608"/>
          </a:xfrm>
          <a:prstGeom prst="roundRect">
            <a:avLst>
              <a:gd name="adj" fmla="val 15000"/>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32688" y="822960"/>
            <a:ext cx="292608" cy="292608"/>
          </a:xfrm>
          <a:prstGeom prst="roundRect">
            <a:avLst>
              <a:gd name="adj" fmla="val 15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16736" y="822960"/>
            <a:ext cx="292608" cy="29260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0515600" cy="1828800"/>
          </a:xfrm>
          <a:prstGeom prst="rect">
            <a:avLst/>
          </a:prstGeom>
          <a:noFill/>
        </p:spPr>
        <p:txBody>
          <a:bodyPr wrap="square" lIns="0" rIns="0" tIns="0" bIns="0" anchor="t">
            <a:spAutoFit/>
          </a:bodyPr>
          <a:lstStyle/>
          <a:p>
            <a:pPr algn="l"/>
            <a:r>
              <a:rPr sz="4400" b="1" i="0">
                <a:solidFill>
                  <a:srgbClr val="FFFFFF"/>
                </a:solidFill>
                <a:latin typeface="Cambria"/>
              </a:rPr>
              <a:t>Predicting Earthquake Damage to Prioritise Building Inspections</a:t>
            </a:r>
          </a:p>
        </p:txBody>
      </p:sp>
      <p:sp>
        <p:nvSpPr>
          <p:cNvPr id="6" name="TextBox 5"/>
          <p:cNvSpPr txBox="1"/>
          <p:nvPr/>
        </p:nvSpPr>
        <p:spPr>
          <a:xfrm>
            <a:off x="548640" y="3246120"/>
            <a:ext cx="10058400" cy="822960"/>
          </a:xfrm>
          <a:prstGeom prst="rect">
            <a:avLst/>
          </a:prstGeom>
          <a:noFill/>
        </p:spPr>
        <p:txBody>
          <a:bodyPr wrap="square" lIns="0" rIns="0" tIns="0" bIns="0" anchor="t">
            <a:spAutoFit/>
          </a:bodyPr>
          <a:lstStyle/>
          <a:p>
            <a:pPr algn="l"/>
            <a:r>
              <a:rPr sz="2000" b="0" i="0">
                <a:solidFill>
                  <a:srgbClr val="86B6EF"/>
                </a:solidFill>
                <a:latin typeface="Calibri"/>
              </a:rPr>
              <a:t>Logistic regression, random forest and gradient boosting on 260,601 buildings from the 2015 Gorkha earthquake, Nepal</a:t>
            </a:r>
          </a:p>
        </p:txBody>
      </p:sp>
      <p:sp>
        <p:nvSpPr>
          <p:cNvPr id="7" name="TextBox 6"/>
          <p:cNvSpPr txBox="1"/>
          <p:nvPr/>
        </p:nvSpPr>
        <p:spPr>
          <a:xfrm>
            <a:off x="548640" y="4572000"/>
            <a:ext cx="10058400" cy="1280160"/>
          </a:xfrm>
          <a:prstGeom prst="rect">
            <a:avLst/>
          </a:prstGeom>
          <a:noFill/>
        </p:spPr>
        <p:txBody>
          <a:bodyPr wrap="square" lIns="0" rIns="0" tIns="0" bIns="0" anchor="t">
            <a:spAutoFit/>
          </a:bodyPr>
          <a:lstStyle/>
          <a:p>
            <a:pPr algn="l">
              <a:spcAft>
                <a:spcPts val="600"/>
              </a:spcAft>
            </a:pPr>
            <a:r>
              <a:rPr sz="1500" b="1" i="0">
                <a:solidFill>
                  <a:srgbClr val="FFFFFF"/>
                </a:solidFill>
                <a:latin typeface="Calibri"/>
              </a:rPr>
              <a:t>Course: </a:t>
            </a:r>
            <a:r>
              <a:rPr sz="1500" b="0" i="0">
                <a:solidFill>
                  <a:srgbClr val="FFFFFF"/>
                </a:solidFill>
                <a:latin typeface="Calibri"/>
              </a:rPr>
              <a:t>[COURSE CODE] – [COURSE NAME]</a:t>
            </a:r>
          </a:p>
          <a:p>
            <a:pPr algn="l">
              <a:spcAft>
                <a:spcPts val="600"/>
              </a:spcAft>
            </a:pPr>
            <a:r>
              <a:rPr sz="1500" b="1" i="0">
                <a:solidFill>
                  <a:srgbClr val="FFFFFF"/>
                </a:solidFill>
                <a:latin typeface="Calibri"/>
              </a:rPr>
              <a:t>Group [XX]: </a:t>
            </a:r>
            <a:r>
              <a:rPr sz="1500" b="0" i="0">
                <a:solidFill>
                  <a:srgbClr val="FFFFFF"/>
                </a:solidFill>
                <a:latin typeface="Calibri"/>
              </a:rPr>
              <a:t>[Member 1 (ID)] · [Member 2 (ID)] · [Member 3 (ID)] · [Member 4 (ID)] · [Member 5 (ID)] · [Member 6 (ID)]</a:t>
            </a:r>
          </a:p>
        </p:txBody>
      </p:sp>
      <p:sp>
        <p:nvSpPr>
          <p:cNvPr id="8" name="TextBox 7"/>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6B6EF"/>
                </a:solidFill>
                <a:latin typeface="Calibri"/>
              </a:rPr>
              <a:t>Group [XX]  ·  Earthquake damage prediction: logistic regression, random forest, gradient boosting</a:t>
            </a:r>
          </a:p>
        </p:txBody>
      </p:sp>
      <p:sp>
        <p:nvSpPr>
          <p:cNvPr id="9" name="TextBox 8"/>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6B6E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DATA SET DESCRIPTION</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Richter's Predictor: one row per building, three damage grades</a:t>
            </a:r>
          </a:p>
        </p:txBody>
      </p:sp>
      <p:sp>
        <p:nvSpPr>
          <p:cNvPr id="4" name="TextBox 3"/>
          <p:cNvSpPr txBox="1"/>
          <p:nvPr/>
        </p:nvSpPr>
        <p:spPr>
          <a:xfrm>
            <a:off x="548640" y="1600200"/>
            <a:ext cx="2651760" cy="685800"/>
          </a:xfrm>
          <a:prstGeom prst="rect">
            <a:avLst/>
          </a:prstGeom>
          <a:noFill/>
        </p:spPr>
        <p:txBody>
          <a:bodyPr wrap="square" lIns="0" rIns="0" tIns="0" bIns="0" anchor="t">
            <a:spAutoFit/>
          </a:bodyPr>
          <a:lstStyle/>
          <a:p>
            <a:pPr algn="l"/>
            <a:r>
              <a:rPr sz="4000" b="1" i="0">
                <a:solidFill>
                  <a:srgbClr val="EB6834"/>
                </a:solidFill>
                <a:latin typeface="Cambria"/>
              </a:rPr>
              <a:t>260,601</a:t>
            </a:r>
          </a:p>
        </p:txBody>
      </p:sp>
      <p:sp>
        <p:nvSpPr>
          <p:cNvPr id="5" name="TextBox 4"/>
          <p:cNvSpPr txBox="1"/>
          <p:nvPr/>
        </p:nvSpPr>
        <p:spPr>
          <a:xfrm>
            <a:off x="548640" y="2331720"/>
            <a:ext cx="2651760" cy="640080"/>
          </a:xfrm>
          <a:prstGeom prst="rect">
            <a:avLst/>
          </a:prstGeom>
          <a:noFill/>
        </p:spPr>
        <p:txBody>
          <a:bodyPr wrap="square" lIns="0" rIns="0" tIns="0" bIns="0" anchor="t">
            <a:spAutoFit/>
          </a:bodyPr>
          <a:lstStyle/>
          <a:p>
            <a:pPr algn="l"/>
            <a:r>
              <a:rPr sz="1400" b="0" i="0">
                <a:solidFill>
                  <a:srgbClr val="52514E"/>
                </a:solidFill>
                <a:latin typeface="Calibri"/>
              </a:rPr>
              <a:t>labelled buildings</a:t>
            </a:r>
          </a:p>
        </p:txBody>
      </p:sp>
      <p:sp>
        <p:nvSpPr>
          <p:cNvPr id="6" name="TextBox 5"/>
          <p:cNvSpPr txBox="1"/>
          <p:nvPr/>
        </p:nvSpPr>
        <p:spPr>
          <a:xfrm>
            <a:off x="3383280" y="1600200"/>
            <a:ext cx="2651760" cy="685800"/>
          </a:xfrm>
          <a:prstGeom prst="rect">
            <a:avLst/>
          </a:prstGeom>
          <a:noFill/>
        </p:spPr>
        <p:txBody>
          <a:bodyPr wrap="square" lIns="0" rIns="0" tIns="0" bIns="0" anchor="t">
            <a:spAutoFit/>
          </a:bodyPr>
          <a:lstStyle/>
          <a:p>
            <a:pPr algn="l"/>
            <a:r>
              <a:rPr sz="4000" b="1" i="0">
                <a:solidFill>
                  <a:srgbClr val="142340"/>
                </a:solidFill>
                <a:latin typeface="Cambria"/>
              </a:rPr>
              <a:t>38</a:t>
            </a:r>
          </a:p>
        </p:txBody>
      </p:sp>
      <p:sp>
        <p:nvSpPr>
          <p:cNvPr id="7" name="TextBox 6"/>
          <p:cNvSpPr txBox="1"/>
          <p:nvPr/>
        </p:nvSpPr>
        <p:spPr>
          <a:xfrm>
            <a:off x="3383280" y="2331720"/>
            <a:ext cx="2651760" cy="640080"/>
          </a:xfrm>
          <a:prstGeom prst="rect">
            <a:avLst/>
          </a:prstGeom>
          <a:noFill/>
        </p:spPr>
        <p:txBody>
          <a:bodyPr wrap="square" lIns="0" rIns="0" tIns="0" bIns="0" anchor="t">
            <a:spAutoFit/>
          </a:bodyPr>
          <a:lstStyle/>
          <a:p>
            <a:pPr algn="l"/>
            <a:r>
              <a:rPr sz="1400" b="0" i="0">
                <a:solidFill>
                  <a:srgbClr val="52514E"/>
                </a:solidFill>
                <a:latin typeface="Calibri"/>
              </a:rPr>
              <a:t>features per building</a:t>
            </a:r>
          </a:p>
        </p:txBody>
      </p:sp>
      <p:sp>
        <p:nvSpPr>
          <p:cNvPr id="8" name="TextBox 7"/>
          <p:cNvSpPr txBox="1"/>
          <p:nvPr/>
        </p:nvSpPr>
        <p:spPr>
          <a:xfrm>
            <a:off x="6217920" y="1600200"/>
            <a:ext cx="2651760" cy="685800"/>
          </a:xfrm>
          <a:prstGeom prst="rect">
            <a:avLst/>
          </a:prstGeom>
          <a:noFill/>
        </p:spPr>
        <p:txBody>
          <a:bodyPr wrap="square" lIns="0" rIns="0" tIns="0" bIns="0" anchor="t">
            <a:spAutoFit/>
          </a:bodyPr>
          <a:lstStyle/>
          <a:p>
            <a:pPr algn="l"/>
            <a:r>
              <a:rPr sz="4000" b="1" i="0">
                <a:solidFill>
                  <a:srgbClr val="142340"/>
                </a:solidFill>
                <a:latin typeface="Cambria"/>
              </a:rPr>
              <a:t>3</a:t>
            </a:r>
          </a:p>
        </p:txBody>
      </p:sp>
      <p:sp>
        <p:nvSpPr>
          <p:cNvPr id="9" name="TextBox 8"/>
          <p:cNvSpPr txBox="1"/>
          <p:nvPr/>
        </p:nvSpPr>
        <p:spPr>
          <a:xfrm>
            <a:off x="6217920" y="2331720"/>
            <a:ext cx="2651760" cy="640080"/>
          </a:xfrm>
          <a:prstGeom prst="rect">
            <a:avLst/>
          </a:prstGeom>
          <a:noFill/>
        </p:spPr>
        <p:txBody>
          <a:bodyPr wrap="square" lIns="0" rIns="0" tIns="0" bIns="0" anchor="t">
            <a:spAutoFit/>
          </a:bodyPr>
          <a:lstStyle/>
          <a:p>
            <a:pPr algn="l"/>
            <a:r>
              <a:rPr sz="1400" b="0" i="0">
                <a:solidFill>
                  <a:srgbClr val="52514E"/>
                </a:solidFill>
                <a:latin typeface="Calibri"/>
              </a:rPr>
              <a:t>ordered damage grades</a:t>
            </a:r>
          </a:p>
        </p:txBody>
      </p:sp>
      <p:sp>
        <p:nvSpPr>
          <p:cNvPr id="10" name="TextBox 9"/>
          <p:cNvSpPr txBox="1"/>
          <p:nvPr/>
        </p:nvSpPr>
        <p:spPr>
          <a:xfrm>
            <a:off x="9052560" y="1600200"/>
            <a:ext cx="2651760" cy="685800"/>
          </a:xfrm>
          <a:prstGeom prst="rect">
            <a:avLst/>
          </a:prstGeom>
          <a:noFill/>
        </p:spPr>
        <p:txBody>
          <a:bodyPr wrap="square" lIns="0" rIns="0" tIns="0" bIns="0" anchor="t">
            <a:spAutoFit/>
          </a:bodyPr>
          <a:lstStyle/>
          <a:p>
            <a:pPr algn="l"/>
            <a:r>
              <a:rPr sz="4000" b="1" i="0">
                <a:solidFill>
                  <a:srgbClr val="142340"/>
                </a:solidFill>
                <a:latin typeface="Cambria"/>
              </a:rPr>
              <a:t>86,868</a:t>
            </a:r>
          </a:p>
        </p:txBody>
      </p:sp>
      <p:sp>
        <p:nvSpPr>
          <p:cNvPr id="11" name="TextBox 10"/>
          <p:cNvSpPr txBox="1"/>
          <p:nvPr/>
        </p:nvSpPr>
        <p:spPr>
          <a:xfrm>
            <a:off x="9052560" y="2331720"/>
            <a:ext cx="2651760" cy="640080"/>
          </a:xfrm>
          <a:prstGeom prst="rect">
            <a:avLst/>
          </a:prstGeom>
          <a:noFill/>
        </p:spPr>
        <p:txBody>
          <a:bodyPr wrap="square" lIns="0" rIns="0" tIns="0" bIns="0" anchor="t">
            <a:spAutoFit/>
          </a:bodyPr>
          <a:lstStyle/>
          <a:p>
            <a:pPr algn="l"/>
            <a:r>
              <a:rPr sz="1400" b="0" i="0">
                <a:solidFill>
                  <a:srgbClr val="52514E"/>
                </a:solidFill>
                <a:latin typeface="Calibri"/>
              </a:rPr>
              <a:t>unlabelled test buildings</a:t>
            </a:r>
          </a:p>
        </p:txBody>
      </p:sp>
      <p:sp>
        <p:nvSpPr>
          <p:cNvPr id="12" name="Rounded Rectangle 11"/>
          <p:cNvSpPr/>
          <p:nvPr/>
        </p:nvSpPr>
        <p:spPr>
          <a:xfrm>
            <a:off x="548640" y="3337560"/>
            <a:ext cx="2606040" cy="214884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56616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777240" y="4160520"/>
            <a:ext cx="2194560" cy="365760"/>
          </a:xfrm>
          <a:prstGeom prst="rect">
            <a:avLst/>
          </a:prstGeom>
          <a:noFill/>
        </p:spPr>
        <p:txBody>
          <a:bodyPr wrap="square" lIns="0" rIns="0" tIns="0" bIns="0" anchor="t">
            <a:spAutoFit/>
          </a:bodyPr>
          <a:lstStyle/>
          <a:p>
            <a:pPr algn="l"/>
            <a:r>
              <a:rPr sz="1800" b="1" i="0">
                <a:solidFill>
                  <a:srgbClr val="142340"/>
                </a:solidFill>
                <a:latin typeface="Calibri"/>
              </a:rPr>
              <a:t>Location</a:t>
            </a:r>
          </a:p>
        </p:txBody>
      </p:sp>
      <p:sp>
        <p:nvSpPr>
          <p:cNvPr id="15" name="TextBox 14"/>
          <p:cNvSpPr txBox="1"/>
          <p:nvPr/>
        </p:nvSpPr>
        <p:spPr>
          <a:xfrm>
            <a:off x="777240" y="4572000"/>
            <a:ext cx="2194560" cy="914400"/>
          </a:xfrm>
          <a:prstGeom prst="rect">
            <a:avLst/>
          </a:prstGeom>
          <a:noFill/>
        </p:spPr>
        <p:txBody>
          <a:bodyPr wrap="square" lIns="0" rIns="0" tIns="0" bIns="0" anchor="t">
            <a:spAutoFit/>
          </a:bodyPr>
          <a:lstStyle/>
          <a:p>
            <a:pPr algn="l"/>
            <a:r>
              <a:rPr sz="1400" b="0" i="0">
                <a:solidFill>
                  <a:srgbClr val="52514E"/>
                </a:solidFill>
                <a:latin typeface="Calibri"/>
              </a:rPr>
              <a:t>3 nested region levels: 31 / 1,414 / 11,595 ids</a:t>
            </a:r>
          </a:p>
        </p:txBody>
      </p:sp>
      <p:sp>
        <p:nvSpPr>
          <p:cNvPr id="16" name="Rounded Rectangle 15"/>
          <p:cNvSpPr/>
          <p:nvPr/>
        </p:nvSpPr>
        <p:spPr>
          <a:xfrm>
            <a:off x="3383280" y="3337560"/>
            <a:ext cx="2606040" cy="214884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1880" y="356616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8" name="TextBox 17"/>
          <p:cNvSpPr txBox="1"/>
          <p:nvPr/>
        </p:nvSpPr>
        <p:spPr>
          <a:xfrm>
            <a:off x="3611880" y="4160520"/>
            <a:ext cx="2194560" cy="365760"/>
          </a:xfrm>
          <a:prstGeom prst="rect">
            <a:avLst/>
          </a:prstGeom>
          <a:noFill/>
        </p:spPr>
        <p:txBody>
          <a:bodyPr wrap="square" lIns="0" rIns="0" tIns="0" bIns="0" anchor="t">
            <a:spAutoFit/>
          </a:bodyPr>
          <a:lstStyle/>
          <a:p>
            <a:pPr algn="l"/>
            <a:r>
              <a:rPr sz="1800" b="1" i="0">
                <a:solidFill>
                  <a:srgbClr val="142340"/>
                </a:solidFill>
                <a:latin typeface="Calibri"/>
              </a:rPr>
              <a:t>Size &amp; age</a:t>
            </a:r>
          </a:p>
        </p:txBody>
      </p:sp>
      <p:sp>
        <p:nvSpPr>
          <p:cNvPr id="19" name="TextBox 18"/>
          <p:cNvSpPr txBox="1"/>
          <p:nvPr/>
        </p:nvSpPr>
        <p:spPr>
          <a:xfrm>
            <a:off x="3611880" y="4572000"/>
            <a:ext cx="2194560" cy="914400"/>
          </a:xfrm>
          <a:prstGeom prst="rect">
            <a:avLst/>
          </a:prstGeom>
          <a:noFill/>
        </p:spPr>
        <p:txBody>
          <a:bodyPr wrap="square" lIns="0" rIns="0" tIns="0" bIns="0" anchor="t">
            <a:spAutoFit/>
          </a:bodyPr>
          <a:lstStyle/>
          <a:p>
            <a:pPr algn="l"/>
            <a:r>
              <a:rPr sz="1400" b="0" i="0">
                <a:solidFill>
                  <a:srgbClr val="52514E"/>
                </a:solidFill>
                <a:latin typeface="Calibri"/>
              </a:rPr>
              <a:t>age, footprint area, height, number of floors</a:t>
            </a:r>
          </a:p>
        </p:txBody>
      </p:sp>
      <p:sp>
        <p:nvSpPr>
          <p:cNvPr id="20" name="Rounded Rectangle 19"/>
          <p:cNvSpPr/>
          <p:nvPr/>
        </p:nvSpPr>
        <p:spPr>
          <a:xfrm>
            <a:off x="6217920" y="3337560"/>
            <a:ext cx="2606040" cy="214884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356616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22" name="TextBox 21"/>
          <p:cNvSpPr txBox="1"/>
          <p:nvPr/>
        </p:nvSpPr>
        <p:spPr>
          <a:xfrm>
            <a:off x="6446520" y="4160520"/>
            <a:ext cx="2194560" cy="365760"/>
          </a:xfrm>
          <a:prstGeom prst="rect">
            <a:avLst/>
          </a:prstGeom>
          <a:noFill/>
        </p:spPr>
        <p:txBody>
          <a:bodyPr wrap="square" lIns="0" rIns="0" tIns="0" bIns="0" anchor="t">
            <a:spAutoFit/>
          </a:bodyPr>
          <a:lstStyle/>
          <a:p>
            <a:pPr algn="l"/>
            <a:r>
              <a:rPr sz="1800" b="1" i="0">
                <a:solidFill>
                  <a:srgbClr val="142340"/>
                </a:solidFill>
                <a:latin typeface="Calibri"/>
              </a:rPr>
              <a:t>Construction</a:t>
            </a:r>
          </a:p>
        </p:txBody>
      </p:sp>
      <p:sp>
        <p:nvSpPr>
          <p:cNvPr id="23" name="TextBox 22"/>
          <p:cNvSpPr txBox="1"/>
          <p:nvPr/>
        </p:nvSpPr>
        <p:spPr>
          <a:xfrm>
            <a:off x="6446520" y="4572000"/>
            <a:ext cx="2194560" cy="914400"/>
          </a:xfrm>
          <a:prstGeom prst="rect">
            <a:avLst/>
          </a:prstGeom>
          <a:noFill/>
        </p:spPr>
        <p:txBody>
          <a:bodyPr wrap="square" lIns="0" rIns="0" tIns="0" bIns="0" anchor="t">
            <a:spAutoFit/>
          </a:bodyPr>
          <a:lstStyle/>
          <a:p>
            <a:pPr algn="l"/>
            <a:r>
              <a:rPr sz="1400" b="0" i="0">
                <a:solidFill>
                  <a:srgbClr val="52514E"/>
                </a:solidFill>
                <a:latin typeface="Calibri"/>
              </a:rPr>
              <a:t>foundation, roof, floor types and 11 superstructure-material flags</a:t>
            </a:r>
          </a:p>
        </p:txBody>
      </p:sp>
      <p:sp>
        <p:nvSpPr>
          <p:cNvPr id="24" name="Rounded Rectangle 23"/>
          <p:cNvSpPr/>
          <p:nvPr/>
        </p:nvSpPr>
        <p:spPr>
          <a:xfrm>
            <a:off x="9052560" y="3337560"/>
            <a:ext cx="2606040" cy="214884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81160" y="3566160"/>
            <a:ext cx="420624" cy="42062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6" name="TextBox 25"/>
          <p:cNvSpPr txBox="1"/>
          <p:nvPr/>
        </p:nvSpPr>
        <p:spPr>
          <a:xfrm>
            <a:off x="9281160" y="4160520"/>
            <a:ext cx="2194560" cy="365760"/>
          </a:xfrm>
          <a:prstGeom prst="rect">
            <a:avLst/>
          </a:prstGeom>
          <a:noFill/>
        </p:spPr>
        <p:txBody>
          <a:bodyPr wrap="square" lIns="0" rIns="0" tIns="0" bIns="0" anchor="t">
            <a:spAutoFit/>
          </a:bodyPr>
          <a:lstStyle/>
          <a:p>
            <a:pPr algn="l"/>
            <a:r>
              <a:rPr sz="1800" b="1" i="0">
                <a:solidFill>
                  <a:srgbClr val="142340"/>
                </a:solidFill>
                <a:latin typeface="Calibri"/>
              </a:rPr>
              <a:t>Use &amp; ownership</a:t>
            </a:r>
          </a:p>
        </p:txBody>
      </p:sp>
      <p:sp>
        <p:nvSpPr>
          <p:cNvPr id="27" name="TextBox 26"/>
          <p:cNvSpPr txBox="1"/>
          <p:nvPr/>
        </p:nvSpPr>
        <p:spPr>
          <a:xfrm>
            <a:off x="9281160" y="4572000"/>
            <a:ext cx="2194560" cy="914400"/>
          </a:xfrm>
          <a:prstGeom prst="rect">
            <a:avLst/>
          </a:prstGeom>
          <a:noFill/>
        </p:spPr>
        <p:txBody>
          <a:bodyPr wrap="square" lIns="0" rIns="0" tIns="0" bIns="0" anchor="t">
            <a:spAutoFit/>
          </a:bodyPr>
          <a:lstStyle/>
          <a:p>
            <a:pPr algn="l"/>
            <a:r>
              <a:rPr sz="1400" b="0" i="0">
                <a:solidFill>
                  <a:srgbClr val="52514E"/>
                </a:solidFill>
                <a:latin typeface="Calibri"/>
              </a:rPr>
              <a:t>secondary uses, legal ownership, number of families</a:t>
            </a:r>
          </a:p>
        </p:txBody>
      </p:sp>
      <p:sp>
        <p:nvSpPr>
          <p:cNvPr id="28" name="TextBox 27"/>
          <p:cNvSpPr txBox="1"/>
          <p:nvPr/>
        </p:nvSpPr>
        <p:spPr>
          <a:xfrm>
            <a:off x="548640" y="5760720"/>
            <a:ext cx="10972800" cy="457200"/>
          </a:xfrm>
          <a:prstGeom prst="rect">
            <a:avLst/>
          </a:prstGeom>
          <a:noFill/>
        </p:spPr>
        <p:txBody>
          <a:bodyPr wrap="square" lIns="0" rIns="0" tIns="0" bIns="0" anchor="t">
            <a:spAutoFit/>
          </a:bodyPr>
          <a:lstStyle/>
          <a:p>
            <a:pPr algn="l"/>
            <a:r>
              <a:rPr sz="1200" b="0" i="0">
                <a:solidFill>
                  <a:srgbClr val="8A8984"/>
                </a:solidFill>
                <a:latin typeface="Calibri"/>
              </a:rPr>
              <a:t>Clean data: 0 missing values. Category codes are anonymised letters. Source: DrivenData / Nepal 2015 earthquake building survey.</a:t>
            </a:r>
          </a:p>
        </p:txBody>
      </p:sp>
      <p:sp>
        <p:nvSpPr>
          <p:cNvPr id="29" name="TextBox 28"/>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30" name="TextBox 29"/>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PROBLEM STATEMENT</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Which buildings should inspectors visit first?</a:t>
            </a:r>
          </a:p>
        </p:txBody>
      </p:sp>
      <p:sp>
        <p:nvSpPr>
          <p:cNvPr id="4" name="Rounded Rectangle 3"/>
          <p:cNvSpPr/>
          <p:nvPr/>
        </p:nvSpPr>
        <p:spPr>
          <a:xfrm>
            <a:off x="548640" y="1600200"/>
            <a:ext cx="5852160" cy="416052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5212080" cy="3566160"/>
          </a:xfrm>
          <a:prstGeom prst="rect">
            <a:avLst/>
          </a:prstGeom>
          <a:noFill/>
        </p:spPr>
        <p:txBody>
          <a:bodyPr wrap="square" lIns="0" rIns="0" tIns="0" bIns="0" anchor="ctr">
            <a:spAutoFit/>
          </a:bodyPr>
          <a:lstStyle/>
          <a:p>
            <a:pPr algn="l"/>
            <a:r>
              <a:rPr sz="2200" b="0" i="1">
                <a:solidFill>
                  <a:srgbClr val="FFFFFF"/>
                </a:solidFill>
                <a:latin typeface="Cambria"/>
              </a:rPr>
              <a:t>“Can we predict how badly a building was damaged in the 2015 Gorkha earthquake from its structure and location, so post-disaster inspectors can prioritise which buildings to assess first?”</a:t>
            </a:r>
          </a:p>
        </p:txBody>
      </p:sp>
      <p:sp>
        <p:nvSpPr>
          <p:cNvPr id="6" name="Oval 5"/>
          <p:cNvSpPr/>
          <p:nvPr/>
        </p:nvSpPr>
        <p:spPr>
          <a:xfrm>
            <a:off x="6812280" y="164592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7406640" y="1600200"/>
            <a:ext cx="4297680" cy="320040"/>
          </a:xfrm>
          <a:prstGeom prst="rect">
            <a:avLst/>
          </a:prstGeom>
          <a:noFill/>
        </p:spPr>
        <p:txBody>
          <a:bodyPr wrap="square" lIns="0" rIns="0" tIns="0" bIns="0" anchor="t">
            <a:spAutoFit/>
          </a:bodyPr>
          <a:lstStyle/>
          <a:p>
            <a:pPr algn="l"/>
            <a:r>
              <a:rPr sz="1700" b="1" i="0">
                <a:solidFill>
                  <a:srgbClr val="142340"/>
                </a:solidFill>
                <a:latin typeface="Calibri"/>
              </a:rPr>
              <a:t>Task</a:t>
            </a:r>
          </a:p>
        </p:txBody>
      </p:sp>
      <p:sp>
        <p:nvSpPr>
          <p:cNvPr id="8" name="TextBox 7"/>
          <p:cNvSpPr txBox="1"/>
          <p:nvPr/>
        </p:nvSpPr>
        <p:spPr>
          <a:xfrm>
            <a:off x="7406640" y="1938528"/>
            <a:ext cx="4297680" cy="685800"/>
          </a:xfrm>
          <a:prstGeom prst="rect">
            <a:avLst/>
          </a:prstGeom>
          <a:noFill/>
        </p:spPr>
        <p:txBody>
          <a:bodyPr wrap="square" lIns="0" rIns="0" tIns="0" bIns="0" anchor="t">
            <a:spAutoFit/>
          </a:bodyPr>
          <a:lstStyle/>
          <a:p>
            <a:pPr algn="l"/>
            <a:r>
              <a:rPr sz="1400" b="0" i="0">
                <a:solidFill>
                  <a:srgbClr val="52514E"/>
                </a:solidFill>
                <a:latin typeface="Calibri"/>
              </a:rPr>
              <a:t>3-class ordinal classification: grade 1 (low), 2 (medium), 3 (near-destroyed).</a:t>
            </a:r>
          </a:p>
        </p:txBody>
      </p:sp>
      <p:sp>
        <p:nvSpPr>
          <p:cNvPr id="9" name="Oval 8"/>
          <p:cNvSpPr/>
          <p:nvPr/>
        </p:nvSpPr>
        <p:spPr>
          <a:xfrm>
            <a:off x="6812280" y="2715768"/>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7406640" y="2670048"/>
            <a:ext cx="4297680" cy="320040"/>
          </a:xfrm>
          <a:prstGeom prst="rect">
            <a:avLst/>
          </a:prstGeom>
          <a:noFill/>
        </p:spPr>
        <p:txBody>
          <a:bodyPr wrap="square" lIns="0" rIns="0" tIns="0" bIns="0" anchor="t">
            <a:spAutoFit/>
          </a:bodyPr>
          <a:lstStyle/>
          <a:p>
            <a:pPr algn="l"/>
            <a:r>
              <a:rPr sz="1700" b="1" i="0">
                <a:solidFill>
                  <a:srgbClr val="142340"/>
                </a:solidFill>
                <a:latin typeface="Calibri"/>
              </a:rPr>
              <a:t>Metric</a:t>
            </a:r>
          </a:p>
        </p:txBody>
      </p:sp>
      <p:sp>
        <p:nvSpPr>
          <p:cNvPr id="11" name="TextBox 10"/>
          <p:cNvSpPr txBox="1"/>
          <p:nvPr/>
        </p:nvSpPr>
        <p:spPr>
          <a:xfrm>
            <a:off x="7406640" y="3008376"/>
            <a:ext cx="4297680" cy="685800"/>
          </a:xfrm>
          <a:prstGeom prst="rect">
            <a:avLst/>
          </a:prstGeom>
          <a:noFill/>
        </p:spPr>
        <p:txBody>
          <a:bodyPr wrap="square" lIns="0" rIns="0" tIns="0" bIns="0" anchor="t">
            <a:spAutoFit/>
          </a:bodyPr>
          <a:lstStyle/>
          <a:p>
            <a:pPr algn="l"/>
            <a:r>
              <a:rPr sz="1400" b="0" i="0">
                <a:solidFill>
                  <a:srgbClr val="52514E"/>
                </a:solidFill>
                <a:latin typeface="Calibri"/>
              </a:rPr>
              <a:t>Micro-F1 (the competition metric, equal to accuracy) plus macro-F1 so that the rare grade 1 counts too.</a:t>
            </a:r>
          </a:p>
        </p:txBody>
      </p:sp>
      <p:sp>
        <p:nvSpPr>
          <p:cNvPr id="12" name="Oval 11"/>
          <p:cNvSpPr/>
          <p:nvPr/>
        </p:nvSpPr>
        <p:spPr>
          <a:xfrm>
            <a:off x="6812280" y="3785615"/>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7406640" y="3739896"/>
            <a:ext cx="4297680" cy="320040"/>
          </a:xfrm>
          <a:prstGeom prst="rect">
            <a:avLst/>
          </a:prstGeom>
          <a:noFill/>
        </p:spPr>
        <p:txBody>
          <a:bodyPr wrap="square" lIns="0" rIns="0" tIns="0" bIns="0" anchor="t">
            <a:spAutoFit/>
          </a:bodyPr>
          <a:lstStyle/>
          <a:p>
            <a:pPr algn="l"/>
            <a:r>
              <a:rPr sz="1700" b="1" i="0">
                <a:solidFill>
                  <a:srgbClr val="142340"/>
                </a:solidFill>
                <a:latin typeface="Calibri"/>
              </a:rPr>
              <a:t>Use</a:t>
            </a:r>
          </a:p>
        </p:txBody>
      </p:sp>
      <p:sp>
        <p:nvSpPr>
          <p:cNvPr id="14" name="TextBox 13"/>
          <p:cNvSpPr txBox="1"/>
          <p:nvPr/>
        </p:nvSpPr>
        <p:spPr>
          <a:xfrm>
            <a:off x="7406640" y="4078224"/>
            <a:ext cx="4297680" cy="685800"/>
          </a:xfrm>
          <a:prstGeom prst="rect">
            <a:avLst/>
          </a:prstGeom>
          <a:noFill/>
        </p:spPr>
        <p:txBody>
          <a:bodyPr wrap="square" lIns="0" rIns="0" tIns="0" bIns="0" anchor="t">
            <a:spAutoFit/>
          </a:bodyPr>
          <a:lstStyle/>
          <a:p>
            <a:pPr algn="l"/>
            <a:r>
              <a:rPr sz="1400" b="0" i="0">
                <a:solidFill>
                  <a:srgbClr val="52514E"/>
                </a:solidFill>
                <a:latin typeface="Calibri"/>
              </a:rPr>
              <a:t>Rank buildings by predicted P(grade 3) and measure how many destroyed buildings an inspection list finds.</a:t>
            </a:r>
          </a:p>
        </p:txBody>
      </p:sp>
      <p:sp>
        <p:nvSpPr>
          <p:cNvPr id="15" name="Oval 14"/>
          <p:cNvSpPr/>
          <p:nvPr/>
        </p:nvSpPr>
        <p:spPr>
          <a:xfrm>
            <a:off x="6812280" y="4855464"/>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6" name="TextBox 15"/>
          <p:cNvSpPr txBox="1"/>
          <p:nvPr/>
        </p:nvSpPr>
        <p:spPr>
          <a:xfrm>
            <a:off x="7406640" y="4809744"/>
            <a:ext cx="4297680" cy="320040"/>
          </a:xfrm>
          <a:prstGeom prst="rect">
            <a:avLst/>
          </a:prstGeom>
          <a:noFill/>
        </p:spPr>
        <p:txBody>
          <a:bodyPr wrap="square" lIns="0" rIns="0" tIns="0" bIns="0" anchor="t">
            <a:spAutoFit/>
          </a:bodyPr>
          <a:lstStyle/>
          <a:p>
            <a:pPr algn="l"/>
            <a:r>
              <a:rPr sz="1700" b="1" i="0">
                <a:solidFill>
                  <a:srgbClr val="142340"/>
                </a:solidFill>
                <a:latin typeface="Calibri"/>
              </a:rPr>
              <a:t>Models</a:t>
            </a:r>
          </a:p>
        </p:txBody>
      </p:sp>
      <p:sp>
        <p:nvSpPr>
          <p:cNvPr id="17" name="TextBox 16"/>
          <p:cNvSpPr txBox="1"/>
          <p:nvPr/>
        </p:nvSpPr>
        <p:spPr>
          <a:xfrm>
            <a:off x="7406640" y="5148072"/>
            <a:ext cx="4297680" cy="685800"/>
          </a:xfrm>
          <a:prstGeom prst="rect">
            <a:avLst/>
          </a:prstGeom>
          <a:noFill/>
        </p:spPr>
        <p:txBody>
          <a:bodyPr wrap="square" lIns="0" rIns="0" tIns="0" bIns="0" anchor="t">
            <a:spAutoFit/>
          </a:bodyPr>
          <a:lstStyle/>
          <a:p>
            <a:pPr algn="l"/>
            <a:r>
              <a:rPr sz="1400" b="0" i="0">
                <a:solidFill>
                  <a:srgbClr val="52514E"/>
                </a:solidFill>
                <a:latin typeface="Calibri"/>
              </a:rPr>
              <a:t>Logistic regression (transparent) vs random forest and HistGradientBoosting (flexible).</a:t>
            </a:r>
          </a:p>
        </p:txBody>
      </p:sp>
      <p:sp>
        <p:nvSpPr>
          <p:cNvPr id="18" name="TextBox 17"/>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9" name="TextBox 18"/>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DATASET PRE-PROCESSING · EXPLORATION</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The damage grades are imbalanced</a:t>
            </a:r>
          </a:p>
        </p:txBody>
      </p:sp>
      <p:pic>
        <p:nvPicPr>
          <p:cNvPr id="4" name="Picture 3" descr="fig01_class_distribution.png"/>
          <p:cNvPicPr>
            <a:picLocks noChangeAspect="1"/>
          </p:cNvPicPr>
          <p:nvPr/>
        </p:nvPicPr>
        <p:blipFill>
          <a:blip r:embed="rId2"/>
          <a:stretch>
            <a:fillRect/>
          </a:stretch>
        </p:blipFill>
        <p:spPr>
          <a:xfrm>
            <a:off x="457200" y="1882364"/>
            <a:ext cx="6949440" cy="3916231"/>
          </a:xfrm>
          <a:prstGeom prst="rect">
            <a:avLst/>
          </a:prstGeom>
        </p:spPr>
      </p:pic>
      <p:sp>
        <p:nvSpPr>
          <p:cNvPr id="5" name="Rounded Rectangle 4"/>
          <p:cNvSpPr/>
          <p:nvPr/>
        </p:nvSpPr>
        <p:spPr>
          <a:xfrm>
            <a:off x="7726679" y="1554480"/>
            <a:ext cx="393192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664207"/>
            <a:ext cx="1600200" cy="640080"/>
          </a:xfrm>
          <a:prstGeom prst="rect">
            <a:avLst/>
          </a:prstGeom>
          <a:noFill/>
        </p:spPr>
        <p:txBody>
          <a:bodyPr wrap="square" lIns="0" rIns="0" tIns="0" bIns="0" anchor="t">
            <a:spAutoFit/>
          </a:bodyPr>
          <a:lstStyle/>
          <a:p>
            <a:pPr algn="l"/>
            <a:r>
              <a:rPr sz="3000" b="1" i="0">
                <a:solidFill>
                  <a:srgbClr val="EB6834"/>
                </a:solidFill>
                <a:latin typeface="Cambria"/>
              </a:rPr>
              <a:t>57%</a:t>
            </a:r>
          </a:p>
        </p:txBody>
      </p:sp>
      <p:sp>
        <p:nvSpPr>
          <p:cNvPr id="7" name="TextBox 6"/>
          <p:cNvSpPr txBox="1"/>
          <p:nvPr/>
        </p:nvSpPr>
        <p:spPr>
          <a:xfrm>
            <a:off x="9555480" y="1709928"/>
            <a:ext cx="2011680" cy="640080"/>
          </a:xfrm>
          <a:prstGeom prst="rect">
            <a:avLst/>
          </a:prstGeom>
          <a:noFill/>
        </p:spPr>
        <p:txBody>
          <a:bodyPr wrap="square" lIns="0" rIns="0" tIns="0" bIns="0" anchor="t">
            <a:spAutoFit/>
          </a:bodyPr>
          <a:lstStyle/>
          <a:p>
            <a:pPr algn="l"/>
            <a:r>
              <a:rPr sz="1400" b="1" i="0">
                <a:solidFill>
                  <a:srgbClr val="142340"/>
                </a:solidFill>
                <a:latin typeface="Calibri"/>
              </a:rPr>
              <a:t>of buildings are grade 2</a:t>
            </a:r>
          </a:p>
        </p:txBody>
      </p:sp>
      <p:sp>
        <p:nvSpPr>
          <p:cNvPr id="8" name="TextBox 7"/>
          <p:cNvSpPr txBox="1"/>
          <p:nvPr/>
        </p:nvSpPr>
        <p:spPr>
          <a:xfrm>
            <a:off x="7955279" y="2359152"/>
            <a:ext cx="3566160" cy="548640"/>
          </a:xfrm>
          <a:prstGeom prst="rect">
            <a:avLst/>
          </a:prstGeom>
          <a:noFill/>
        </p:spPr>
        <p:txBody>
          <a:bodyPr wrap="square" lIns="0" rIns="0" tIns="0" bIns="0" anchor="t">
            <a:spAutoFit/>
          </a:bodyPr>
          <a:lstStyle/>
          <a:p>
            <a:pPr algn="l"/>
            <a:r>
              <a:rPr sz="1300" b="0" i="0">
                <a:solidFill>
                  <a:srgbClr val="52514E"/>
                </a:solidFill>
                <a:latin typeface="Calibri"/>
              </a:rPr>
              <a:t>Grade 3: 33% · grade 1: only 10% (about 1 in 10)</a:t>
            </a:r>
          </a:p>
        </p:txBody>
      </p:sp>
      <p:sp>
        <p:nvSpPr>
          <p:cNvPr id="9" name="Rounded Rectangle 8"/>
          <p:cNvSpPr/>
          <p:nvPr/>
        </p:nvSpPr>
        <p:spPr>
          <a:xfrm>
            <a:off x="7726679" y="3127248"/>
            <a:ext cx="393192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3236976"/>
            <a:ext cx="1600200" cy="640080"/>
          </a:xfrm>
          <a:prstGeom prst="rect">
            <a:avLst/>
          </a:prstGeom>
          <a:noFill/>
        </p:spPr>
        <p:txBody>
          <a:bodyPr wrap="square" lIns="0" rIns="0" tIns="0" bIns="0" anchor="t">
            <a:spAutoFit/>
          </a:bodyPr>
          <a:lstStyle/>
          <a:p>
            <a:pPr algn="l"/>
            <a:r>
              <a:rPr sz="3000" b="1" i="0">
                <a:solidFill>
                  <a:srgbClr val="142340"/>
                </a:solidFill>
                <a:latin typeface="Cambria"/>
              </a:rPr>
              <a:t>0.569</a:t>
            </a:r>
          </a:p>
        </p:txBody>
      </p:sp>
      <p:sp>
        <p:nvSpPr>
          <p:cNvPr id="11" name="TextBox 10"/>
          <p:cNvSpPr txBox="1"/>
          <p:nvPr/>
        </p:nvSpPr>
        <p:spPr>
          <a:xfrm>
            <a:off x="9555480" y="3282696"/>
            <a:ext cx="2011680" cy="640080"/>
          </a:xfrm>
          <a:prstGeom prst="rect">
            <a:avLst/>
          </a:prstGeom>
          <a:noFill/>
        </p:spPr>
        <p:txBody>
          <a:bodyPr wrap="square" lIns="0" rIns="0" tIns="0" bIns="0" anchor="t">
            <a:spAutoFit/>
          </a:bodyPr>
          <a:lstStyle/>
          <a:p>
            <a:pPr algn="l"/>
            <a:r>
              <a:rPr sz="1400" b="1" i="0">
                <a:solidFill>
                  <a:srgbClr val="142340"/>
                </a:solidFill>
                <a:latin typeface="Calibri"/>
              </a:rPr>
              <a:t>micro-F1 from always guessing grade 2</a:t>
            </a:r>
          </a:p>
        </p:txBody>
      </p:sp>
      <p:sp>
        <p:nvSpPr>
          <p:cNvPr id="12" name="TextBox 11"/>
          <p:cNvSpPr txBox="1"/>
          <p:nvPr/>
        </p:nvSpPr>
        <p:spPr>
          <a:xfrm>
            <a:off x="7955279" y="3931920"/>
            <a:ext cx="3566160" cy="548640"/>
          </a:xfrm>
          <a:prstGeom prst="rect">
            <a:avLst/>
          </a:prstGeom>
          <a:noFill/>
        </p:spPr>
        <p:txBody>
          <a:bodyPr wrap="square" lIns="0" rIns="0" tIns="0" bIns="0" anchor="t">
            <a:spAutoFit/>
          </a:bodyPr>
          <a:lstStyle/>
          <a:p>
            <a:pPr algn="l"/>
            <a:r>
              <a:rPr sz="1300" b="0" i="0">
                <a:solidFill>
                  <a:srgbClr val="52514E"/>
                </a:solidFill>
                <a:latin typeface="Calibri"/>
              </a:rPr>
              <a:t>…but macro-F1 only 0.242: grades 1 and 3 are never found</a:t>
            </a:r>
          </a:p>
        </p:txBody>
      </p:sp>
      <p:sp>
        <p:nvSpPr>
          <p:cNvPr id="13" name="Rounded Rectangle 12"/>
          <p:cNvSpPr/>
          <p:nvPr/>
        </p:nvSpPr>
        <p:spPr>
          <a:xfrm>
            <a:off x="7726679" y="4700016"/>
            <a:ext cx="3931920" cy="155448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4791456"/>
            <a:ext cx="3566160" cy="320040"/>
          </a:xfrm>
          <a:prstGeom prst="rect">
            <a:avLst/>
          </a:prstGeom>
          <a:noFill/>
        </p:spPr>
        <p:txBody>
          <a:bodyPr wrap="square" lIns="0" rIns="0" tIns="0" bIns="0" anchor="t">
            <a:spAutoFit/>
          </a:bodyPr>
          <a:lstStyle/>
          <a:p>
            <a:pPr algn="l"/>
            <a:r>
              <a:rPr sz="1500" b="1" i="0">
                <a:solidFill>
                  <a:srgbClr val="FFFFFF"/>
                </a:solidFill>
                <a:latin typeface="Calibri"/>
              </a:rPr>
              <a:t>How we handled it</a:t>
            </a:r>
          </a:p>
        </p:txBody>
      </p:sp>
      <p:sp>
        <p:nvSpPr>
          <p:cNvPr id="15" name="TextBox 14"/>
          <p:cNvSpPr txBox="1"/>
          <p:nvPr/>
        </p:nvSpPr>
        <p:spPr>
          <a:xfrm>
            <a:off x="7955279" y="5138928"/>
            <a:ext cx="3566160" cy="1097280"/>
          </a:xfrm>
          <a:prstGeom prst="rect">
            <a:avLst/>
          </a:prstGeom>
          <a:noFill/>
        </p:spPr>
        <p:txBody>
          <a:bodyPr wrap="square" lIns="0" rIns="0" tIns="0" bIns="0" anchor="t">
            <a:spAutoFit/>
          </a:bodyPr>
          <a:lstStyle/>
          <a:p>
            <a:pPr algn="l">
              <a:spcAft>
                <a:spcPts val="300"/>
              </a:spcAft>
            </a:pPr>
            <a:r>
              <a:rPr sz="1250" b="0" i="0">
                <a:solidFill>
                  <a:srgbClr val="86B6EF"/>
                </a:solidFill>
                <a:latin typeface="Calibri"/>
              </a:rPr>
              <a:t>Stratified split and CV folds keep the 10 / 57 / 33 mix</a:t>
            </a:r>
          </a:p>
          <a:p>
            <a:pPr algn="l">
              <a:spcAft>
                <a:spcPts val="300"/>
              </a:spcAft>
            </a:pPr>
            <a:r>
              <a:rPr sz="1250" b="0" i="0">
                <a:solidFill>
                  <a:srgbClr val="86B6EF"/>
                </a:solidFill>
                <a:latin typeface="Calibri"/>
              </a:rPr>
              <a:t>Report macro-F1 and per-class recall, not only accuracy</a:t>
            </a:r>
          </a:p>
          <a:p>
            <a:pPr algn="l">
              <a:spcAft>
                <a:spcPts val="300"/>
              </a:spcAft>
            </a:pPr>
            <a:r>
              <a:rPr sz="1250" b="0" i="0">
                <a:solidFill>
                  <a:srgbClr val="86B6EF"/>
                </a:solidFill>
                <a:latin typeface="Calibri"/>
              </a:rPr>
              <a:t>Tested class weighting (E5) as a fix</a:t>
            </a:r>
          </a:p>
        </p:txBody>
      </p:sp>
      <p:sp>
        <p:nvSpPr>
          <p:cNvPr id="16" name="TextBox 15"/>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7" name="TextBox 16"/>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DATASET PRE-PROCESSING · EXPLORATION</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Building material is the clearest structural signal</a:t>
            </a:r>
          </a:p>
        </p:txBody>
      </p:sp>
      <p:pic>
        <p:nvPicPr>
          <p:cNvPr id="4" name="Picture 3" descr="fig03_damage_by_superstructure.png"/>
          <p:cNvPicPr>
            <a:picLocks noChangeAspect="1"/>
          </p:cNvPicPr>
          <p:nvPr/>
        </p:nvPicPr>
        <p:blipFill>
          <a:blip r:embed="rId2"/>
          <a:stretch>
            <a:fillRect/>
          </a:stretch>
        </p:blipFill>
        <p:spPr>
          <a:xfrm>
            <a:off x="457199" y="2045507"/>
            <a:ext cx="7223760" cy="3635664"/>
          </a:xfrm>
          <a:prstGeom prst="rect">
            <a:avLst/>
          </a:prstGeom>
        </p:spPr>
      </p:pic>
      <p:sp>
        <p:nvSpPr>
          <p:cNvPr id="5" name="Rounded Rectangle 4"/>
          <p:cNvSpPr/>
          <p:nvPr/>
        </p:nvSpPr>
        <p:spPr>
          <a:xfrm>
            <a:off x="8001000" y="1554480"/>
            <a:ext cx="365760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64207"/>
            <a:ext cx="1463040" cy="640080"/>
          </a:xfrm>
          <a:prstGeom prst="rect">
            <a:avLst/>
          </a:prstGeom>
          <a:noFill/>
        </p:spPr>
        <p:txBody>
          <a:bodyPr wrap="square" lIns="0" rIns="0" tIns="0" bIns="0" anchor="t">
            <a:spAutoFit/>
          </a:bodyPr>
          <a:lstStyle/>
          <a:p>
            <a:pPr algn="l"/>
            <a:r>
              <a:rPr sz="3000" b="1" i="0">
                <a:solidFill>
                  <a:srgbClr val="EB6834"/>
                </a:solidFill>
                <a:latin typeface="Cambria"/>
              </a:rPr>
              <a:t>76%</a:t>
            </a:r>
          </a:p>
        </p:txBody>
      </p:sp>
      <p:sp>
        <p:nvSpPr>
          <p:cNvPr id="7" name="TextBox 6"/>
          <p:cNvSpPr txBox="1"/>
          <p:nvPr/>
        </p:nvSpPr>
        <p:spPr>
          <a:xfrm>
            <a:off x="9646920" y="1709928"/>
            <a:ext cx="1920240" cy="640080"/>
          </a:xfrm>
          <a:prstGeom prst="rect">
            <a:avLst/>
          </a:prstGeom>
          <a:noFill/>
        </p:spPr>
        <p:txBody>
          <a:bodyPr wrap="square" lIns="0" rIns="0" tIns="0" bIns="0" anchor="t">
            <a:spAutoFit/>
          </a:bodyPr>
          <a:lstStyle/>
          <a:p>
            <a:pPr algn="l"/>
            <a:r>
              <a:rPr sz="1400" b="1" i="0">
                <a:solidFill>
                  <a:srgbClr val="142340"/>
                </a:solidFill>
                <a:latin typeface="Calibri"/>
              </a:rPr>
              <a:t>of buildings use mud-mortar stone</a:t>
            </a:r>
          </a:p>
        </p:txBody>
      </p:sp>
      <p:sp>
        <p:nvSpPr>
          <p:cNvPr id="8" name="TextBox 7"/>
          <p:cNvSpPr txBox="1"/>
          <p:nvPr/>
        </p:nvSpPr>
        <p:spPr>
          <a:xfrm>
            <a:off x="8229600" y="2359152"/>
            <a:ext cx="3291840" cy="548640"/>
          </a:xfrm>
          <a:prstGeom prst="rect">
            <a:avLst/>
          </a:prstGeom>
          <a:noFill/>
        </p:spPr>
        <p:txBody>
          <a:bodyPr wrap="square" lIns="0" rIns="0" tIns="0" bIns="0" anchor="t">
            <a:spAutoFit/>
          </a:bodyPr>
          <a:lstStyle/>
          <a:p>
            <a:pPr algn="l"/>
            <a:r>
              <a:rPr sz="1300" b="0" i="0">
                <a:solidFill>
                  <a:srgbClr val="52514E"/>
                </a:solidFill>
                <a:latin typeface="Calibri"/>
              </a:rPr>
              <a:t>38% of them were destroyed (grade 3)</a:t>
            </a:r>
          </a:p>
        </p:txBody>
      </p:sp>
      <p:sp>
        <p:nvSpPr>
          <p:cNvPr id="9" name="Rounded Rectangle 8"/>
          <p:cNvSpPr/>
          <p:nvPr/>
        </p:nvSpPr>
        <p:spPr>
          <a:xfrm>
            <a:off x="8001000" y="3127248"/>
            <a:ext cx="365760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236976"/>
            <a:ext cx="1463040" cy="640080"/>
          </a:xfrm>
          <a:prstGeom prst="rect">
            <a:avLst/>
          </a:prstGeom>
          <a:noFill/>
        </p:spPr>
        <p:txBody>
          <a:bodyPr wrap="square" lIns="0" rIns="0" tIns="0" bIns="0" anchor="t">
            <a:spAutoFit/>
          </a:bodyPr>
          <a:lstStyle/>
          <a:p>
            <a:pPr algn="l"/>
            <a:r>
              <a:rPr sz="3000" b="1" i="0">
                <a:solidFill>
                  <a:srgbClr val="142340"/>
                </a:solidFill>
                <a:latin typeface="Cambria"/>
              </a:rPr>
              <a:t>2%</a:t>
            </a:r>
          </a:p>
        </p:txBody>
      </p:sp>
      <p:sp>
        <p:nvSpPr>
          <p:cNvPr id="11" name="TextBox 10"/>
          <p:cNvSpPr txBox="1"/>
          <p:nvPr/>
        </p:nvSpPr>
        <p:spPr>
          <a:xfrm>
            <a:off x="9646920" y="3282696"/>
            <a:ext cx="1920240" cy="640080"/>
          </a:xfrm>
          <a:prstGeom prst="rect">
            <a:avLst/>
          </a:prstGeom>
          <a:noFill/>
        </p:spPr>
        <p:txBody>
          <a:bodyPr wrap="square" lIns="0" rIns="0" tIns="0" bIns="0" anchor="t">
            <a:spAutoFit/>
          </a:bodyPr>
          <a:lstStyle/>
          <a:p>
            <a:pPr algn="l"/>
            <a:r>
              <a:rPr sz="1400" b="1" i="0">
                <a:solidFill>
                  <a:srgbClr val="142340"/>
                </a:solidFill>
                <a:latin typeface="Calibri"/>
              </a:rPr>
              <a:t>grade-3 rate for engineered RC</a:t>
            </a:r>
          </a:p>
        </p:txBody>
      </p:sp>
      <p:sp>
        <p:nvSpPr>
          <p:cNvPr id="12" name="TextBox 11"/>
          <p:cNvSpPr txBox="1"/>
          <p:nvPr/>
        </p:nvSpPr>
        <p:spPr>
          <a:xfrm>
            <a:off x="8229600" y="3931920"/>
            <a:ext cx="3291840" cy="548640"/>
          </a:xfrm>
          <a:prstGeom prst="rect">
            <a:avLst/>
          </a:prstGeom>
          <a:noFill/>
        </p:spPr>
        <p:txBody>
          <a:bodyPr wrap="square" lIns="0" rIns="0" tIns="0" bIns="0" anchor="t">
            <a:spAutoFit/>
          </a:bodyPr>
          <a:lstStyle/>
          <a:p>
            <a:pPr algn="l"/>
            <a:r>
              <a:rPr sz="1300" b="0" i="0">
                <a:solidFill>
                  <a:srgbClr val="52514E"/>
                </a:solidFill>
                <a:latin typeface="Calibri"/>
              </a:rPr>
              <a:t>64% of RC buildings had only low damage</a:t>
            </a:r>
          </a:p>
        </p:txBody>
      </p:sp>
      <p:sp>
        <p:nvSpPr>
          <p:cNvPr id="13" name="Rounded Rectangle 12"/>
          <p:cNvSpPr/>
          <p:nvPr/>
        </p:nvSpPr>
        <p:spPr>
          <a:xfrm>
            <a:off x="8001000" y="4700016"/>
            <a:ext cx="365760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809744"/>
            <a:ext cx="1463040" cy="640080"/>
          </a:xfrm>
          <a:prstGeom prst="rect">
            <a:avLst/>
          </a:prstGeom>
          <a:noFill/>
        </p:spPr>
        <p:txBody>
          <a:bodyPr wrap="square" lIns="0" rIns="0" tIns="0" bIns="0" anchor="t">
            <a:spAutoFit/>
          </a:bodyPr>
          <a:lstStyle/>
          <a:p>
            <a:pPr algn="l"/>
            <a:r>
              <a:rPr sz="3000" b="1" i="0">
                <a:solidFill>
                  <a:srgbClr val="142340"/>
                </a:solidFill>
                <a:latin typeface="Cambria"/>
              </a:rPr>
              <a:t>2%</a:t>
            </a:r>
          </a:p>
        </p:txBody>
      </p:sp>
      <p:sp>
        <p:nvSpPr>
          <p:cNvPr id="15" name="TextBox 14"/>
          <p:cNvSpPr txBox="1"/>
          <p:nvPr/>
        </p:nvSpPr>
        <p:spPr>
          <a:xfrm>
            <a:off x="9646920" y="4855464"/>
            <a:ext cx="1920240" cy="640080"/>
          </a:xfrm>
          <a:prstGeom prst="rect">
            <a:avLst/>
          </a:prstGeom>
          <a:noFill/>
        </p:spPr>
        <p:txBody>
          <a:bodyPr wrap="square" lIns="0" rIns="0" tIns="0" bIns="0" anchor="t">
            <a:spAutoFit/>
          </a:bodyPr>
          <a:lstStyle/>
          <a:p>
            <a:pPr algn="l"/>
            <a:r>
              <a:rPr sz="1400" b="1" i="0">
                <a:solidFill>
                  <a:srgbClr val="142340"/>
                </a:solidFill>
                <a:latin typeface="Calibri"/>
              </a:rPr>
              <a:t>grade-3 rate, foundation type i</a:t>
            </a:r>
          </a:p>
        </p:txBody>
      </p:sp>
      <p:sp>
        <p:nvSpPr>
          <p:cNvPr id="16" name="TextBox 15"/>
          <p:cNvSpPr txBox="1"/>
          <p:nvPr/>
        </p:nvSpPr>
        <p:spPr>
          <a:xfrm>
            <a:off x="8229600" y="5504688"/>
            <a:ext cx="3291840" cy="548640"/>
          </a:xfrm>
          <a:prstGeom prst="rect">
            <a:avLst/>
          </a:prstGeom>
          <a:noFill/>
        </p:spPr>
        <p:txBody>
          <a:bodyPr wrap="square" lIns="0" rIns="0" tIns="0" bIns="0" anchor="t">
            <a:spAutoFit/>
          </a:bodyPr>
          <a:lstStyle/>
          <a:p>
            <a:pPr algn="l"/>
            <a:r>
              <a:rPr sz="1300" b="0" i="0">
                <a:solidFill>
                  <a:srgbClr val="52514E"/>
                </a:solidFill>
                <a:latin typeface="Calibri"/>
              </a:rPr>
              <a:t>vs 38% for type r, used by 84% of buildings</a:t>
            </a:r>
          </a:p>
        </p:txBody>
      </p:sp>
      <p:sp>
        <p:nvSpPr>
          <p:cNvPr id="17" name="TextBox 16"/>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8" name="TextBox 17"/>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DATASET PRE-PROCESSING · EXPLORATION</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Location matters as much as structure</a:t>
            </a:r>
          </a:p>
        </p:txBody>
      </p:sp>
      <p:pic>
        <p:nvPicPr>
          <p:cNvPr id="4" name="Picture 3" descr="fig04_damage_by_geo1.png"/>
          <p:cNvPicPr>
            <a:picLocks noChangeAspect="1"/>
          </p:cNvPicPr>
          <p:nvPr/>
        </p:nvPicPr>
        <p:blipFill>
          <a:blip r:embed="rId2"/>
          <a:stretch>
            <a:fillRect/>
          </a:stretch>
        </p:blipFill>
        <p:spPr>
          <a:xfrm>
            <a:off x="1900203" y="1463040"/>
            <a:ext cx="8361112" cy="3931920"/>
          </a:xfrm>
          <a:prstGeom prst="rect">
            <a:avLst/>
          </a:prstGeom>
        </p:spPr>
      </p:pic>
      <p:sp>
        <p:nvSpPr>
          <p:cNvPr id="5" name="Rounded Rectangle 4"/>
          <p:cNvSpPr/>
          <p:nvPr/>
        </p:nvSpPr>
        <p:spPr>
          <a:xfrm>
            <a:off x="548640" y="5486400"/>
            <a:ext cx="11109960" cy="7315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5532120"/>
            <a:ext cx="10698480" cy="640080"/>
          </a:xfrm>
          <a:prstGeom prst="rect">
            <a:avLst/>
          </a:prstGeom>
          <a:noFill/>
        </p:spPr>
        <p:txBody>
          <a:bodyPr wrap="square" lIns="0" rIns="0" tIns="0" bIns="0" anchor="ctr">
            <a:spAutoFit/>
          </a:bodyPr>
          <a:lstStyle/>
          <a:p>
            <a:pPr algn="l"/>
            <a:r>
              <a:rPr sz="1500" b="0" i="0">
                <a:solidFill>
                  <a:srgbClr val="52514E"/>
                </a:solidFill>
                <a:latin typeface="Calibri"/>
              </a:rPr>
              <a:t>Grade-3 share ranges from </a:t>
            </a:r>
            <a:r>
              <a:rPr sz="1500" b="1" i="0">
                <a:solidFill>
                  <a:srgbClr val="142340"/>
                </a:solidFill>
                <a:latin typeface="Calibri"/>
              </a:rPr>
              <a:t>9%</a:t>
            </a:r>
            <a:r>
              <a:rPr sz="1500" b="0" i="0">
                <a:solidFill>
                  <a:srgbClr val="52514E"/>
                </a:solidFill>
                <a:latin typeface="Calibri"/>
              </a:rPr>
              <a:t> (region 26) to </a:t>
            </a:r>
            <a:r>
              <a:rPr sz="1500" b="1" i="0">
                <a:solidFill>
                  <a:srgbClr val="EB6834"/>
                </a:solidFill>
                <a:latin typeface="Calibri"/>
              </a:rPr>
              <a:t>81%</a:t>
            </a:r>
            <a:r>
              <a:rPr sz="1500" b="0" i="0">
                <a:solidFill>
                  <a:srgbClr val="52514E"/>
                </a:solidFill>
                <a:latin typeface="Calibri"/>
              </a:rPr>
              <a:t> (region 17). Region is a proxy for shaking intensity, so finer location levels should help even more.</a:t>
            </a:r>
          </a:p>
        </p:txBody>
      </p:sp>
      <p:sp>
        <p:nvSpPr>
          <p:cNvPr id="7" name="TextBox 6"/>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8" name="TextBox 7"/>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DATASET PRE-PROCESSING · CLEANING &amp; FEATURE ENGINEERING</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Every step lives inside one leakage-safe sklearn Pipeline</a:t>
            </a:r>
          </a:p>
        </p:txBody>
      </p:sp>
      <p:sp>
        <p:nvSpPr>
          <p:cNvPr id="4" name="Rounded Rectangle 3"/>
          <p:cNvSpPr/>
          <p:nvPr/>
        </p:nvSpPr>
        <p:spPr>
          <a:xfrm>
            <a:off x="548640" y="1600200"/>
            <a:ext cx="1691640" cy="17373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37360"/>
            <a:ext cx="1417320" cy="685800"/>
          </a:xfrm>
          <a:prstGeom prst="rect">
            <a:avLst/>
          </a:prstGeom>
          <a:noFill/>
        </p:spPr>
        <p:txBody>
          <a:bodyPr wrap="square" lIns="0" rIns="0" tIns="0" bIns="0" anchor="t">
            <a:spAutoFit/>
          </a:bodyPr>
          <a:lstStyle/>
          <a:p>
            <a:pPr algn="l"/>
            <a:r>
              <a:rPr sz="1600" b="1" i="0">
                <a:solidFill>
                  <a:srgbClr val="142340"/>
                </a:solidFill>
                <a:latin typeface="Calibri"/>
              </a:rPr>
              <a:t>Age clean</a:t>
            </a:r>
          </a:p>
        </p:txBody>
      </p:sp>
      <p:sp>
        <p:nvSpPr>
          <p:cNvPr id="6" name="TextBox 5"/>
          <p:cNvSpPr txBox="1"/>
          <p:nvPr/>
        </p:nvSpPr>
        <p:spPr>
          <a:xfrm>
            <a:off x="685800" y="2423160"/>
            <a:ext cx="1417320" cy="868680"/>
          </a:xfrm>
          <a:prstGeom prst="rect">
            <a:avLst/>
          </a:prstGeom>
          <a:noFill/>
        </p:spPr>
        <p:txBody>
          <a:bodyPr wrap="square" lIns="0" rIns="0" tIns="0" bIns="0" anchor="t">
            <a:spAutoFit/>
          </a:bodyPr>
          <a:lstStyle/>
          <a:p>
            <a:pPr algn="l"/>
            <a:r>
              <a:rPr sz="1250" b="0" i="0">
                <a:solidFill>
                  <a:srgbClr val="52514E"/>
                </a:solidFill>
                <a:latin typeface="Calibri"/>
              </a:rPr>
              <a:t>995 → flag +
training median</a:t>
            </a:r>
          </a:p>
        </p:txBody>
      </p:sp>
      <p:cxnSp>
        <p:nvCxnSpPr>
          <p:cNvPr id="7" name="Connector 6"/>
          <p:cNvCxnSpPr/>
          <p:nvPr/>
        </p:nvCxnSpPr>
        <p:spPr>
          <a:xfrm>
            <a:off x="2258568" y="2468880"/>
            <a:ext cx="155448" cy="0"/>
          </a:xfrm>
          <a:prstGeom prst="line">
            <a:avLst/>
          </a:prstGeom>
          <a:ln w="254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32304" y="1600200"/>
            <a:ext cx="1691640" cy="17373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9464" y="1737360"/>
            <a:ext cx="1417320" cy="685800"/>
          </a:xfrm>
          <a:prstGeom prst="rect">
            <a:avLst/>
          </a:prstGeom>
          <a:noFill/>
        </p:spPr>
        <p:txBody>
          <a:bodyPr wrap="square" lIns="0" rIns="0" tIns="0" bIns="0" anchor="t">
            <a:spAutoFit/>
          </a:bodyPr>
          <a:lstStyle/>
          <a:p>
            <a:pPr algn="l"/>
            <a:r>
              <a:rPr sz="1600" b="1" i="0">
                <a:solidFill>
                  <a:srgbClr val="142340"/>
                </a:solidFill>
                <a:latin typeface="Calibri"/>
              </a:rPr>
              <a:t>Engineer</a:t>
            </a:r>
          </a:p>
        </p:txBody>
      </p:sp>
      <p:sp>
        <p:nvSpPr>
          <p:cNvPr id="10" name="TextBox 9"/>
          <p:cNvSpPr txBox="1"/>
          <p:nvPr/>
        </p:nvSpPr>
        <p:spPr>
          <a:xfrm>
            <a:off x="2569464" y="2423160"/>
            <a:ext cx="1417320" cy="868680"/>
          </a:xfrm>
          <a:prstGeom prst="rect">
            <a:avLst/>
          </a:prstGeom>
          <a:noFill/>
        </p:spPr>
        <p:txBody>
          <a:bodyPr wrap="square" lIns="0" rIns="0" tIns="0" bIns="0" anchor="t">
            <a:spAutoFit/>
          </a:bodyPr>
          <a:lstStyle/>
          <a:p>
            <a:pPr algn="l"/>
            <a:r>
              <a:rPr sz="1250" b="0" i="0">
                <a:solidFill>
                  <a:srgbClr val="52514E"/>
                </a:solidFill>
                <a:latin typeface="Calibri"/>
              </a:rPr>
              <a:t>kept: floors_x_log_age</a:t>
            </a:r>
          </a:p>
        </p:txBody>
      </p:sp>
      <p:cxnSp>
        <p:nvCxnSpPr>
          <p:cNvPr id="11" name="Connector 10"/>
          <p:cNvCxnSpPr/>
          <p:nvPr/>
        </p:nvCxnSpPr>
        <p:spPr>
          <a:xfrm>
            <a:off x="4142231" y="2468880"/>
            <a:ext cx="155449" cy="0"/>
          </a:xfrm>
          <a:prstGeom prst="line">
            <a:avLst/>
          </a:prstGeom>
          <a:ln w="254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15968" y="1600200"/>
            <a:ext cx="1691640" cy="17373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1737360"/>
            <a:ext cx="1417320" cy="685800"/>
          </a:xfrm>
          <a:prstGeom prst="rect">
            <a:avLst/>
          </a:prstGeom>
          <a:noFill/>
        </p:spPr>
        <p:txBody>
          <a:bodyPr wrap="square" lIns="0" rIns="0" tIns="0" bIns="0" anchor="t">
            <a:spAutoFit/>
          </a:bodyPr>
          <a:lstStyle/>
          <a:p>
            <a:pPr algn="l"/>
            <a:r>
              <a:rPr sz="1600" b="1" i="0">
                <a:solidFill>
                  <a:srgbClr val="142340"/>
                </a:solidFill>
                <a:latin typeface="Calibri"/>
              </a:rPr>
              <a:t>Scale (LR)</a:t>
            </a:r>
          </a:p>
        </p:txBody>
      </p:sp>
      <p:sp>
        <p:nvSpPr>
          <p:cNvPr id="14" name="TextBox 13"/>
          <p:cNvSpPr txBox="1"/>
          <p:nvPr/>
        </p:nvSpPr>
        <p:spPr>
          <a:xfrm>
            <a:off x="4453128" y="2423160"/>
            <a:ext cx="1417320" cy="868680"/>
          </a:xfrm>
          <a:prstGeom prst="rect">
            <a:avLst/>
          </a:prstGeom>
          <a:noFill/>
        </p:spPr>
        <p:txBody>
          <a:bodyPr wrap="square" lIns="0" rIns="0" tIns="0" bIns="0" anchor="t">
            <a:spAutoFit/>
          </a:bodyPr>
          <a:lstStyle/>
          <a:p>
            <a:pPr algn="l"/>
            <a:r>
              <a:rPr sz="1250" b="0" i="0">
                <a:solidFill>
                  <a:srgbClr val="52514E"/>
                </a:solidFill>
                <a:latin typeface="Calibri"/>
              </a:rPr>
              <a:t>log1p + standardise
age, area, height</a:t>
            </a:r>
          </a:p>
        </p:txBody>
      </p:sp>
      <p:cxnSp>
        <p:nvCxnSpPr>
          <p:cNvPr id="15" name="Connector 14"/>
          <p:cNvCxnSpPr/>
          <p:nvPr/>
        </p:nvCxnSpPr>
        <p:spPr>
          <a:xfrm>
            <a:off x="6025896" y="2468880"/>
            <a:ext cx="155448" cy="0"/>
          </a:xfrm>
          <a:prstGeom prst="line">
            <a:avLst/>
          </a:prstGeom>
          <a:ln w="254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99631" y="1600200"/>
            <a:ext cx="1691640" cy="17373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1737360"/>
            <a:ext cx="1417320" cy="685800"/>
          </a:xfrm>
          <a:prstGeom prst="rect">
            <a:avLst/>
          </a:prstGeom>
          <a:noFill/>
        </p:spPr>
        <p:txBody>
          <a:bodyPr wrap="square" lIns="0" rIns="0" tIns="0" bIns="0" anchor="t">
            <a:spAutoFit/>
          </a:bodyPr>
          <a:lstStyle/>
          <a:p>
            <a:pPr algn="l"/>
            <a:r>
              <a:rPr sz="1600" b="1" i="0">
                <a:solidFill>
                  <a:srgbClr val="142340"/>
                </a:solidFill>
                <a:latin typeface="Calibri"/>
              </a:rPr>
              <a:t>Encode</a:t>
            </a:r>
          </a:p>
        </p:txBody>
      </p:sp>
      <p:sp>
        <p:nvSpPr>
          <p:cNvPr id="18" name="TextBox 17"/>
          <p:cNvSpPr txBox="1"/>
          <p:nvPr/>
        </p:nvSpPr>
        <p:spPr>
          <a:xfrm>
            <a:off x="6336792" y="2423160"/>
            <a:ext cx="1417320" cy="868680"/>
          </a:xfrm>
          <a:prstGeom prst="rect">
            <a:avLst/>
          </a:prstGeom>
          <a:noFill/>
        </p:spPr>
        <p:txBody>
          <a:bodyPr wrap="square" lIns="0" rIns="0" tIns="0" bIns="0" anchor="t">
            <a:spAutoFit/>
          </a:bodyPr>
          <a:lstStyle/>
          <a:p>
            <a:pPr algn="l"/>
            <a:r>
              <a:rPr sz="1250" b="0" i="0">
                <a:solidFill>
                  <a:srgbClr val="52514E"/>
                </a:solidFill>
                <a:latin typeface="Calibri"/>
              </a:rPr>
              <a:t>8 categoricals + region:
LR one-hot, trees codes</a:t>
            </a:r>
          </a:p>
        </p:txBody>
      </p:sp>
      <p:cxnSp>
        <p:nvCxnSpPr>
          <p:cNvPr id="19" name="Connector 18"/>
          <p:cNvCxnSpPr/>
          <p:nvPr/>
        </p:nvCxnSpPr>
        <p:spPr>
          <a:xfrm>
            <a:off x="7909559" y="2468880"/>
            <a:ext cx="155449" cy="0"/>
          </a:xfrm>
          <a:prstGeom prst="line">
            <a:avLst/>
          </a:prstGeom>
          <a:ln w="254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83296" y="1600200"/>
            <a:ext cx="1691640" cy="17373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0456" y="1737360"/>
            <a:ext cx="1417320" cy="685800"/>
          </a:xfrm>
          <a:prstGeom prst="rect">
            <a:avLst/>
          </a:prstGeom>
          <a:noFill/>
        </p:spPr>
        <p:txBody>
          <a:bodyPr wrap="square" lIns="0" rIns="0" tIns="0" bIns="0" anchor="t">
            <a:spAutoFit/>
          </a:bodyPr>
          <a:lstStyle/>
          <a:p>
            <a:pPr algn="l"/>
            <a:r>
              <a:rPr sz="1600" b="1" i="0">
                <a:solidFill>
                  <a:srgbClr val="142340"/>
                </a:solidFill>
                <a:latin typeface="Calibri"/>
              </a:rPr>
              <a:t>Target-encode</a:t>
            </a:r>
          </a:p>
        </p:txBody>
      </p:sp>
      <p:sp>
        <p:nvSpPr>
          <p:cNvPr id="22" name="TextBox 21"/>
          <p:cNvSpPr txBox="1"/>
          <p:nvPr/>
        </p:nvSpPr>
        <p:spPr>
          <a:xfrm>
            <a:off x="8220456" y="2423160"/>
            <a:ext cx="1417320" cy="868680"/>
          </a:xfrm>
          <a:prstGeom prst="rect">
            <a:avLst/>
          </a:prstGeom>
          <a:noFill/>
        </p:spPr>
        <p:txBody>
          <a:bodyPr wrap="square" lIns="0" rIns="0" tIns="0" bIns="0" anchor="t">
            <a:spAutoFit/>
          </a:bodyPr>
          <a:lstStyle/>
          <a:p>
            <a:pPr algn="l"/>
            <a:r>
              <a:rPr sz="1250" b="0" i="0">
                <a:solidFill>
                  <a:srgbClr val="52514E"/>
                </a:solidFill>
                <a:latin typeface="Calibri"/>
              </a:rPr>
              <a:t>geo levels 2 &amp; 3
(multiclass, cross-fit)</a:t>
            </a:r>
          </a:p>
        </p:txBody>
      </p:sp>
      <p:cxnSp>
        <p:nvCxnSpPr>
          <p:cNvPr id="23" name="Connector 22"/>
          <p:cNvCxnSpPr/>
          <p:nvPr/>
        </p:nvCxnSpPr>
        <p:spPr>
          <a:xfrm>
            <a:off x="9793224" y="2468880"/>
            <a:ext cx="155448" cy="0"/>
          </a:xfrm>
          <a:prstGeom prst="line">
            <a:avLst/>
          </a:prstGeom>
          <a:ln w="25400">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66960" y="1600200"/>
            <a:ext cx="1691640" cy="173736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04120" y="1737360"/>
            <a:ext cx="1417320" cy="685800"/>
          </a:xfrm>
          <a:prstGeom prst="rect">
            <a:avLst/>
          </a:prstGeom>
          <a:noFill/>
        </p:spPr>
        <p:txBody>
          <a:bodyPr wrap="square" lIns="0" rIns="0" tIns="0" bIns="0" anchor="t">
            <a:spAutoFit/>
          </a:bodyPr>
          <a:lstStyle/>
          <a:p>
            <a:pPr algn="l"/>
            <a:r>
              <a:rPr sz="1600" b="1" i="0">
                <a:solidFill>
                  <a:srgbClr val="FFFFFF"/>
                </a:solidFill>
                <a:latin typeface="Calibri"/>
              </a:rPr>
              <a:t>3 models</a:t>
            </a:r>
          </a:p>
        </p:txBody>
      </p:sp>
      <p:sp>
        <p:nvSpPr>
          <p:cNvPr id="26" name="TextBox 25"/>
          <p:cNvSpPr txBox="1"/>
          <p:nvPr/>
        </p:nvSpPr>
        <p:spPr>
          <a:xfrm>
            <a:off x="10104120" y="2423160"/>
            <a:ext cx="1417320" cy="868680"/>
          </a:xfrm>
          <a:prstGeom prst="rect">
            <a:avLst/>
          </a:prstGeom>
          <a:noFill/>
        </p:spPr>
        <p:txBody>
          <a:bodyPr wrap="square" lIns="0" rIns="0" tIns="0" bIns="0" anchor="t">
            <a:spAutoFit/>
          </a:bodyPr>
          <a:lstStyle/>
          <a:p>
            <a:pPr algn="l"/>
            <a:r>
              <a:rPr sz="1250" b="0" i="0">
                <a:solidFill>
                  <a:srgbClr val="86B6EF"/>
                </a:solidFill>
                <a:latin typeface="Calibri"/>
              </a:rPr>
              <a:t>LR · random forest
· gradient boosting</a:t>
            </a:r>
          </a:p>
        </p:txBody>
      </p:sp>
      <p:sp>
        <p:nvSpPr>
          <p:cNvPr id="27" name="TextBox 26"/>
          <p:cNvSpPr txBox="1"/>
          <p:nvPr/>
        </p:nvSpPr>
        <p:spPr>
          <a:xfrm>
            <a:off x="548640" y="3611880"/>
            <a:ext cx="5486400" cy="365760"/>
          </a:xfrm>
          <a:prstGeom prst="rect">
            <a:avLst/>
          </a:prstGeom>
          <a:noFill/>
        </p:spPr>
        <p:txBody>
          <a:bodyPr wrap="square" lIns="0" rIns="0" tIns="0" bIns="0" anchor="t">
            <a:spAutoFit/>
          </a:bodyPr>
          <a:lstStyle/>
          <a:p>
            <a:pPr algn="l"/>
            <a:r>
              <a:rPr sz="1800" b="1" i="0">
                <a:solidFill>
                  <a:srgbClr val="142340"/>
                </a:solidFill>
                <a:latin typeface="Calibri"/>
              </a:rPr>
              <a:t>Cleaning</a:t>
            </a:r>
          </a:p>
        </p:txBody>
      </p:sp>
      <p:sp>
        <p:nvSpPr>
          <p:cNvPr id="28" name="TextBox 27"/>
          <p:cNvSpPr txBox="1"/>
          <p:nvPr/>
        </p:nvSpPr>
        <p:spPr>
          <a:xfrm>
            <a:off x="548640" y="4023360"/>
            <a:ext cx="5303520" cy="2194560"/>
          </a:xfrm>
          <a:prstGeom prst="rect">
            <a:avLst/>
          </a:prstGeom>
          <a:noFill/>
        </p:spPr>
        <p:txBody>
          <a:bodyPr wrap="square" lIns="0" rIns="0" tIns="0" bIns="0" anchor="t">
            <a:spAutoFit/>
          </a:bodyPr>
          <a:lstStyle/>
          <a:p>
            <a:pPr algn="l">
              <a:spcAft>
                <a:spcPts val="800"/>
              </a:spcAft>
            </a:pPr>
            <a:r>
              <a:rPr sz="1400" b="0" i="0">
                <a:solidFill>
                  <a:srgbClr val="52514E"/>
                </a:solidFill>
                <a:latin typeface="Calibri"/>
              </a:rPr>
              <a:t>No missing values, but 1,390 buildings have age = 995, a placeholder (the next real age is 200).</a:t>
            </a:r>
          </a:p>
          <a:p>
            <a:pPr algn="l">
              <a:spcAft>
                <a:spcPts val="800"/>
              </a:spcAft>
            </a:pPr>
            <a:r>
              <a:rPr sz="1400" b="0" i="0">
                <a:solidFill>
                  <a:srgbClr val="52514E"/>
                </a:solidFill>
                <a:latin typeface="Calibri"/>
              </a:rPr>
              <a:t>These have a lower grade-3 rate (29% vs 33%), so we keep an indicator flag and impute the training-fold median.</a:t>
            </a:r>
          </a:p>
          <a:p>
            <a:pPr algn="l">
              <a:spcAft>
                <a:spcPts val="800"/>
              </a:spcAft>
            </a:pPr>
            <a:r>
              <a:rPr sz="1400" b="0" i="0">
                <a:solidFill>
                  <a:srgbClr val="52514E"/>
                </a:solidFill>
                <a:latin typeface="Calibri"/>
              </a:rPr>
              <a:t>Skewed numerics: area skew 3.5 → 0.4 after log1p.</a:t>
            </a:r>
          </a:p>
        </p:txBody>
      </p:sp>
      <p:sp>
        <p:nvSpPr>
          <p:cNvPr id="29" name="TextBox 28"/>
          <p:cNvSpPr txBox="1"/>
          <p:nvPr/>
        </p:nvSpPr>
        <p:spPr>
          <a:xfrm>
            <a:off x="6400800" y="3611880"/>
            <a:ext cx="5486400" cy="365760"/>
          </a:xfrm>
          <a:prstGeom prst="rect">
            <a:avLst/>
          </a:prstGeom>
          <a:noFill/>
        </p:spPr>
        <p:txBody>
          <a:bodyPr wrap="square" lIns="0" rIns="0" tIns="0" bIns="0" anchor="t">
            <a:spAutoFit/>
          </a:bodyPr>
          <a:lstStyle/>
          <a:p>
            <a:pPr algn="l"/>
            <a:r>
              <a:rPr sz="1800" b="1" i="0">
                <a:solidFill>
                  <a:srgbClr val="142340"/>
                </a:solidFill>
                <a:latin typeface="Calibri"/>
              </a:rPr>
              <a:t>Feature engineering (paired add-one test)</a:t>
            </a:r>
          </a:p>
        </p:txBody>
      </p:sp>
      <p:sp>
        <p:nvSpPr>
          <p:cNvPr id="30" name="Rounded Rectangle 29"/>
          <p:cNvSpPr/>
          <p:nvPr/>
        </p:nvSpPr>
        <p:spPr>
          <a:xfrm>
            <a:off x="6400800" y="4069080"/>
            <a:ext cx="5257800" cy="420624"/>
          </a:xfrm>
          <a:prstGeom prst="roundRect">
            <a:avLst>
              <a:gd name="adj" fmla="val 8000"/>
            </a:avLst>
          </a:prstGeom>
          <a:solidFill>
            <a:srgbClr val="FD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4142232"/>
            <a:ext cx="2743200" cy="274320"/>
          </a:xfrm>
          <a:prstGeom prst="rect">
            <a:avLst/>
          </a:prstGeom>
          <a:noFill/>
        </p:spPr>
        <p:txBody>
          <a:bodyPr wrap="square" lIns="0" rIns="0" tIns="0" bIns="0" anchor="t">
            <a:spAutoFit/>
          </a:bodyPr>
          <a:lstStyle/>
          <a:p>
            <a:pPr algn="l"/>
            <a:r>
              <a:rPr sz="1300" b="1" i="0">
                <a:solidFill>
                  <a:srgbClr val="0B0B0B"/>
                </a:solidFill>
                <a:latin typeface="Calibri"/>
              </a:rPr>
              <a:t>floors_x_log_age</a:t>
            </a:r>
          </a:p>
        </p:txBody>
      </p:sp>
      <p:sp>
        <p:nvSpPr>
          <p:cNvPr id="32" name="TextBox 31"/>
          <p:cNvSpPr txBox="1"/>
          <p:nvPr/>
        </p:nvSpPr>
        <p:spPr>
          <a:xfrm>
            <a:off x="9144000" y="4142232"/>
            <a:ext cx="1188720" cy="274320"/>
          </a:xfrm>
          <a:prstGeom prst="rect">
            <a:avLst/>
          </a:prstGeom>
          <a:noFill/>
        </p:spPr>
        <p:txBody>
          <a:bodyPr wrap="square" lIns="0" rIns="0" tIns="0" bIns="0" anchor="t">
            <a:spAutoFit/>
          </a:bodyPr>
          <a:lstStyle/>
          <a:p>
            <a:pPr algn="l"/>
            <a:r>
              <a:rPr sz="1300" b="0" i="0">
                <a:solidFill>
                  <a:srgbClr val="52514E"/>
                </a:solidFill>
                <a:latin typeface="Calibri"/>
              </a:rPr>
              <a:t>+0.02 pp</a:t>
            </a:r>
          </a:p>
        </p:txBody>
      </p:sp>
      <p:sp>
        <p:nvSpPr>
          <p:cNvPr id="33" name="TextBox 32"/>
          <p:cNvSpPr txBox="1"/>
          <p:nvPr/>
        </p:nvSpPr>
        <p:spPr>
          <a:xfrm>
            <a:off x="10287000" y="4142232"/>
            <a:ext cx="1280160" cy="274320"/>
          </a:xfrm>
          <a:prstGeom prst="rect">
            <a:avLst/>
          </a:prstGeom>
          <a:noFill/>
        </p:spPr>
        <p:txBody>
          <a:bodyPr wrap="square" lIns="0" rIns="0" tIns="0" bIns="0" anchor="t">
            <a:spAutoFit/>
          </a:bodyPr>
          <a:lstStyle/>
          <a:p>
            <a:pPr algn="l"/>
            <a:r>
              <a:rPr sz="1300" b="1" i="0">
                <a:solidFill>
                  <a:srgbClr val="EB6834"/>
                </a:solidFill>
                <a:latin typeface="Calibri"/>
              </a:rPr>
              <a:t>kept (5/5)</a:t>
            </a:r>
          </a:p>
        </p:txBody>
      </p:sp>
      <p:sp>
        <p:nvSpPr>
          <p:cNvPr id="34" name="Rounded Rectangle 33"/>
          <p:cNvSpPr/>
          <p:nvPr/>
        </p:nvSpPr>
        <p:spPr>
          <a:xfrm>
            <a:off x="6400800" y="4572000"/>
            <a:ext cx="5257800" cy="420624"/>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645152"/>
            <a:ext cx="2743200" cy="274320"/>
          </a:xfrm>
          <a:prstGeom prst="rect">
            <a:avLst/>
          </a:prstGeom>
          <a:noFill/>
        </p:spPr>
        <p:txBody>
          <a:bodyPr wrap="square" lIns="0" rIns="0" tIns="0" bIns="0" anchor="t">
            <a:spAutoFit/>
          </a:bodyPr>
          <a:lstStyle/>
          <a:p>
            <a:pPr algn="l"/>
            <a:r>
              <a:rPr sz="1300" b="0" i="0">
                <a:solidFill>
                  <a:srgbClr val="0B0B0B"/>
                </a:solidFill>
                <a:latin typeface="Calibri"/>
              </a:rPr>
              <a:t>height_per_floor</a:t>
            </a:r>
          </a:p>
        </p:txBody>
      </p:sp>
      <p:sp>
        <p:nvSpPr>
          <p:cNvPr id="36" name="TextBox 35"/>
          <p:cNvSpPr txBox="1"/>
          <p:nvPr/>
        </p:nvSpPr>
        <p:spPr>
          <a:xfrm>
            <a:off x="9144000" y="4645152"/>
            <a:ext cx="1188720" cy="274320"/>
          </a:xfrm>
          <a:prstGeom prst="rect">
            <a:avLst/>
          </a:prstGeom>
          <a:noFill/>
        </p:spPr>
        <p:txBody>
          <a:bodyPr wrap="square" lIns="0" rIns="0" tIns="0" bIns="0" anchor="t">
            <a:spAutoFit/>
          </a:bodyPr>
          <a:lstStyle/>
          <a:p>
            <a:pPr algn="l"/>
            <a:r>
              <a:rPr sz="1300" b="0" i="0">
                <a:solidFill>
                  <a:srgbClr val="52514E"/>
                </a:solidFill>
                <a:latin typeface="Calibri"/>
              </a:rPr>
              <a:t>+0.00 pp</a:t>
            </a:r>
          </a:p>
        </p:txBody>
      </p:sp>
      <p:sp>
        <p:nvSpPr>
          <p:cNvPr id="37" name="TextBox 36"/>
          <p:cNvSpPr txBox="1"/>
          <p:nvPr/>
        </p:nvSpPr>
        <p:spPr>
          <a:xfrm>
            <a:off x="10287000" y="4645152"/>
            <a:ext cx="1280160" cy="274320"/>
          </a:xfrm>
          <a:prstGeom prst="rect">
            <a:avLst/>
          </a:prstGeom>
          <a:noFill/>
        </p:spPr>
        <p:txBody>
          <a:bodyPr wrap="square" lIns="0" rIns="0" tIns="0" bIns="0" anchor="t">
            <a:spAutoFit/>
          </a:bodyPr>
          <a:lstStyle/>
          <a:p>
            <a:pPr algn="l"/>
            <a:r>
              <a:rPr sz="1300" b="0" i="0">
                <a:solidFill>
                  <a:srgbClr val="8A8984"/>
                </a:solidFill>
                <a:latin typeface="Calibri"/>
              </a:rPr>
              <a:t>dropped (1/5)</a:t>
            </a:r>
          </a:p>
        </p:txBody>
      </p:sp>
      <p:sp>
        <p:nvSpPr>
          <p:cNvPr id="38" name="Rounded Rectangle 37"/>
          <p:cNvSpPr/>
          <p:nvPr/>
        </p:nvSpPr>
        <p:spPr>
          <a:xfrm>
            <a:off x="6400800" y="5074920"/>
            <a:ext cx="5257800" cy="420624"/>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5148072"/>
            <a:ext cx="2743200" cy="274320"/>
          </a:xfrm>
          <a:prstGeom prst="rect">
            <a:avLst/>
          </a:prstGeom>
          <a:noFill/>
        </p:spPr>
        <p:txBody>
          <a:bodyPr wrap="square" lIns="0" rIns="0" tIns="0" bIns="0" anchor="t">
            <a:spAutoFit/>
          </a:bodyPr>
          <a:lstStyle/>
          <a:p>
            <a:pPr algn="l"/>
            <a:r>
              <a:rPr sz="1300" b="0" i="0">
                <a:solidFill>
                  <a:srgbClr val="0B0B0B"/>
                </a:solidFill>
                <a:latin typeface="Calibri"/>
              </a:rPr>
              <a:t>log_area_height_ratio</a:t>
            </a:r>
          </a:p>
        </p:txBody>
      </p:sp>
      <p:sp>
        <p:nvSpPr>
          <p:cNvPr id="40" name="TextBox 39"/>
          <p:cNvSpPr txBox="1"/>
          <p:nvPr/>
        </p:nvSpPr>
        <p:spPr>
          <a:xfrm>
            <a:off x="9144000" y="5148072"/>
            <a:ext cx="1188720" cy="274320"/>
          </a:xfrm>
          <a:prstGeom prst="rect">
            <a:avLst/>
          </a:prstGeom>
          <a:noFill/>
        </p:spPr>
        <p:txBody>
          <a:bodyPr wrap="square" lIns="0" rIns="0" tIns="0" bIns="0" anchor="t">
            <a:spAutoFit/>
          </a:bodyPr>
          <a:lstStyle/>
          <a:p>
            <a:pPr algn="l"/>
            <a:r>
              <a:rPr sz="1300" b="0" i="0">
                <a:solidFill>
                  <a:srgbClr val="52514E"/>
                </a:solidFill>
                <a:latin typeface="Calibri"/>
              </a:rPr>
              <a:t>+0.00 pp</a:t>
            </a:r>
          </a:p>
        </p:txBody>
      </p:sp>
      <p:sp>
        <p:nvSpPr>
          <p:cNvPr id="41" name="TextBox 40"/>
          <p:cNvSpPr txBox="1"/>
          <p:nvPr/>
        </p:nvSpPr>
        <p:spPr>
          <a:xfrm>
            <a:off x="10287000" y="5148072"/>
            <a:ext cx="1280160" cy="274320"/>
          </a:xfrm>
          <a:prstGeom prst="rect">
            <a:avLst/>
          </a:prstGeom>
          <a:noFill/>
        </p:spPr>
        <p:txBody>
          <a:bodyPr wrap="square" lIns="0" rIns="0" tIns="0" bIns="0" anchor="t">
            <a:spAutoFit/>
          </a:bodyPr>
          <a:lstStyle/>
          <a:p>
            <a:pPr algn="l"/>
            <a:r>
              <a:rPr sz="1300" b="0" i="0">
                <a:solidFill>
                  <a:srgbClr val="8A8984"/>
                </a:solidFill>
                <a:latin typeface="Calibri"/>
              </a:rPr>
              <a:t>dropped (2/5)</a:t>
            </a:r>
          </a:p>
        </p:txBody>
      </p:sp>
      <p:sp>
        <p:nvSpPr>
          <p:cNvPr id="42" name="Rounded Rectangle 41"/>
          <p:cNvSpPr/>
          <p:nvPr/>
        </p:nvSpPr>
        <p:spPr>
          <a:xfrm>
            <a:off x="6400800" y="5577840"/>
            <a:ext cx="5257800" cy="420624"/>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0" y="5650992"/>
            <a:ext cx="2743200" cy="274320"/>
          </a:xfrm>
          <a:prstGeom prst="rect">
            <a:avLst/>
          </a:prstGeom>
          <a:noFill/>
        </p:spPr>
        <p:txBody>
          <a:bodyPr wrap="square" lIns="0" rIns="0" tIns="0" bIns="0" anchor="t">
            <a:spAutoFit/>
          </a:bodyPr>
          <a:lstStyle/>
          <a:p>
            <a:pPr algn="l"/>
            <a:r>
              <a:rPr sz="1300" b="0" i="0">
                <a:solidFill>
                  <a:srgbClr val="0B0B0B"/>
                </a:solidFill>
                <a:latin typeface="Calibri"/>
              </a:rPr>
              <a:t>n_superstructure</a:t>
            </a:r>
          </a:p>
        </p:txBody>
      </p:sp>
      <p:sp>
        <p:nvSpPr>
          <p:cNvPr id="44" name="TextBox 43"/>
          <p:cNvSpPr txBox="1"/>
          <p:nvPr/>
        </p:nvSpPr>
        <p:spPr>
          <a:xfrm>
            <a:off x="9144000" y="5650992"/>
            <a:ext cx="1188720" cy="274320"/>
          </a:xfrm>
          <a:prstGeom prst="rect">
            <a:avLst/>
          </a:prstGeom>
          <a:noFill/>
        </p:spPr>
        <p:txBody>
          <a:bodyPr wrap="square" lIns="0" rIns="0" tIns="0" bIns="0" anchor="t">
            <a:spAutoFit/>
          </a:bodyPr>
          <a:lstStyle/>
          <a:p>
            <a:pPr algn="l"/>
            <a:r>
              <a:rPr sz="1300" b="0" i="0">
                <a:solidFill>
                  <a:srgbClr val="52514E"/>
                </a:solidFill>
                <a:latin typeface="Calibri"/>
              </a:rPr>
              <a:t>-0.00 pp</a:t>
            </a:r>
          </a:p>
        </p:txBody>
      </p:sp>
      <p:sp>
        <p:nvSpPr>
          <p:cNvPr id="45" name="TextBox 44"/>
          <p:cNvSpPr txBox="1"/>
          <p:nvPr/>
        </p:nvSpPr>
        <p:spPr>
          <a:xfrm>
            <a:off x="10287000" y="5650992"/>
            <a:ext cx="1280160" cy="274320"/>
          </a:xfrm>
          <a:prstGeom prst="rect">
            <a:avLst/>
          </a:prstGeom>
          <a:noFill/>
        </p:spPr>
        <p:txBody>
          <a:bodyPr wrap="square" lIns="0" rIns="0" tIns="0" bIns="0" anchor="t">
            <a:spAutoFit/>
          </a:bodyPr>
          <a:lstStyle/>
          <a:p>
            <a:pPr algn="l"/>
            <a:r>
              <a:rPr sz="1300" b="0" i="0">
                <a:solidFill>
                  <a:srgbClr val="8A8984"/>
                </a:solidFill>
                <a:latin typeface="Calibri"/>
              </a:rPr>
              <a:t>dropped (2/5)</a:t>
            </a:r>
          </a:p>
        </p:txBody>
      </p:sp>
      <p:sp>
        <p:nvSpPr>
          <p:cNvPr id="46" name="TextBox 45"/>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47" name="TextBox 46"/>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HIGHLIGHTS · GEO TARGET ENCODING</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Encoding 11,595 villages as damage rates</a:t>
            </a:r>
          </a:p>
        </p:txBody>
      </p:sp>
      <p:sp>
        <p:nvSpPr>
          <p:cNvPr id="4" name="Rounded Rectangle 3"/>
          <p:cNvSpPr/>
          <p:nvPr/>
        </p:nvSpPr>
        <p:spPr>
          <a:xfrm>
            <a:off x="548640" y="1600200"/>
            <a:ext cx="4663440" cy="452628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4114800" cy="365760"/>
          </a:xfrm>
          <a:prstGeom prst="rect">
            <a:avLst/>
          </a:prstGeom>
          <a:noFill/>
        </p:spPr>
        <p:txBody>
          <a:bodyPr wrap="square" lIns="0" rIns="0" tIns="0" bIns="0" anchor="t">
            <a:spAutoFit/>
          </a:bodyPr>
          <a:lstStyle/>
          <a:p>
            <a:pPr algn="l"/>
            <a:r>
              <a:rPr sz="1600" b="1" i="0">
                <a:solidFill>
                  <a:srgbClr val="86B6EF"/>
                </a:solidFill>
                <a:latin typeface="Calibri"/>
              </a:rPr>
              <a:t>CV micro-F1</a:t>
            </a:r>
          </a:p>
        </p:txBody>
      </p:sp>
      <p:sp>
        <p:nvSpPr>
          <p:cNvPr id="6" name="TextBox 5"/>
          <p:cNvSpPr txBox="1"/>
          <p:nvPr/>
        </p:nvSpPr>
        <p:spPr>
          <a:xfrm>
            <a:off x="868680" y="2331720"/>
            <a:ext cx="2011680" cy="640080"/>
          </a:xfrm>
          <a:prstGeom prst="rect">
            <a:avLst/>
          </a:prstGeom>
          <a:noFill/>
        </p:spPr>
        <p:txBody>
          <a:bodyPr wrap="square" lIns="0" rIns="0" tIns="0" bIns="0" anchor="t">
            <a:spAutoFit/>
          </a:bodyPr>
          <a:lstStyle/>
          <a:p>
            <a:pPr algn="l"/>
            <a:r>
              <a:rPr sz="3600" b="1" i="0">
                <a:solidFill>
                  <a:srgbClr val="FFFFFF"/>
                </a:solidFill>
                <a:latin typeface="Cambria"/>
              </a:rPr>
              <a:t>0.591</a:t>
            </a:r>
          </a:p>
        </p:txBody>
      </p:sp>
      <p:sp>
        <p:nvSpPr>
          <p:cNvPr id="7" name="TextBox 6"/>
          <p:cNvSpPr txBox="1"/>
          <p:nvPr/>
        </p:nvSpPr>
        <p:spPr>
          <a:xfrm>
            <a:off x="2788920" y="2514600"/>
            <a:ext cx="2286000" cy="548640"/>
          </a:xfrm>
          <a:prstGeom prst="rect">
            <a:avLst/>
          </a:prstGeom>
          <a:noFill/>
        </p:spPr>
        <p:txBody>
          <a:bodyPr wrap="square" lIns="0" rIns="0" tIns="0" bIns="0" anchor="t">
            <a:spAutoFit/>
          </a:bodyPr>
          <a:lstStyle/>
          <a:p>
            <a:pPr algn="l"/>
            <a:r>
              <a:rPr sz="1400" b="0" i="0">
                <a:solidFill>
                  <a:srgbClr val="FFFFFF"/>
                </a:solidFill>
                <a:latin typeface="Calibri"/>
              </a:rPr>
              <a:t>E1: structure only</a:t>
            </a:r>
          </a:p>
        </p:txBody>
      </p:sp>
      <p:sp>
        <p:nvSpPr>
          <p:cNvPr id="8" name="TextBox 7"/>
          <p:cNvSpPr txBox="1"/>
          <p:nvPr/>
        </p:nvSpPr>
        <p:spPr>
          <a:xfrm>
            <a:off x="868680" y="3520439"/>
            <a:ext cx="2011680" cy="640080"/>
          </a:xfrm>
          <a:prstGeom prst="rect">
            <a:avLst/>
          </a:prstGeom>
          <a:noFill/>
        </p:spPr>
        <p:txBody>
          <a:bodyPr wrap="square" lIns="0" rIns="0" tIns="0" bIns="0" anchor="t">
            <a:spAutoFit/>
          </a:bodyPr>
          <a:lstStyle/>
          <a:p>
            <a:pPr algn="l"/>
            <a:r>
              <a:rPr sz="3600" b="1" i="0">
                <a:solidFill>
                  <a:srgbClr val="FFFFFF"/>
                </a:solidFill>
                <a:latin typeface="Cambria"/>
              </a:rPr>
              <a:t>0.672</a:t>
            </a:r>
          </a:p>
        </p:txBody>
      </p:sp>
      <p:sp>
        <p:nvSpPr>
          <p:cNvPr id="9" name="TextBox 8"/>
          <p:cNvSpPr txBox="1"/>
          <p:nvPr/>
        </p:nvSpPr>
        <p:spPr>
          <a:xfrm>
            <a:off x="2788920" y="3703320"/>
            <a:ext cx="2286000" cy="548640"/>
          </a:xfrm>
          <a:prstGeom prst="rect">
            <a:avLst/>
          </a:prstGeom>
          <a:noFill/>
        </p:spPr>
        <p:txBody>
          <a:bodyPr wrap="square" lIns="0" rIns="0" tIns="0" bIns="0" anchor="t">
            <a:spAutoFit/>
          </a:bodyPr>
          <a:lstStyle/>
          <a:p>
            <a:pPr algn="l"/>
            <a:r>
              <a:rPr sz="1400" b="0" i="0">
                <a:solidFill>
                  <a:srgbClr val="FFFFFF"/>
                </a:solidFill>
                <a:latin typeface="Calibri"/>
              </a:rPr>
              <a:t>E2: + region (one-hot)</a:t>
            </a:r>
          </a:p>
        </p:txBody>
      </p:sp>
      <p:sp>
        <p:nvSpPr>
          <p:cNvPr id="10" name="TextBox 9"/>
          <p:cNvSpPr txBox="1"/>
          <p:nvPr/>
        </p:nvSpPr>
        <p:spPr>
          <a:xfrm>
            <a:off x="868680" y="4709160"/>
            <a:ext cx="2011680" cy="640080"/>
          </a:xfrm>
          <a:prstGeom prst="rect">
            <a:avLst/>
          </a:prstGeom>
          <a:noFill/>
        </p:spPr>
        <p:txBody>
          <a:bodyPr wrap="square" lIns="0" rIns="0" tIns="0" bIns="0" anchor="t">
            <a:spAutoFit/>
          </a:bodyPr>
          <a:lstStyle/>
          <a:p>
            <a:pPr algn="l"/>
            <a:r>
              <a:rPr sz="3600" b="1" i="0">
                <a:solidFill>
                  <a:srgbClr val="EB6834"/>
                </a:solidFill>
                <a:latin typeface="Cambria"/>
              </a:rPr>
              <a:t>0.735</a:t>
            </a:r>
          </a:p>
        </p:txBody>
      </p:sp>
      <p:sp>
        <p:nvSpPr>
          <p:cNvPr id="11" name="TextBox 10"/>
          <p:cNvSpPr txBox="1"/>
          <p:nvPr/>
        </p:nvSpPr>
        <p:spPr>
          <a:xfrm>
            <a:off x="2788920" y="4892040"/>
            <a:ext cx="2286000" cy="548640"/>
          </a:xfrm>
          <a:prstGeom prst="rect">
            <a:avLst/>
          </a:prstGeom>
          <a:noFill/>
        </p:spPr>
        <p:txBody>
          <a:bodyPr wrap="square" lIns="0" rIns="0" tIns="0" bIns="0" anchor="t">
            <a:spAutoFit/>
          </a:bodyPr>
          <a:lstStyle/>
          <a:p>
            <a:pPr algn="l"/>
            <a:r>
              <a:rPr sz="1400" b="0" i="0">
                <a:solidFill>
                  <a:srgbClr val="FFFFFF"/>
                </a:solidFill>
                <a:latin typeface="Calibri"/>
              </a:rPr>
              <a:t>E3: + target-encoded geo 2 &amp; 3</a:t>
            </a:r>
          </a:p>
        </p:txBody>
      </p:sp>
      <p:sp>
        <p:nvSpPr>
          <p:cNvPr id="12" name="TextBox 11"/>
          <p:cNvSpPr txBox="1"/>
          <p:nvPr/>
        </p:nvSpPr>
        <p:spPr>
          <a:xfrm>
            <a:off x="868680" y="5623560"/>
            <a:ext cx="4114800" cy="365760"/>
          </a:xfrm>
          <a:prstGeom prst="rect">
            <a:avLst/>
          </a:prstGeom>
          <a:noFill/>
        </p:spPr>
        <p:txBody>
          <a:bodyPr wrap="square" lIns="0" rIns="0" tIns="0" bIns="0" anchor="t">
            <a:spAutoFit/>
          </a:bodyPr>
          <a:lstStyle/>
          <a:p>
            <a:pPr algn="l"/>
            <a:r>
              <a:rPr sz="1500" b="1" i="0">
                <a:solidFill>
                  <a:srgbClr val="EB6834"/>
                </a:solidFill>
                <a:latin typeface="Calibri"/>
              </a:rPr>
              <a:t>Target encoding alone: +6.3 pp</a:t>
            </a:r>
          </a:p>
        </p:txBody>
      </p:sp>
      <p:sp>
        <p:nvSpPr>
          <p:cNvPr id="13" name="TextBox 12"/>
          <p:cNvSpPr txBox="1"/>
          <p:nvPr/>
        </p:nvSpPr>
        <p:spPr>
          <a:xfrm>
            <a:off x="5669280" y="1645920"/>
            <a:ext cx="5943600" cy="365760"/>
          </a:xfrm>
          <a:prstGeom prst="rect">
            <a:avLst/>
          </a:prstGeom>
          <a:noFill/>
        </p:spPr>
        <p:txBody>
          <a:bodyPr wrap="square" lIns="0" rIns="0" tIns="0" bIns="0" anchor="t">
            <a:spAutoFit/>
          </a:bodyPr>
          <a:lstStyle/>
          <a:p>
            <a:pPr algn="l"/>
            <a:r>
              <a:rPr sz="1800" b="1" i="0">
                <a:solidFill>
                  <a:srgbClr val="142340"/>
                </a:solidFill>
                <a:latin typeface="Calibri"/>
              </a:rPr>
              <a:t>How it works</a:t>
            </a:r>
          </a:p>
        </p:txBody>
      </p:sp>
      <p:sp>
        <p:nvSpPr>
          <p:cNvPr id="14" name="Rounded Rectangle 13"/>
          <p:cNvSpPr/>
          <p:nvPr/>
        </p:nvSpPr>
        <p:spPr>
          <a:xfrm>
            <a:off x="5669280" y="2103120"/>
            <a:ext cx="1737360" cy="91440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2194560"/>
            <a:ext cx="1554480" cy="731520"/>
          </a:xfrm>
          <a:prstGeom prst="rect">
            <a:avLst/>
          </a:prstGeom>
          <a:noFill/>
        </p:spPr>
        <p:txBody>
          <a:bodyPr wrap="square" lIns="0" rIns="0" tIns="0" bIns="0" anchor="ctr">
            <a:spAutoFit/>
          </a:bodyPr>
          <a:lstStyle/>
          <a:p>
            <a:pPr algn="ctr"/>
            <a:r>
              <a:rPr sz="1300" b="0" i="0">
                <a:solidFill>
                  <a:srgbClr val="142340"/>
                </a:solidFill>
                <a:latin typeface="Calibri"/>
              </a:rPr>
              <a:t>village id
(11,595 levels)</a:t>
            </a:r>
          </a:p>
        </p:txBody>
      </p:sp>
      <p:cxnSp>
        <p:nvCxnSpPr>
          <p:cNvPr id="16" name="Connector 15"/>
          <p:cNvCxnSpPr/>
          <p:nvPr/>
        </p:nvCxnSpPr>
        <p:spPr>
          <a:xfrm>
            <a:off x="7452360" y="2560320"/>
            <a:ext cx="548640" cy="0"/>
          </a:xfrm>
          <a:prstGeom prst="line">
            <a:avLst/>
          </a:prstGeom>
          <a:ln w="2540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092440" y="2103120"/>
            <a:ext cx="1051560" cy="914400"/>
          </a:xfrm>
          <a:prstGeom prst="roundRect">
            <a:avLst>
              <a:gd name="adj" fmla="val 8000"/>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2103120"/>
            <a:ext cx="1051560" cy="914400"/>
          </a:xfrm>
          <a:prstGeom prst="rect">
            <a:avLst/>
          </a:prstGeom>
          <a:noFill/>
        </p:spPr>
        <p:txBody>
          <a:bodyPr wrap="square" lIns="0" rIns="0" tIns="0" bIns="0" anchor="ctr">
            <a:spAutoFit/>
          </a:bodyPr>
          <a:lstStyle/>
          <a:p>
            <a:pPr algn="ctr"/>
            <a:r>
              <a:rPr sz="1400" b="1" i="0">
                <a:solidFill>
                  <a:srgbClr val="0B0B0B"/>
                </a:solidFill>
                <a:latin typeface="Calibri"/>
              </a:rPr>
              <a:t>P(g1)</a:t>
            </a:r>
          </a:p>
        </p:txBody>
      </p:sp>
      <p:sp>
        <p:nvSpPr>
          <p:cNvPr id="19" name="Rounded Rectangle 18"/>
          <p:cNvSpPr/>
          <p:nvPr/>
        </p:nvSpPr>
        <p:spPr>
          <a:xfrm>
            <a:off x="9281160" y="2103120"/>
            <a:ext cx="1051560" cy="91440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2103120"/>
            <a:ext cx="1051560" cy="914400"/>
          </a:xfrm>
          <a:prstGeom prst="rect">
            <a:avLst/>
          </a:prstGeom>
          <a:noFill/>
        </p:spPr>
        <p:txBody>
          <a:bodyPr wrap="square" lIns="0" rIns="0" tIns="0" bIns="0" anchor="ctr">
            <a:spAutoFit/>
          </a:bodyPr>
          <a:lstStyle/>
          <a:p>
            <a:pPr algn="ctr"/>
            <a:r>
              <a:rPr sz="1400" b="1" i="0">
                <a:solidFill>
                  <a:srgbClr val="FFFFFF"/>
                </a:solidFill>
                <a:latin typeface="Calibri"/>
              </a:rPr>
              <a:t>P(g2)</a:t>
            </a:r>
          </a:p>
        </p:txBody>
      </p:sp>
      <p:sp>
        <p:nvSpPr>
          <p:cNvPr id="21" name="Rounded Rectangle 20"/>
          <p:cNvSpPr/>
          <p:nvPr/>
        </p:nvSpPr>
        <p:spPr>
          <a:xfrm>
            <a:off x="10469880" y="2103120"/>
            <a:ext cx="1051560" cy="914400"/>
          </a:xfrm>
          <a:prstGeom prst="roundRect">
            <a:avLst>
              <a:gd name="adj" fmla="val 8000"/>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69880" y="2103120"/>
            <a:ext cx="1051560" cy="914400"/>
          </a:xfrm>
          <a:prstGeom prst="rect">
            <a:avLst/>
          </a:prstGeom>
          <a:noFill/>
        </p:spPr>
        <p:txBody>
          <a:bodyPr wrap="square" lIns="0" rIns="0" tIns="0" bIns="0" anchor="ctr">
            <a:spAutoFit/>
          </a:bodyPr>
          <a:lstStyle/>
          <a:p>
            <a:pPr algn="ctr"/>
            <a:r>
              <a:rPr sz="1400" b="1" i="0">
                <a:solidFill>
                  <a:srgbClr val="FFFFFF"/>
                </a:solidFill>
                <a:latin typeface="Calibri"/>
              </a:rPr>
              <a:t>P(g3)</a:t>
            </a:r>
          </a:p>
        </p:txBody>
      </p:sp>
      <p:sp>
        <p:nvSpPr>
          <p:cNvPr id="23" name="TextBox 22"/>
          <p:cNvSpPr txBox="1"/>
          <p:nvPr/>
        </p:nvSpPr>
        <p:spPr>
          <a:xfrm>
            <a:off x="5669280" y="3291840"/>
            <a:ext cx="5989320" cy="2834640"/>
          </a:xfrm>
          <a:prstGeom prst="rect">
            <a:avLst/>
          </a:prstGeom>
          <a:noFill/>
        </p:spPr>
        <p:txBody>
          <a:bodyPr wrap="square" lIns="0" rIns="0" tIns="0" bIns="0" anchor="t">
            <a:spAutoFit/>
          </a:bodyPr>
          <a:lstStyle/>
          <a:p>
            <a:pPr algn="l">
              <a:spcAft>
                <a:spcPts val="1000"/>
              </a:spcAft>
            </a:pPr>
            <a:r>
              <a:rPr sz="1500" b="1" i="0">
                <a:solidFill>
                  <a:srgbClr val="142340"/>
                </a:solidFill>
                <a:latin typeface="Calibri"/>
              </a:rPr>
              <a:t>Compact: </a:t>
            </a:r>
            <a:r>
              <a:rPr sz="1500" b="0" i="0">
                <a:solidFill>
                  <a:srgbClr val="52514E"/>
                </a:solidFill>
                <a:latin typeface="Calibri"/>
              </a:rPr>
              <a:t>3 numbers per level instead of 13,009 one-hot columns.</a:t>
            </a:r>
          </a:p>
          <a:p>
            <a:pPr algn="l">
              <a:spcAft>
                <a:spcPts val="1000"/>
              </a:spcAft>
            </a:pPr>
            <a:r>
              <a:rPr sz="1500" b="1" i="0">
                <a:solidFill>
                  <a:srgbClr val="142340"/>
                </a:solidFill>
                <a:latin typeface="Calibri"/>
              </a:rPr>
              <a:t>Smoothed: </a:t>
            </a:r>
            <a:r>
              <a:rPr sz="1500" b="0" i="0">
                <a:solidFill>
                  <a:srgbClr val="52514E"/>
                </a:solidFill>
                <a:latin typeface="Calibri"/>
              </a:rPr>
              <a:t>rare villages shrink toward the overall class mix.</a:t>
            </a:r>
          </a:p>
          <a:p>
            <a:pPr algn="l">
              <a:spcAft>
                <a:spcPts val="1000"/>
              </a:spcAft>
            </a:pPr>
            <a:r>
              <a:rPr sz="1500" b="1" i="0">
                <a:solidFill>
                  <a:srgbClr val="142340"/>
                </a:solidFill>
                <a:latin typeface="Calibri"/>
              </a:rPr>
              <a:t>Leakage-safe: </a:t>
            </a:r>
            <a:r>
              <a:rPr sz="1500" b="0" i="0">
                <a:solidFill>
                  <a:srgbClr val="52514E"/>
                </a:solidFill>
                <a:latin typeface="Calibri"/>
              </a:rPr>
              <a:t>cross-fitted, so no building ever sees its own label, and re-fitted inside every CV fold.</a:t>
            </a:r>
          </a:p>
          <a:p>
            <a:pPr algn="l">
              <a:spcAft>
                <a:spcPts val="1000"/>
              </a:spcAft>
            </a:pPr>
            <a:r>
              <a:rPr sz="1500" b="1" i="0">
                <a:solidFill>
                  <a:srgbClr val="142340"/>
                </a:solidFill>
                <a:latin typeface="Calibri"/>
              </a:rPr>
              <a:t>Interpretable: </a:t>
            </a:r>
            <a:r>
              <a:rPr sz="1500" b="0" i="0">
                <a:solidFill>
                  <a:srgbClr val="52514E"/>
                </a:solidFill>
                <a:latin typeface="Calibri"/>
              </a:rPr>
              <a:t>“how badly was this neighbourhood hit?”</a:t>
            </a:r>
          </a:p>
        </p:txBody>
      </p:sp>
      <p:sp>
        <p:nvSpPr>
          <p:cNvPr id="24" name="TextBox 23"/>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25" name="TextBox 24"/>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HIGHLIGHTS · ORDINAL VS MULTINOMIAL</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Does respecting the order of damage grades help?</a:t>
            </a:r>
          </a:p>
        </p:txBody>
      </p:sp>
      <p:pic>
        <p:nvPicPr>
          <p:cNvPr id="4" name="Picture 3" descr="fig12_recall_comparison.png"/>
          <p:cNvPicPr>
            <a:picLocks noChangeAspect="1"/>
          </p:cNvPicPr>
          <p:nvPr/>
        </p:nvPicPr>
        <p:blipFill>
          <a:blip r:embed="rId2"/>
          <a:stretch>
            <a:fillRect/>
          </a:stretch>
        </p:blipFill>
        <p:spPr>
          <a:xfrm>
            <a:off x="457200" y="1748030"/>
            <a:ext cx="6949439" cy="4184898"/>
          </a:xfrm>
          <a:prstGeom prst="rect">
            <a:avLst/>
          </a:prstGeom>
        </p:spPr>
      </p:pic>
      <p:sp>
        <p:nvSpPr>
          <p:cNvPr id="5" name="Rounded Rectangle 4"/>
          <p:cNvSpPr/>
          <p:nvPr/>
        </p:nvSpPr>
        <p:spPr>
          <a:xfrm>
            <a:off x="7726679" y="1554480"/>
            <a:ext cx="3931920" cy="224028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691640"/>
            <a:ext cx="3566160" cy="365760"/>
          </a:xfrm>
          <a:prstGeom prst="rect">
            <a:avLst/>
          </a:prstGeom>
          <a:noFill/>
        </p:spPr>
        <p:txBody>
          <a:bodyPr wrap="square" lIns="0" rIns="0" tIns="0" bIns="0" anchor="t">
            <a:spAutoFit/>
          </a:bodyPr>
          <a:lstStyle/>
          <a:p>
            <a:pPr algn="l"/>
            <a:r>
              <a:rPr sz="1700" b="1" i="0">
                <a:solidFill>
                  <a:srgbClr val="142340"/>
                </a:solidFill>
                <a:latin typeface="Calibri"/>
              </a:rPr>
              <a:t>Ordinal logistic (E6)</a:t>
            </a:r>
          </a:p>
        </p:txBody>
      </p:sp>
      <p:sp>
        <p:nvSpPr>
          <p:cNvPr id="7" name="TextBox 6"/>
          <p:cNvSpPr txBox="1"/>
          <p:nvPr/>
        </p:nvSpPr>
        <p:spPr>
          <a:xfrm>
            <a:off x="7955279" y="2103120"/>
            <a:ext cx="3566160" cy="1645920"/>
          </a:xfrm>
          <a:prstGeom prst="rect">
            <a:avLst/>
          </a:prstGeom>
          <a:noFill/>
        </p:spPr>
        <p:txBody>
          <a:bodyPr wrap="square" lIns="0" rIns="0" tIns="0" bIns="0" anchor="t">
            <a:spAutoFit/>
          </a:bodyPr>
          <a:lstStyle/>
          <a:p>
            <a:pPr algn="l">
              <a:spcAft>
                <a:spcPts val="600"/>
              </a:spcAft>
            </a:pPr>
            <a:r>
              <a:rPr sz="1400" b="0" i="0">
                <a:solidFill>
                  <a:srgbClr val="52514E"/>
                </a:solidFill>
                <a:latin typeface="Calibri"/>
              </a:rPr>
              <a:t>Two binary models, P(grade &gt; 1) and P(grade &gt; 2), combined into 3 class probabilities.</a:t>
            </a:r>
          </a:p>
          <a:p>
            <a:pPr algn="l">
              <a:spcAft>
                <a:spcPts val="600"/>
              </a:spcAft>
            </a:pPr>
            <a:r>
              <a:rPr sz="1400" b="0" i="0">
                <a:solidFill>
                  <a:srgbClr val="52514E"/>
                </a:solidFill>
                <a:latin typeface="Calibri"/>
              </a:rPr>
              <a:t>Micro-F1 </a:t>
            </a:r>
            <a:r>
              <a:rPr sz="1400" b="1" i="0">
                <a:solidFill>
                  <a:srgbClr val="EB6834"/>
                </a:solidFill>
                <a:latin typeface="Calibri"/>
              </a:rPr>
              <a:t>-0.06 pp</a:t>
            </a:r>
            <a:r>
              <a:rPr sz="1400" b="0" i="0">
                <a:solidFill>
                  <a:srgbClr val="52514E"/>
                </a:solidFill>
                <a:latin typeface="Calibri"/>
              </a:rPr>
              <a:t>, macro-F1 </a:t>
            </a:r>
            <a:r>
              <a:rPr sz="1400" b="1" i="0">
                <a:solidFill>
                  <a:srgbClr val="EB6834"/>
                </a:solidFill>
                <a:latin typeface="Calibri"/>
              </a:rPr>
              <a:t>-0.04 pp</a:t>
            </a:r>
            <a:r>
              <a:rPr sz="1400" b="0" i="0">
                <a:solidFill>
                  <a:srgbClr val="52514E"/>
                </a:solidFill>
                <a:latin typeface="Calibri"/>
              </a:rPr>
              <a:t> vs multinomial: it made no real difference.</a:t>
            </a:r>
          </a:p>
        </p:txBody>
      </p:sp>
      <p:sp>
        <p:nvSpPr>
          <p:cNvPr id="8" name="Rounded Rectangle 7"/>
          <p:cNvSpPr/>
          <p:nvPr/>
        </p:nvSpPr>
        <p:spPr>
          <a:xfrm>
            <a:off x="7726679" y="3977639"/>
            <a:ext cx="3931920" cy="224028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4114800"/>
            <a:ext cx="3566160" cy="365760"/>
          </a:xfrm>
          <a:prstGeom prst="rect">
            <a:avLst/>
          </a:prstGeom>
          <a:noFill/>
        </p:spPr>
        <p:txBody>
          <a:bodyPr wrap="square" lIns="0" rIns="0" tIns="0" bIns="0" anchor="t">
            <a:spAutoFit/>
          </a:bodyPr>
          <a:lstStyle/>
          <a:p>
            <a:pPr algn="l"/>
            <a:r>
              <a:rPr sz="1700" b="1" i="0">
                <a:solidFill>
                  <a:srgbClr val="142340"/>
                </a:solidFill>
                <a:latin typeface="Calibri"/>
              </a:rPr>
              <a:t>Class weighting (E5)</a:t>
            </a:r>
          </a:p>
        </p:txBody>
      </p:sp>
      <p:sp>
        <p:nvSpPr>
          <p:cNvPr id="10" name="TextBox 9"/>
          <p:cNvSpPr txBox="1"/>
          <p:nvPr/>
        </p:nvSpPr>
        <p:spPr>
          <a:xfrm>
            <a:off x="7955279" y="4526280"/>
            <a:ext cx="3566160" cy="1645920"/>
          </a:xfrm>
          <a:prstGeom prst="rect">
            <a:avLst/>
          </a:prstGeom>
          <a:noFill/>
        </p:spPr>
        <p:txBody>
          <a:bodyPr wrap="square" lIns="0" rIns="0" tIns="0" bIns="0" anchor="t">
            <a:spAutoFit/>
          </a:bodyPr>
          <a:lstStyle/>
          <a:p>
            <a:pPr algn="l">
              <a:spcAft>
                <a:spcPts val="600"/>
              </a:spcAft>
            </a:pPr>
            <a:r>
              <a:rPr sz="1400" b="0" i="0">
                <a:solidFill>
                  <a:srgbClr val="52514E"/>
                </a:solidFill>
                <a:latin typeface="Calibri"/>
              </a:rPr>
              <a:t>Grade-1 recall </a:t>
            </a:r>
            <a:r>
              <a:rPr sz="1400" b="1" i="0">
                <a:solidFill>
                  <a:srgbClr val="EB6834"/>
                </a:solidFill>
                <a:latin typeface="Calibri"/>
              </a:rPr>
              <a:t>0.47 → 0.83</a:t>
            </a:r>
          </a:p>
          <a:p>
            <a:pPr algn="l">
              <a:spcAft>
                <a:spcPts val="600"/>
              </a:spcAft>
            </a:pPr>
            <a:r>
              <a:rPr sz="1400" b="0" i="0">
                <a:solidFill>
                  <a:srgbClr val="52514E"/>
                </a:solidFill>
                <a:latin typeface="Calibri"/>
              </a:rPr>
              <a:t>Micro-F1 </a:t>
            </a:r>
            <a:r>
              <a:rPr sz="1400" b="1" i="0">
                <a:solidFill>
                  <a:srgbClr val="EB6834"/>
                </a:solidFill>
                <a:latin typeface="Calibri"/>
              </a:rPr>
              <a:t>-4.43 pp</a:t>
            </a:r>
            <a:r>
              <a:rPr sz="1400" b="0" i="0">
                <a:solidFill>
                  <a:srgbClr val="52514E"/>
                </a:solidFill>
                <a:latin typeface="Calibri"/>
              </a:rPr>
              <a:t>, macro-F1 </a:t>
            </a:r>
            <a:r>
              <a:rPr sz="1400" b="1" i="0">
                <a:solidFill>
                  <a:srgbClr val="EB6834"/>
                </a:solidFill>
                <a:latin typeface="Calibri"/>
              </a:rPr>
              <a:t>-0.88 pp</a:t>
            </a:r>
          </a:p>
          <a:p>
            <a:pPr algn="l">
              <a:spcAft>
                <a:spcPts val="600"/>
              </a:spcAft>
            </a:pPr>
            <a:r>
              <a:rPr sz="1400" b="0" i="0">
                <a:solidFill>
                  <a:srgbClr val="52514E"/>
                </a:solidFill>
                <a:latin typeface="Calibri"/>
              </a:rPr>
              <a:t>A trade-off: it finds more low-damage buildings but costs overall accuracy.</a:t>
            </a:r>
          </a:p>
        </p:txBody>
      </p:sp>
      <p:sp>
        <p:nvSpPr>
          <p:cNvPr id="11" name="TextBox 10"/>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2" name="TextBox 11"/>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TRAINING AND TESTING PROCEDURE</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Select on cross-validation, test once on the holdout</a:t>
            </a:r>
          </a:p>
        </p:txBody>
      </p:sp>
      <p:sp>
        <p:nvSpPr>
          <p:cNvPr id="4" name="Rounded Rectangle 3"/>
          <p:cNvSpPr/>
          <p:nvPr/>
        </p:nvSpPr>
        <p:spPr>
          <a:xfrm>
            <a:off x="548640" y="1645920"/>
            <a:ext cx="2377440" cy="118872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2377440" cy="1188720"/>
          </a:xfrm>
          <a:prstGeom prst="rect">
            <a:avLst/>
          </a:prstGeom>
          <a:noFill/>
        </p:spPr>
        <p:txBody>
          <a:bodyPr wrap="square" lIns="0" rIns="0" tIns="0" bIns="0" anchor="ctr">
            <a:spAutoFit/>
          </a:bodyPr>
          <a:lstStyle/>
          <a:p>
            <a:pPr algn="ctr"/>
            <a:r>
              <a:rPr sz="1600" b="1" i="0">
                <a:solidFill>
                  <a:srgbClr val="FFFFFF"/>
                </a:solidFill>
                <a:latin typeface="Calibri"/>
              </a:rPr>
              <a:t>260,601</a:t>
            </a:r>
          </a:p>
          <a:p>
            <a:pPr algn="ctr"/>
            <a:r>
              <a:rPr sz="1600" b="1" i="0">
                <a:solidFill>
                  <a:srgbClr val="FFFFFF"/>
                </a:solidFill>
                <a:latin typeface="Calibri"/>
              </a:rPr>
              <a:t>labelled buildings</a:t>
            </a:r>
          </a:p>
        </p:txBody>
      </p:sp>
      <p:cxnSp>
        <p:nvCxnSpPr>
          <p:cNvPr id="6" name="Connector 5"/>
          <p:cNvCxnSpPr/>
          <p:nvPr/>
        </p:nvCxnSpPr>
        <p:spPr>
          <a:xfrm flipV="1">
            <a:off x="2971800" y="1783080"/>
            <a:ext cx="640080" cy="228600"/>
          </a:xfrm>
          <a:prstGeom prst="line">
            <a:avLst/>
          </a:prstGeom>
          <a:ln w="2540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971800" y="2468880"/>
            <a:ext cx="640080" cy="1691640"/>
          </a:xfrm>
          <a:prstGeom prst="line">
            <a:avLst/>
          </a:prstGeom>
          <a:ln w="2540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57600" y="1417320"/>
            <a:ext cx="4206240" cy="205740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1554480"/>
            <a:ext cx="3840480" cy="365760"/>
          </a:xfrm>
          <a:prstGeom prst="rect">
            <a:avLst/>
          </a:prstGeom>
          <a:noFill/>
        </p:spPr>
        <p:txBody>
          <a:bodyPr wrap="square" lIns="0" rIns="0" tIns="0" bIns="0" anchor="t">
            <a:spAutoFit/>
          </a:bodyPr>
          <a:lstStyle/>
          <a:p>
            <a:pPr algn="l"/>
            <a:r>
              <a:rPr sz="1600" b="1" i="0">
                <a:solidFill>
                  <a:srgbClr val="142340"/>
                </a:solidFill>
                <a:latin typeface="Calibri"/>
              </a:rPr>
              <a:t>80% training split · 208,480</a:t>
            </a:r>
          </a:p>
        </p:txBody>
      </p:sp>
      <p:sp>
        <p:nvSpPr>
          <p:cNvPr id="10" name="TextBox 9"/>
          <p:cNvSpPr txBox="1"/>
          <p:nvPr/>
        </p:nvSpPr>
        <p:spPr>
          <a:xfrm>
            <a:off x="3886200" y="1965960"/>
            <a:ext cx="3840480" cy="1463040"/>
          </a:xfrm>
          <a:prstGeom prst="rect">
            <a:avLst/>
          </a:prstGeom>
          <a:noFill/>
        </p:spPr>
        <p:txBody>
          <a:bodyPr wrap="square" lIns="0" rIns="0" tIns="0" bIns="0" anchor="t">
            <a:spAutoFit/>
          </a:bodyPr>
          <a:lstStyle/>
          <a:p>
            <a:pPr algn="l">
              <a:spcAft>
                <a:spcPts val="500"/>
              </a:spcAft>
            </a:pPr>
            <a:r>
              <a:rPr sz="1350" b="0" i="0">
                <a:solidFill>
                  <a:srgbClr val="52514E"/>
                </a:solidFill>
                <a:latin typeface="Calibri"/>
              </a:rPr>
              <a:t>Stratified 5-fold CV: LR experiments E0–E6</a:t>
            </a:r>
          </a:p>
          <a:p>
            <a:pPr algn="l">
              <a:spcAft>
                <a:spcPts val="500"/>
              </a:spcAft>
            </a:pPr>
            <a:r>
              <a:rPr sz="1350" b="0" i="0">
                <a:solidFill>
                  <a:srgbClr val="52514E"/>
                </a:solidFill>
                <a:latin typeface="Calibri"/>
              </a:rPr>
              <a:t>GridSearchCV, micro-F1: LR (9 values of C), random forest (4), boosting (6)</a:t>
            </a:r>
          </a:p>
          <a:p>
            <a:pPr algn="l">
              <a:spcAft>
                <a:spcPts val="500"/>
              </a:spcAft>
            </a:pPr>
            <a:r>
              <a:rPr sz="1350" b="0" i="0">
                <a:solidFill>
                  <a:srgbClr val="52514E"/>
                </a:solidFill>
                <a:latin typeface="Calibri"/>
              </a:rPr>
              <a:t>Encoders, imputers re-fit inside each fold</a:t>
            </a:r>
          </a:p>
        </p:txBody>
      </p:sp>
      <p:sp>
        <p:nvSpPr>
          <p:cNvPr id="11" name="Rounded Rectangle 10"/>
          <p:cNvSpPr/>
          <p:nvPr/>
        </p:nvSpPr>
        <p:spPr>
          <a:xfrm>
            <a:off x="3657600" y="3794760"/>
            <a:ext cx="4206240" cy="1417320"/>
          </a:xfrm>
          <a:prstGeom prst="roundRect">
            <a:avLst>
              <a:gd name="adj" fmla="val 8000"/>
            </a:avLst>
          </a:prstGeom>
          <a:solidFill>
            <a:srgbClr val="FD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200" y="3931920"/>
            <a:ext cx="3840480" cy="365760"/>
          </a:xfrm>
          <a:prstGeom prst="rect">
            <a:avLst/>
          </a:prstGeom>
          <a:noFill/>
        </p:spPr>
        <p:txBody>
          <a:bodyPr wrap="square" lIns="0" rIns="0" tIns="0" bIns="0" anchor="t">
            <a:spAutoFit/>
          </a:bodyPr>
          <a:lstStyle/>
          <a:p>
            <a:pPr algn="l"/>
            <a:r>
              <a:rPr sz="1600" b="1" i="0">
                <a:solidFill>
                  <a:srgbClr val="EB6834"/>
                </a:solidFill>
                <a:latin typeface="Calibri"/>
              </a:rPr>
              <a:t>20% holdout · 52,121</a:t>
            </a:r>
          </a:p>
        </p:txBody>
      </p:sp>
      <p:sp>
        <p:nvSpPr>
          <p:cNvPr id="13" name="TextBox 12"/>
          <p:cNvSpPr txBox="1"/>
          <p:nvPr/>
        </p:nvSpPr>
        <p:spPr>
          <a:xfrm>
            <a:off x="3886200" y="4343400"/>
            <a:ext cx="3840480" cy="822960"/>
          </a:xfrm>
          <a:prstGeom prst="rect">
            <a:avLst/>
          </a:prstGeom>
          <a:noFill/>
        </p:spPr>
        <p:txBody>
          <a:bodyPr wrap="square" lIns="0" rIns="0" tIns="0" bIns="0" anchor="t">
            <a:spAutoFit/>
          </a:bodyPr>
          <a:lstStyle/>
          <a:p>
            <a:pPr algn="l"/>
            <a:r>
              <a:rPr sz="1350" b="0" i="0">
                <a:solidFill>
                  <a:srgbClr val="52514E"/>
                </a:solidFill>
                <a:latin typeface="Calibri"/>
              </a:rPr>
              <a:t>Locked away; each of the 3 tuned models scored exactly once.</a:t>
            </a:r>
          </a:p>
        </p:txBody>
      </p:sp>
      <p:cxnSp>
        <p:nvCxnSpPr>
          <p:cNvPr id="14" name="Connector 13"/>
          <p:cNvCxnSpPr/>
          <p:nvPr/>
        </p:nvCxnSpPr>
        <p:spPr>
          <a:xfrm>
            <a:off x="7909560" y="2423160"/>
            <a:ext cx="640080" cy="0"/>
          </a:xfrm>
          <a:prstGeom prst="line">
            <a:avLst/>
          </a:prstGeom>
          <a:ln w="25400">
            <a:solidFill>
              <a:srgbClr val="EB68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95360" y="1417320"/>
            <a:ext cx="3063240" cy="205740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554480"/>
            <a:ext cx="2743200" cy="1828800"/>
          </a:xfrm>
          <a:prstGeom prst="rect">
            <a:avLst/>
          </a:prstGeom>
          <a:noFill/>
        </p:spPr>
        <p:txBody>
          <a:bodyPr wrap="square" lIns="0" rIns="0" tIns="0" bIns="0" anchor="t">
            <a:spAutoFit/>
          </a:bodyPr>
          <a:lstStyle/>
          <a:p>
            <a:pPr algn="l">
              <a:spcAft>
                <a:spcPts val="500"/>
              </a:spcAft>
            </a:pPr>
            <a:r>
              <a:rPr sz="1600" b="1" i="0">
                <a:solidFill>
                  <a:srgbClr val="FFFFFF"/>
                </a:solidFill>
                <a:latin typeface="Calibri"/>
              </a:rPr>
              <a:t>Final model</a:t>
            </a:r>
          </a:p>
          <a:p>
            <a:pPr algn="l">
              <a:spcAft>
                <a:spcPts val="500"/>
              </a:spcAft>
            </a:pPr>
            <a:r>
              <a:rPr sz="1350" b="0" i="0">
                <a:solidFill>
                  <a:srgbClr val="86B6EF"/>
                </a:solidFill>
                <a:latin typeface="Calibri"/>
              </a:rPr>
              <a:t>HistGradientBoosting: highest CV micro-F1 of the 3 tuned models</a:t>
            </a:r>
          </a:p>
          <a:p>
            <a:pPr algn="l">
              <a:spcAft>
                <a:spcPts val="500"/>
              </a:spcAft>
            </a:pPr>
            <a:r>
              <a:rPr sz="1350" b="0" i="0">
                <a:solidFill>
                  <a:srgbClr val="86B6EF"/>
                </a:solidFill>
                <a:latin typeface="Calibri"/>
              </a:rPr>
              <a:t>LR: E4, C = 0.3; all fits converged</a:t>
            </a:r>
          </a:p>
        </p:txBody>
      </p:sp>
      <p:sp>
        <p:nvSpPr>
          <p:cNvPr id="17" name="Rounded Rectangle 16"/>
          <p:cNvSpPr/>
          <p:nvPr/>
        </p:nvSpPr>
        <p:spPr>
          <a:xfrm>
            <a:off x="8595360" y="3794760"/>
            <a:ext cx="3063240" cy="14173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0" y="3931920"/>
            <a:ext cx="2743200" cy="1188720"/>
          </a:xfrm>
          <a:prstGeom prst="rect">
            <a:avLst/>
          </a:prstGeom>
          <a:noFill/>
        </p:spPr>
        <p:txBody>
          <a:bodyPr wrap="square" lIns="0" rIns="0" tIns="0" bIns="0" anchor="t">
            <a:spAutoFit/>
          </a:bodyPr>
          <a:lstStyle/>
          <a:p>
            <a:pPr algn="l">
              <a:spcAft>
                <a:spcPts val="500"/>
              </a:spcAft>
            </a:pPr>
            <a:r>
              <a:rPr sz="1600" b="1" i="0">
                <a:solidFill>
                  <a:srgbClr val="142340"/>
                </a:solidFill>
                <a:latin typeface="Calibri"/>
              </a:rPr>
              <a:t>Submission</a:t>
            </a:r>
          </a:p>
          <a:p>
            <a:pPr algn="l">
              <a:spcAft>
                <a:spcPts val="500"/>
              </a:spcAft>
            </a:pPr>
            <a:r>
              <a:rPr sz="1350" b="0" i="0">
                <a:solidFill>
                  <a:srgbClr val="52514E"/>
                </a:solidFill>
                <a:latin typeface="Calibri"/>
              </a:rPr>
              <a:t>Refit on all 260,601 rows → 86,868 test predictions</a:t>
            </a:r>
          </a:p>
        </p:txBody>
      </p:sp>
      <p:sp>
        <p:nvSpPr>
          <p:cNvPr id="19" name="TextBox 18"/>
          <p:cNvSpPr txBox="1"/>
          <p:nvPr/>
        </p:nvSpPr>
        <p:spPr>
          <a:xfrm>
            <a:off x="548640" y="5532120"/>
            <a:ext cx="11064240" cy="640080"/>
          </a:xfrm>
          <a:prstGeom prst="rect">
            <a:avLst/>
          </a:prstGeom>
          <a:noFill/>
        </p:spPr>
        <p:txBody>
          <a:bodyPr wrap="square" lIns="0" rIns="0" tIns="0" bIns="0" anchor="t">
            <a:spAutoFit/>
          </a:bodyPr>
          <a:lstStyle/>
          <a:p>
            <a:pPr algn="l"/>
            <a:r>
              <a:rPr sz="1300" b="0" i="0">
                <a:solidFill>
                  <a:srgbClr val="8A8984"/>
                </a:solidFill>
                <a:latin typeface="Calibri"/>
              </a:rPr>
              <a:t>Random state 42 everywhere. Model 1 experiments: E0 baseline → E1 structure → E2 + region → E3 + geo target encoding → E4 + engineered → E5 balanced → E6 ordinal. Models 2–3 reuse the E4 features.</a:t>
            </a:r>
          </a:p>
        </p:txBody>
      </p:sp>
      <p:sp>
        <p:nvSpPr>
          <p:cNvPr id="20" name="TextBox 19"/>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21" name="TextBox 20"/>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EXPERIMENTAL STUDY · MODEL 1: LOGISTIC REGRESSION</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Location drives the gains; reweighting and ordinal do not</a:t>
            </a:r>
          </a:p>
        </p:txBody>
      </p:sp>
      <p:pic>
        <p:nvPicPr>
          <p:cNvPr id="4" name="Picture 3" descr="fig07_experiments.png"/>
          <p:cNvPicPr>
            <a:picLocks noChangeAspect="1"/>
          </p:cNvPicPr>
          <p:nvPr/>
        </p:nvPicPr>
        <p:blipFill>
          <a:blip r:embed="rId2"/>
          <a:stretch>
            <a:fillRect/>
          </a:stretch>
        </p:blipFill>
        <p:spPr>
          <a:xfrm>
            <a:off x="457200" y="2016657"/>
            <a:ext cx="7589520" cy="3647645"/>
          </a:xfrm>
          <a:prstGeom prst="rect">
            <a:avLst/>
          </a:prstGeom>
        </p:spPr>
      </p:pic>
      <p:sp>
        <p:nvSpPr>
          <p:cNvPr id="5" name="TextBox 4"/>
          <p:cNvSpPr txBox="1"/>
          <p:nvPr/>
        </p:nvSpPr>
        <p:spPr>
          <a:xfrm>
            <a:off x="8321040" y="1645920"/>
            <a:ext cx="3383280" cy="4572000"/>
          </a:xfrm>
          <a:prstGeom prst="rect">
            <a:avLst/>
          </a:prstGeom>
          <a:noFill/>
        </p:spPr>
        <p:txBody>
          <a:bodyPr wrap="square" lIns="0" rIns="0" tIns="0" bIns="0" anchor="t">
            <a:spAutoFit/>
          </a:bodyPr>
          <a:lstStyle/>
          <a:p>
            <a:pPr algn="l">
              <a:spcAft>
                <a:spcPts val="1200"/>
              </a:spcAft>
            </a:pPr>
            <a:r>
              <a:rPr sz="1450" b="1" i="0">
                <a:solidFill>
                  <a:srgbClr val="142340"/>
                </a:solidFill>
                <a:latin typeface="Calibri"/>
              </a:rPr>
              <a:t>Baseline </a:t>
            </a:r>
            <a:r>
              <a:rPr sz="1450" b="0" i="0">
                <a:solidFill>
                  <a:srgbClr val="52514E"/>
                </a:solidFill>
                <a:latin typeface="Calibri"/>
              </a:rPr>
              <a:t>always predicts grade 2: 0.569</a:t>
            </a:r>
          </a:p>
          <a:p>
            <a:pPr algn="l">
              <a:spcAft>
                <a:spcPts val="1200"/>
              </a:spcAft>
            </a:pPr>
            <a:r>
              <a:rPr sz="1450" b="1" i="0">
                <a:solidFill>
                  <a:srgbClr val="142340"/>
                </a:solidFill>
                <a:latin typeface="Calibri"/>
              </a:rPr>
              <a:t>Structure alone </a:t>
            </a:r>
            <a:r>
              <a:rPr sz="1450" b="0" i="0">
                <a:solidFill>
                  <a:srgbClr val="52514E"/>
                </a:solidFill>
                <a:latin typeface="Calibri"/>
              </a:rPr>
              <a:t>0.591 (+2.2 pp)</a:t>
            </a:r>
          </a:p>
          <a:p>
            <a:pPr algn="l">
              <a:spcAft>
                <a:spcPts val="1200"/>
              </a:spcAft>
            </a:pPr>
            <a:r>
              <a:rPr sz="1450" b="1" i="0">
                <a:solidFill>
                  <a:srgbClr val="142340"/>
                </a:solidFill>
                <a:latin typeface="Calibri"/>
              </a:rPr>
              <a:t>Location </a:t>
            </a:r>
            <a:r>
              <a:rPr sz="1450" b="0" i="0">
                <a:solidFill>
                  <a:srgbClr val="52514E"/>
                </a:solidFill>
                <a:latin typeface="Calibri"/>
              </a:rPr>
              <a:t>adds +8.1 pp (region) and +6.3 pp (villages)</a:t>
            </a:r>
          </a:p>
          <a:p>
            <a:pPr algn="l">
              <a:spcAft>
                <a:spcPts val="1200"/>
              </a:spcAft>
            </a:pPr>
            <a:r>
              <a:rPr sz="1450" b="1" i="0">
                <a:solidFill>
                  <a:srgbClr val="142340"/>
                </a:solidFill>
                <a:latin typeface="Calibri"/>
              </a:rPr>
              <a:t>Engineered features </a:t>
            </a:r>
            <a:r>
              <a:rPr sz="1450" b="0" i="0">
                <a:solidFill>
                  <a:srgbClr val="52514E"/>
                </a:solidFill>
                <a:latin typeface="Calibri"/>
              </a:rPr>
              <a:t>+0.02 pp</a:t>
            </a:r>
          </a:p>
          <a:p>
            <a:pPr algn="l">
              <a:spcAft>
                <a:spcPts val="1200"/>
              </a:spcAft>
            </a:pPr>
            <a:r>
              <a:rPr sz="1450" b="1" i="0">
                <a:solidFill>
                  <a:srgbClr val="142340"/>
                </a:solidFill>
                <a:latin typeface="Calibri"/>
              </a:rPr>
              <a:t>Fold std </a:t>
            </a:r>
            <a:r>
              <a:rPr sz="1450" b="0" i="0">
                <a:solidFill>
                  <a:srgbClr val="52514E"/>
                </a:solidFill>
                <a:latin typeface="Calibri"/>
              </a:rPr>
              <a:t>≤ 0.0019, so gaps of ≥ 0.9 pp are well beyond noise</a:t>
            </a:r>
          </a:p>
        </p:txBody>
      </p:sp>
      <p:sp>
        <p:nvSpPr>
          <p:cNvPr id="6" name="TextBox 5"/>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7" name="TextBox 6"/>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EXPERIMENTAL STUDY · THREE MODELS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HistGradientBoosting wins on cross-validation</a:t>
            </a:r>
          </a:p>
        </p:txBody>
      </p:sp>
      <p:pic>
        <p:nvPicPr>
          <p:cNvPr id="4" name="Picture 3" descr="fig13_model_comparison.png"/>
          <p:cNvPicPr>
            <a:picLocks noChangeAspect="1"/>
          </p:cNvPicPr>
          <p:nvPr/>
        </p:nvPicPr>
        <p:blipFill>
          <a:blip r:embed="rId2"/>
          <a:stretch>
            <a:fillRect/>
          </a:stretch>
        </p:blipFill>
        <p:spPr>
          <a:xfrm>
            <a:off x="411480" y="1800828"/>
            <a:ext cx="7223759" cy="3713542"/>
          </a:xfrm>
          <a:prstGeom prst="rect">
            <a:avLst/>
          </a:prstGeom>
        </p:spPr>
      </p:pic>
      <p:sp>
        <p:nvSpPr>
          <p:cNvPr id="5" name="Rounded Rectangle 4"/>
          <p:cNvSpPr/>
          <p:nvPr/>
        </p:nvSpPr>
        <p:spPr>
          <a:xfrm>
            <a:off x="7863840" y="1463040"/>
            <a:ext cx="3794760" cy="132588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0" y="1554480"/>
            <a:ext cx="3474720" cy="320040"/>
          </a:xfrm>
          <a:prstGeom prst="rect">
            <a:avLst/>
          </a:prstGeom>
          <a:noFill/>
        </p:spPr>
        <p:txBody>
          <a:bodyPr wrap="square" lIns="0" rIns="0" tIns="0" bIns="0" anchor="t">
            <a:spAutoFit/>
          </a:bodyPr>
          <a:lstStyle/>
          <a:p>
            <a:pPr algn="l"/>
            <a:r>
              <a:rPr sz="1500" b="1" i="0">
                <a:solidFill>
                  <a:srgbClr val="142340"/>
                </a:solidFill>
                <a:latin typeface="Calibri"/>
              </a:rPr>
              <a:t>Logistic regression</a:t>
            </a:r>
          </a:p>
        </p:txBody>
      </p:sp>
      <p:sp>
        <p:nvSpPr>
          <p:cNvPr id="7" name="TextBox 6"/>
          <p:cNvSpPr txBox="1"/>
          <p:nvPr/>
        </p:nvSpPr>
        <p:spPr>
          <a:xfrm>
            <a:off x="8046720" y="1901952"/>
            <a:ext cx="3474720" cy="868680"/>
          </a:xfrm>
          <a:prstGeom prst="rect">
            <a:avLst/>
          </a:prstGeom>
          <a:noFill/>
        </p:spPr>
        <p:txBody>
          <a:bodyPr wrap="square" lIns="0" rIns="0" tIns="0" bIns="0" anchor="t">
            <a:spAutoFit/>
          </a:bodyPr>
          <a:lstStyle/>
          <a:p>
            <a:pPr algn="l">
              <a:spcAft>
                <a:spcPts val="200"/>
              </a:spcAft>
            </a:pPr>
            <a:r>
              <a:rPr sz="1250" b="0" i="0">
                <a:solidFill>
                  <a:srgbClr val="52514E"/>
                </a:solidFill>
                <a:latin typeface="Calibri"/>
              </a:rPr>
              <a:t>CV </a:t>
            </a:r>
            <a:r>
              <a:rPr sz="1250" b="1" i="0">
                <a:solidFill>
                  <a:srgbClr val="EB6834"/>
                </a:solidFill>
                <a:latin typeface="Calibri"/>
              </a:rPr>
              <a:t>0.735</a:t>
            </a:r>
            <a:r>
              <a:rPr sz="1250" b="0" i="0">
                <a:solidFill>
                  <a:srgbClr val="52514E"/>
                </a:solidFill>
                <a:latin typeface="Calibri"/>
              </a:rPr>
              <a:t>   holdout </a:t>
            </a:r>
            <a:r>
              <a:rPr sz="1250" b="1" i="0">
                <a:solidFill>
                  <a:srgbClr val="EB6834"/>
                </a:solidFill>
                <a:latin typeface="Calibri"/>
              </a:rPr>
              <a:t>0.740</a:t>
            </a:r>
            <a:r>
              <a:rPr sz="1250" b="0" i="0">
                <a:solidFill>
                  <a:srgbClr val="52514E"/>
                </a:solidFill>
                <a:latin typeface="Calibri"/>
              </a:rPr>
              <a:t>  micro-F1</a:t>
            </a:r>
          </a:p>
          <a:p>
            <a:pPr algn="l">
              <a:spcAft>
                <a:spcPts val="200"/>
              </a:spcAft>
            </a:pPr>
            <a:r>
              <a:rPr sz="1250" b="0" i="0">
                <a:solidFill>
                  <a:srgbClr val="52514E"/>
                </a:solidFill>
                <a:latin typeface="Calibri"/>
              </a:rPr>
              <a:t>C = 0.3</a:t>
            </a:r>
          </a:p>
        </p:txBody>
      </p:sp>
      <p:sp>
        <p:nvSpPr>
          <p:cNvPr id="8" name="Rounded Rectangle 7"/>
          <p:cNvSpPr/>
          <p:nvPr/>
        </p:nvSpPr>
        <p:spPr>
          <a:xfrm>
            <a:off x="7863840" y="2944368"/>
            <a:ext cx="3794760" cy="132588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3035808"/>
            <a:ext cx="3474720" cy="320040"/>
          </a:xfrm>
          <a:prstGeom prst="rect">
            <a:avLst/>
          </a:prstGeom>
          <a:noFill/>
        </p:spPr>
        <p:txBody>
          <a:bodyPr wrap="square" lIns="0" rIns="0" tIns="0" bIns="0" anchor="t">
            <a:spAutoFit/>
          </a:bodyPr>
          <a:lstStyle/>
          <a:p>
            <a:pPr algn="l"/>
            <a:r>
              <a:rPr sz="1500" b="1" i="0">
                <a:solidFill>
                  <a:srgbClr val="142340"/>
                </a:solidFill>
                <a:latin typeface="Calibri"/>
              </a:rPr>
              <a:t>Random forest</a:t>
            </a:r>
          </a:p>
        </p:txBody>
      </p:sp>
      <p:sp>
        <p:nvSpPr>
          <p:cNvPr id="10" name="TextBox 9"/>
          <p:cNvSpPr txBox="1"/>
          <p:nvPr/>
        </p:nvSpPr>
        <p:spPr>
          <a:xfrm>
            <a:off x="8046720" y="3383280"/>
            <a:ext cx="3474720" cy="868680"/>
          </a:xfrm>
          <a:prstGeom prst="rect">
            <a:avLst/>
          </a:prstGeom>
          <a:noFill/>
        </p:spPr>
        <p:txBody>
          <a:bodyPr wrap="square" lIns="0" rIns="0" tIns="0" bIns="0" anchor="t">
            <a:spAutoFit/>
          </a:bodyPr>
          <a:lstStyle/>
          <a:p>
            <a:pPr algn="l">
              <a:spcAft>
                <a:spcPts val="200"/>
              </a:spcAft>
            </a:pPr>
            <a:r>
              <a:rPr sz="1250" b="0" i="0">
                <a:solidFill>
                  <a:srgbClr val="52514E"/>
                </a:solidFill>
                <a:latin typeface="Calibri"/>
              </a:rPr>
              <a:t>CV </a:t>
            </a:r>
            <a:r>
              <a:rPr sz="1250" b="1" i="0">
                <a:solidFill>
                  <a:srgbClr val="EB6834"/>
                </a:solidFill>
                <a:latin typeface="Calibri"/>
              </a:rPr>
              <a:t>0.744</a:t>
            </a:r>
            <a:r>
              <a:rPr sz="1250" b="0" i="0">
                <a:solidFill>
                  <a:srgbClr val="52514E"/>
                </a:solidFill>
                <a:latin typeface="Calibri"/>
              </a:rPr>
              <a:t>   holdout </a:t>
            </a:r>
            <a:r>
              <a:rPr sz="1250" b="1" i="0">
                <a:solidFill>
                  <a:srgbClr val="EB6834"/>
                </a:solidFill>
                <a:latin typeface="Calibri"/>
              </a:rPr>
              <a:t>0.750</a:t>
            </a:r>
            <a:r>
              <a:rPr sz="1250" b="0" i="0">
                <a:solidFill>
                  <a:srgbClr val="52514E"/>
                </a:solidFill>
                <a:latin typeface="Calibri"/>
              </a:rPr>
              <a:t>  micro-F1</a:t>
            </a:r>
          </a:p>
          <a:p>
            <a:pPr algn="l">
              <a:spcAft>
                <a:spcPts val="200"/>
              </a:spcAft>
            </a:pPr>
            <a:r>
              <a:rPr sz="1250" b="0" i="0">
                <a:solidFill>
                  <a:srgbClr val="52514E"/>
                </a:solidFill>
                <a:latin typeface="Calibri"/>
              </a:rPr>
              <a:t>max_features = sqrt, min_samples_leaf = 2</a:t>
            </a:r>
          </a:p>
        </p:txBody>
      </p:sp>
      <p:sp>
        <p:nvSpPr>
          <p:cNvPr id="11" name="Rounded Rectangle 10"/>
          <p:cNvSpPr/>
          <p:nvPr/>
        </p:nvSpPr>
        <p:spPr>
          <a:xfrm>
            <a:off x="7863840" y="4425696"/>
            <a:ext cx="3794760" cy="1325880"/>
          </a:xfrm>
          <a:prstGeom prst="roundRect">
            <a:avLst>
              <a:gd name="adj" fmla="val 8000"/>
            </a:avLst>
          </a:prstGeom>
          <a:solidFill>
            <a:srgbClr val="14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4517136"/>
            <a:ext cx="3474720" cy="320040"/>
          </a:xfrm>
          <a:prstGeom prst="rect">
            <a:avLst/>
          </a:prstGeom>
          <a:noFill/>
        </p:spPr>
        <p:txBody>
          <a:bodyPr wrap="square" lIns="0" rIns="0" tIns="0" bIns="0" anchor="t">
            <a:spAutoFit/>
          </a:bodyPr>
          <a:lstStyle/>
          <a:p>
            <a:pPr algn="l"/>
            <a:r>
              <a:rPr sz="1500" b="1" i="0">
                <a:solidFill>
                  <a:srgbClr val="FFFFFF"/>
                </a:solidFill>
                <a:latin typeface="Calibri"/>
              </a:rPr>
              <a:t>HistGradientBoosting  ·  final model</a:t>
            </a:r>
          </a:p>
        </p:txBody>
      </p:sp>
      <p:sp>
        <p:nvSpPr>
          <p:cNvPr id="13" name="TextBox 12"/>
          <p:cNvSpPr txBox="1"/>
          <p:nvPr/>
        </p:nvSpPr>
        <p:spPr>
          <a:xfrm>
            <a:off x="8046720" y="4864608"/>
            <a:ext cx="3474720" cy="868680"/>
          </a:xfrm>
          <a:prstGeom prst="rect">
            <a:avLst/>
          </a:prstGeom>
          <a:noFill/>
        </p:spPr>
        <p:txBody>
          <a:bodyPr wrap="square" lIns="0" rIns="0" tIns="0" bIns="0" anchor="t">
            <a:spAutoFit/>
          </a:bodyPr>
          <a:lstStyle/>
          <a:p>
            <a:pPr algn="l">
              <a:spcAft>
                <a:spcPts val="200"/>
              </a:spcAft>
            </a:pPr>
            <a:r>
              <a:rPr sz="1250" b="0" i="0">
                <a:solidFill>
                  <a:srgbClr val="86B6EF"/>
                </a:solidFill>
                <a:latin typeface="Calibri"/>
              </a:rPr>
              <a:t>CV </a:t>
            </a:r>
            <a:r>
              <a:rPr sz="1250" b="1" i="0">
                <a:solidFill>
                  <a:srgbClr val="EB6834"/>
                </a:solidFill>
                <a:latin typeface="Calibri"/>
              </a:rPr>
              <a:t>0.745</a:t>
            </a:r>
            <a:r>
              <a:rPr sz="1250" b="0" i="0">
                <a:solidFill>
                  <a:srgbClr val="86B6EF"/>
                </a:solidFill>
                <a:latin typeface="Calibri"/>
              </a:rPr>
              <a:t>   holdout </a:t>
            </a:r>
            <a:r>
              <a:rPr sz="1250" b="1" i="0">
                <a:solidFill>
                  <a:srgbClr val="EB6834"/>
                </a:solidFill>
                <a:latin typeface="Calibri"/>
              </a:rPr>
              <a:t>0.750</a:t>
            </a:r>
            <a:r>
              <a:rPr sz="1250" b="0" i="0">
                <a:solidFill>
                  <a:srgbClr val="86B6EF"/>
                </a:solidFill>
                <a:latin typeface="Calibri"/>
              </a:rPr>
              <a:t>  micro-F1</a:t>
            </a:r>
          </a:p>
          <a:p>
            <a:pPr algn="l">
              <a:spcAft>
                <a:spcPts val="200"/>
              </a:spcAft>
            </a:pPr>
            <a:r>
              <a:rPr sz="1250" b="0" i="0">
                <a:solidFill>
                  <a:srgbClr val="86B6EF"/>
                </a:solidFill>
                <a:latin typeface="Calibri"/>
              </a:rPr>
              <a:t>learning_rate = 0.1, max_leaf_nodes = 31</a:t>
            </a:r>
          </a:p>
        </p:txBody>
      </p:sp>
      <p:sp>
        <p:nvSpPr>
          <p:cNvPr id="14" name="TextBox 13"/>
          <p:cNvSpPr txBox="1"/>
          <p:nvPr/>
        </p:nvSpPr>
        <p:spPr>
          <a:xfrm>
            <a:off x="548640" y="5989320"/>
            <a:ext cx="11064240" cy="320040"/>
          </a:xfrm>
          <a:prstGeom prst="rect">
            <a:avLst/>
          </a:prstGeom>
          <a:noFill/>
        </p:spPr>
        <p:txBody>
          <a:bodyPr wrap="square" lIns="0" rIns="0" tIns="0" bIns="0" anchor="t">
            <a:spAutoFit/>
          </a:bodyPr>
          <a:lstStyle/>
          <a:p>
            <a:pPr algn="l"/>
            <a:r>
              <a:rPr sz="1250" b="0" i="0">
                <a:solidFill>
                  <a:srgbClr val="8A8984"/>
                </a:solidFill>
                <a:latin typeface="Calibri"/>
              </a:rPr>
              <a:t>Same features, same 5 folds. Final model chosen by CV micro-F1; vs LR: +0.98 pp in CV, +0.93 pp on the holdout.</a:t>
            </a:r>
          </a:p>
        </p:txBody>
      </p:sp>
      <p:sp>
        <p:nvSpPr>
          <p:cNvPr id="15" name="TextBox 14"/>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6" name="TextBox 15"/>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EXPERIMENTAL STUDY AND ANALYSIS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Final model on the holdout: HistGradientBoosting</a:t>
            </a:r>
          </a:p>
        </p:txBody>
      </p:sp>
      <p:sp>
        <p:nvSpPr>
          <p:cNvPr id="4" name="TextBox 3"/>
          <p:cNvSpPr txBox="1"/>
          <p:nvPr/>
        </p:nvSpPr>
        <p:spPr>
          <a:xfrm>
            <a:off x="548640" y="1600200"/>
            <a:ext cx="3017520" cy="685800"/>
          </a:xfrm>
          <a:prstGeom prst="rect">
            <a:avLst/>
          </a:prstGeom>
          <a:noFill/>
        </p:spPr>
        <p:txBody>
          <a:bodyPr wrap="square" lIns="0" rIns="0" tIns="0" bIns="0" anchor="t">
            <a:spAutoFit/>
          </a:bodyPr>
          <a:lstStyle/>
          <a:p>
            <a:pPr algn="l"/>
            <a:r>
              <a:rPr sz="4800" b="1" i="0">
                <a:solidFill>
                  <a:srgbClr val="EB6834"/>
                </a:solidFill>
                <a:latin typeface="Cambria"/>
              </a:rPr>
              <a:t>0.750</a:t>
            </a:r>
          </a:p>
        </p:txBody>
      </p:sp>
      <p:sp>
        <p:nvSpPr>
          <p:cNvPr id="5" name="TextBox 4"/>
          <p:cNvSpPr txBox="1"/>
          <p:nvPr/>
        </p:nvSpPr>
        <p:spPr>
          <a:xfrm>
            <a:off x="548640" y="2331720"/>
            <a:ext cx="3017520" cy="640080"/>
          </a:xfrm>
          <a:prstGeom prst="rect">
            <a:avLst/>
          </a:prstGeom>
          <a:noFill/>
        </p:spPr>
        <p:txBody>
          <a:bodyPr wrap="square" lIns="0" rIns="0" tIns="0" bIns="0" anchor="t">
            <a:spAutoFit/>
          </a:bodyPr>
          <a:lstStyle/>
          <a:p>
            <a:pPr algn="l"/>
            <a:r>
              <a:rPr sz="1400" b="0" i="0">
                <a:solidFill>
                  <a:srgbClr val="52514E"/>
                </a:solidFill>
                <a:latin typeface="Calibri"/>
              </a:rPr>
              <a:t>holdout micro-F1
(competition metric)</a:t>
            </a:r>
          </a:p>
        </p:txBody>
      </p:sp>
      <p:sp>
        <p:nvSpPr>
          <p:cNvPr id="6" name="TextBox 5"/>
          <p:cNvSpPr txBox="1"/>
          <p:nvPr/>
        </p:nvSpPr>
        <p:spPr>
          <a:xfrm>
            <a:off x="548640" y="3108960"/>
            <a:ext cx="3017520" cy="685800"/>
          </a:xfrm>
          <a:prstGeom prst="rect">
            <a:avLst/>
          </a:prstGeom>
          <a:noFill/>
        </p:spPr>
        <p:txBody>
          <a:bodyPr wrap="square" lIns="0" rIns="0" tIns="0" bIns="0" anchor="t">
            <a:spAutoFit/>
          </a:bodyPr>
          <a:lstStyle/>
          <a:p>
            <a:pPr algn="l"/>
            <a:r>
              <a:rPr sz="4000" b="1" i="0">
                <a:solidFill>
                  <a:srgbClr val="142340"/>
                </a:solidFill>
                <a:latin typeface="Cambria"/>
              </a:rPr>
              <a:t>0.701</a:t>
            </a:r>
          </a:p>
        </p:txBody>
      </p:sp>
      <p:sp>
        <p:nvSpPr>
          <p:cNvPr id="7" name="TextBox 6"/>
          <p:cNvSpPr txBox="1"/>
          <p:nvPr/>
        </p:nvSpPr>
        <p:spPr>
          <a:xfrm>
            <a:off x="548640" y="3840480"/>
            <a:ext cx="3017520" cy="640080"/>
          </a:xfrm>
          <a:prstGeom prst="rect">
            <a:avLst/>
          </a:prstGeom>
          <a:noFill/>
        </p:spPr>
        <p:txBody>
          <a:bodyPr wrap="square" lIns="0" rIns="0" tIns="0" bIns="0" anchor="t">
            <a:spAutoFit/>
          </a:bodyPr>
          <a:lstStyle/>
          <a:p>
            <a:pPr algn="l"/>
            <a:r>
              <a:rPr sz="1400" b="0" i="0">
                <a:solidFill>
                  <a:srgbClr val="52514E"/>
                </a:solidFill>
                <a:latin typeface="Calibri"/>
              </a:rPr>
              <a:t>holdout macro-F1</a:t>
            </a:r>
          </a:p>
        </p:txBody>
      </p:sp>
      <p:sp>
        <p:nvSpPr>
          <p:cNvPr id="8" name="TextBox 7"/>
          <p:cNvSpPr txBox="1"/>
          <p:nvPr/>
        </p:nvSpPr>
        <p:spPr>
          <a:xfrm>
            <a:off x="548640" y="4434840"/>
            <a:ext cx="3017520" cy="685800"/>
          </a:xfrm>
          <a:prstGeom prst="rect">
            <a:avLst/>
          </a:prstGeom>
          <a:noFill/>
        </p:spPr>
        <p:txBody>
          <a:bodyPr wrap="square" lIns="0" rIns="0" tIns="0" bIns="0" anchor="t">
            <a:spAutoFit/>
          </a:bodyPr>
          <a:lstStyle/>
          <a:p>
            <a:pPr algn="l"/>
            <a:r>
              <a:rPr sz="3200" b="1" i="0">
                <a:solidFill>
                  <a:srgbClr val="142340"/>
                </a:solidFill>
                <a:latin typeface="Cambria"/>
              </a:rPr>
              <a:t>0.745</a:t>
            </a:r>
          </a:p>
        </p:txBody>
      </p:sp>
      <p:sp>
        <p:nvSpPr>
          <p:cNvPr id="9" name="TextBox 8"/>
          <p:cNvSpPr txBox="1"/>
          <p:nvPr/>
        </p:nvSpPr>
        <p:spPr>
          <a:xfrm>
            <a:off x="548640" y="5166359"/>
            <a:ext cx="3017520" cy="640080"/>
          </a:xfrm>
          <a:prstGeom prst="rect">
            <a:avLst/>
          </a:prstGeom>
          <a:noFill/>
        </p:spPr>
        <p:txBody>
          <a:bodyPr wrap="square" lIns="0" rIns="0" tIns="0" bIns="0" anchor="t">
            <a:spAutoFit/>
          </a:bodyPr>
          <a:lstStyle/>
          <a:p>
            <a:pPr algn="l"/>
            <a:r>
              <a:rPr sz="1400" b="0" i="0">
                <a:solidFill>
                  <a:srgbClr val="52514E"/>
                </a:solidFill>
                <a:latin typeface="Calibri"/>
              </a:rPr>
              <a:t>CV micro-F1
(holdout agrees with CV)</a:t>
            </a:r>
          </a:p>
        </p:txBody>
      </p:sp>
      <p:pic>
        <p:nvPicPr>
          <p:cNvPr id="10" name="Picture 9" descr="fig15_confusion_final.png"/>
          <p:cNvPicPr>
            <a:picLocks noChangeAspect="1"/>
          </p:cNvPicPr>
          <p:nvPr/>
        </p:nvPicPr>
        <p:blipFill>
          <a:blip r:embed="rId2"/>
          <a:stretch>
            <a:fillRect/>
          </a:stretch>
        </p:blipFill>
        <p:spPr>
          <a:xfrm>
            <a:off x="3566160" y="2044519"/>
            <a:ext cx="4754880" cy="3591921"/>
          </a:xfrm>
          <a:prstGeom prst="rect">
            <a:avLst/>
          </a:prstGeom>
        </p:spPr>
      </p:pic>
      <p:sp>
        <p:nvSpPr>
          <p:cNvPr id="11" name="TextBox 10"/>
          <p:cNvSpPr txBox="1"/>
          <p:nvPr/>
        </p:nvSpPr>
        <p:spPr>
          <a:xfrm>
            <a:off x="8595360" y="1600200"/>
            <a:ext cx="3108960" cy="365760"/>
          </a:xfrm>
          <a:prstGeom prst="rect">
            <a:avLst/>
          </a:prstGeom>
          <a:noFill/>
        </p:spPr>
        <p:txBody>
          <a:bodyPr wrap="square" lIns="0" rIns="0" tIns="0" bIns="0" anchor="t">
            <a:spAutoFit/>
          </a:bodyPr>
          <a:lstStyle/>
          <a:p>
            <a:pPr algn="l"/>
            <a:r>
              <a:rPr sz="1700" b="1" i="0">
                <a:solidFill>
                  <a:srgbClr val="142340"/>
                </a:solidFill>
                <a:latin typeface="Calibri"/>
              </a:rPr>
              <a:t>Holdout recall (vs LR)</a:t>
            </a:r>
          </a:p>
        </p:txBody>
      </p:sp>
      <p:sp>
        <p:nvSpPr>
          <p:cNvPr id="12" name="Rounded Rectangle 11"/>
          <p:cNvSpPr/>
          <p:nvPr/>
        </p:nvSpPr>
        <p:spPr>
          <a:xfrm>
            <a:off x="8595360" y="2103120"/>
            <a:ext cx="3063240" cy="8229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2212848"/>
            <a:ext cx="1188720" cy="640080"/>
          </a:xfrm>
          <a:prstGeom prst="rect">
            <a:avLst/>
          </a:prstGeom>
          <a:noFill/>
        </p:spPr>
        <p:txBody>
          <a:bodyPr wrap="square" lIns="0" rIns="0" tIns="0" bIns="0" anchor="ctr">
            <a:spAutoFit/>
          </a:bodyPr>
          <a:lstStyle/>
          <a:p>
            <a:pPr algn="l"/>
            <a:r>
              <a:rPr sz="1500" b="1" i="0">
                <a:solidFill>
                  <a:srgbClr val="142340"/>
                </a:solidFill>
                <a:latin typeface="Calibri"/>
              </a:rPr>
              <a:t>Grade 1</a:t>
            </a:r>
          </a:p>
        </p:txBody>
      </p:sp>
      <p:sp>
        <p:nvSpPr>
          <p:cNvPr id="14" name="TextBox 13"/>
          <p:cNvSpPr txBox="1"/>
          <p:nvPr/>
        </p:nvSpPr>
        <p:spPr>
          <a:xfrm>
            <a:off x="9829800" y="2176272"/>
            <a:ext cx="914400" cy="685800"/>
          </a:xfrm>
          <a:prstGeom prst="rect">
            <a:avLst/>
          </a:prstGeom>
          <a:noFill/>
        </p:spPr>
        <p:txBody>
          <a:bodyPr wrap="square" lIns="0" rIns="0" tIns="0" bIns="0" anchor="ctr">
            <a:spAutoFit/>
          </a:bodyPr>
          <a:lstStyle/>
          <a:p>
            <a:pPr algn="r"/>
            <a:r>
              <a:rPr sz="2600" b="1" i="0">
                <a:solidFill>
                  <a:srgbClr val="142340"/>
                </a:solidFill>
                <a:latin typeface="Cambria"/>
              </a:rPr>
              <a:t>0.55</a:t>
            </a:r>
          </a:p>
        </p:txBody>
      </p:sp>
      <p:sp>
        <p:nvSpPr>
          <p:cNvPr id="15" name="TextBox 14"/>
          <p:cNvSpPr txBox="1"/>
          <p:nvPr/>
        </p:nvSpPr>
        <p:spPr>
          <a:xfrm>
            <a:off x="10835640" y="2176272"/>
            <a:ext cx="731520" cy="685800"/>
          </a:xfrm>
          <a:prstGeom prst="rect">
            <a:avLst/>
          </a:prstGeom>
          <a:noFill/>
        </p:spPr>
        <p:txBody>
          <a:bodyPr wrap="square" lIns="0" rIns="0" tIns="0" bIns="0" anchor="ctr">
            <a:spAutoFit/>
          </a:bodyPr>
          <a:lstStyle/>
          <a:p>
            <a:pPr algn="r"/>
            <a:r>
              <a:rPr sz="1300" b="0" i="0">
                <a:solidFill>
                  <a:srgbClr val="8A8984"/>
                </a:solidFill>
                <a:latin typeface="Calibri"/>
              </a:rPr>
              <a:t>(0.48)</a:t>
            </a:r>
          </a:p>
        </p:txBody>
      </p:sp>
      <p:sp>
        <p:nvSpPr>
          <p:cNvPr id="16" name="Rounded Rectangle 15"/>
          <p:cNvSpPr/>
          <p:nvPr/>
        </p:nvSpPr>
        <p:spPr>
          <a:xfrm>
            <a:off x="8595360" y="3063239"/>
            <a:ext cx="3063240" cy="8229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3172968"/>
            <a:ext cx="1188720" cy="640080"/>
          </a:xfrm>
          <a:prstGeom prst="rect">
            <a:avLst/>
          </a:prstGeom>
          <a:noFill/>
        </p:spPr>
        <p:txBody>
          <a:bodyPr wrap="square" lIns="0" rIns="0" tIns="0" bIns="0" anchor="ctr">
            <a:spAutoFit/>
          </a:bodyPr>
          <a:lstStyle/>
          <a:p>
            <a:pPr algn="l"/>
            <a:r>
              <a:rPr sz="1500" b="1" i="0">
                <a:solidFill>
                  <a:srgbClr val="142340"/>
                </a:solidFill>
                <a:latin typeface="Calibri"/>
              </a:rPr>
              <a:t>Grade 2</a:t>
            </a:r>
          </a:p>
        </p:txBody>
      </p:sp>
      <p:sp>
        <p:nvSpPr>
          <p:cNvPr id="18" name="TextBox 17"/>
          <p:cNvSpPr txBox="1"/>
          <p:nvPr/>
        </p:nvSpPr>
        <p:spPr>
          <a:xfrm>
            <a:off x="9829800" y="3136391"/>
            <a:ext cx="914400" cy="685800"/>
          </a:xfrm>
          <a:prstGeom prst="rect">
            <a:avLst/>
          </a:prstGeom>
          <a:noFill/>
        </p:spPr>
        <p:txBody>
          <a:bodyPr wrap="square" lIns="0" rIns="0" tIns="0" bIns="0" anchor="ctr">
            <a:spAutoFit/>
          </a:bodyPr>
          <a:lstStyle/>
          <a:p>
            <a:pPr algn="r"/>
            <a:r>
              <a:rPr sz="2600" b="1" i="0">
                <a:solidFill>
                  <a:srgbClr val="142340"/>
                </a:solidFill>
                <a:latin typeface="Cambria"/>
              </a:rPr>
              <a:t>0.85</a:t>
            </a:r>
          </a:p>
        </p:txBody>
      </p:sp>
      <p:sp>
        <p:nvSpPr>
          <p:cNvPr id="19" name="TextBox 18"/>
          <p:cNvSpPr txBox="1"/>
          <p:nvPr/>
        </p:nvSpPr>
        <p:spPr>
          <a:xfrm>
            <a:off x="10835640" y="3136391"/>
            <a:ext cx="731520" cy="685800"/>
          </a:xfrm>
          <a:prstGeom prst="rect">
            <a:avLst/>
          </a:prstGeom>
          <a:noFill/>
        </p:spPr>
        <p:txBody>
          <a:bodyPr wrap="square" lIns="0" rIns="0" tIns="0" bIns="0" anchor="ctr">
            <a:spAutoFit/>
          </a:bodyPr>
          <a:lstStyle/>
          <a:p>
            <a:pPr algn="r"/>
            <a:r>
              <a:rPr sz="1300" b="0" i="0">
                <a:solidFill>
                  <a:srgbClr val="8A8984"/>
                </a:solidFill>
                <a:latin typeface="Calibri"/>
              </a:rPr>
              <a:t>(0.85)</a:t>
            </a:r>
          </a:p>
        </p:txBody>
      </p:sp>
      <p:sp>
        <p:nvSpPr>
          <p:cNvPr id="20" name="Rounded Rectangle 19"/>
          <p:cNvSpPr/>
          <p:nvPr/>
        </p:nvSpPr>
        <p:spPr>
          <a:xfrm>
            <a:off x="8595360" y="4023360"/>
            <a:ext cx="3063240" cy="82296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0" y="4133088"/>
            <a:ext cx="1188720" cy="640080"/>
          </a:xfrm>
          <a:prstGeom prst="rect">
            <a:avLst/>
          </a:prstGeom>
          <a:noFill/>
        </p:spPr>
        <p:txBody>
          <a:bodyPr wrap="square" lIns="0" rIns="0" tIns="0" bIns="0" anchor="ctr">
            <a:spAutoFit/>
          </a:bodyPr>
          <a:lstStyle/>
          <a:p>
            <a:pPr algn="l"/>
            <a:r>
              <a:rPr sz="1500" b="1" i="0">
                <a:solidFill>
                  <a:srgbClr val="142340"/>
                </a:solidFill>
                <a:latin typeface="Calibri"/>
              </a:rPr>
              <a:t>Grade 3</a:t>
            </a:r>
          </a:p>
        </p:txBody>
      </p:sp>
      <p:sp>
        <p:nvSpPr>
          <p:cNvPr id="22" name="TextBox 21"/>
          <p:cNvSpPr txBox="1"/>
          <p:nvPr/>
        </p:nvSpPr>
        <p:spPr>
          <a:xfrm>
            <a:off x="9829800" y="4096512"/>
            <a:ext cx="914400" cy="685800"/>
          </a:xfrm>
          <a:prstGeom prst="rect">
            <a:avLst/>
          </a:prstGeom>
          <a:noFill/>
        </p:spPr>
        <p:txBody>
          <a:bodyPr wrap="square" lIns="0" rIns="0" tIns="0" bIns="0" anchor="ctr">
            <a:spAutoFit/>
          </a:bodyPr>
          <a:lstStyle/>
          <a:p>
            <a:pPr algn="r"/>
            <a:r>
              <a:rPr sz="2600" b="1" i="0">
                <a:solidFill>
                  <a:srgbClr val="EB6834"/>
                </a:solidFill>
                <a:latin typeface="Cambria"/>
              </a:rPr>
              <a:t>0.64</a:t>
            </a:r>
          </a:p>
        </p:txBody>
      </p:sp>
      <p:sp>
        <p:nvSpPr>
          <p:cNvPr id="23" name="TextBox 22"/>
          <p:cNvSpPr txBox="1"/>
          <p:nvPr/>
        </p:nvSpPr>
        <p:spPr>
          <a:xfrm>
            <a:off x="10835640" y="4096512"/>
            <a:ext cx="731520" cy="685800"/>
          </a:xfrm>
          <a:prstGeom prst="rect">
            <a:avLst/>
          </a:prstGeom>
          <a:noFill/>
        </p:spPr>
        <p:txBody>
          <a:bodyPr wrap="square" lIns="0" rIns="0" tIns="0" bIns="0" anchor="ctr">
            <a:spAutoFit/>
          </a:bodyPr>
          <a:lstStyle/>
          <a:p>
            <a:pPr algn="r"/>
            <a:r>
              <a:rPr sz="1300" b="0" i="0">
                <a:solidFill>
                  <a:srgbClr val="8A8984"/>
                </a:solidFill>
                <a:latin typeface="Calibri"/>
              </a:rPr>
              <a:t>(0.63)</a:t>
            </a:r>
          </a:p>
        </p:txBody>
      </p:sp>
      <p:sp>
        <p:nvSpPr>
          <p:cNvPr id="24" name="TextBox 23"/>
          <p:cNvSpPr txBox="1"/>
          <p:nvPr/>
        </p:nvSpPr>
        <p:spPr>
          <a:xfrm>
            <a:off x="8595360" y="5074920"/>
            <a:ext cx="3108960" cy="1188720"/>
          </a:xfrm>
          <a:prstGeom prst="rect">
            <a:avLst/>
          </a:prstGeom>
          <a:noFill/>
        </p:spPr>
        <p:txBody>
          <a:bodyPr wrap="square" lIns="0" rIns="0" tIns="0" bIns="0" anchor="t">
            <a:spAutoFit/>
          </a:bodyPr>
          <a:lstStyle/>
          <a:p>
            <a:pPr algn="l"/>
            <a:r>
              <a:rPr sz="1350" b="0" i="0">
                <a:solidFill>
                  <a:srgbClr val="52514E"/>
                </a:solidFill>
                <a:latin typeface="Calibri"/>
              </a:rPr>
              <a:t>Errors are almost all between adjacent grades: only 0.6% of grade-3 buildings are predicted as grade 1.</a:t>
            </a:r>
          </a:p>
        </p:txBody>
      </p:sp>
      <p:sp>
        <p:nvSpPr>
          <p:cNvPr id="25" name="TextBox 24"/>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26" name="TextBox 25"/>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EXPERIMENTAL STUDY AND ANALYSIS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Ranking finds destroyed buildings far faster than random</a:t>
            </a:r>
          </a:p>
        </p:txBody>
      </p:sp>
      <p:pic>
        <p:nvPicPr>
          <p:cNvPr id="4" name="Picture 3" descr="fig14_capture_comparison.png"/>
          <p:cNvPicPr>
            <a:picLocks noChangeAspect="1"/>
          </p:cNvPicPr>
          <p:nvPr/>
        </p:nvPicPr>
        <p:blipFill>
          <a:blip r:embed="rId2"/>
          <a:stretch>
            <a:fillRect/>
          </a:stretch>
        </p:blipFill>
        <p:spPr>
          <a:xfrm>
            <a:off x="457199" y="1461255"/>
            <a:ext cx="6766560" cy="4758448"/>
          </a:xfrm>
          <a:prstGeom prst="rect">
            <a:avLst/>
          </a:prstGeom>
        </p:spPr>
      </p:pic>
      <p:sp>
        <p:nvSpPr>
          <p:cNvPr id="5" name="Rounded Rectangle 4"/>
          <p:cNvSpPr/>
          <p:nvPr/>
        </p:nvSpPr>
        <p:spPr>
          <a:xfrm>
            <a:off x="7589520" y="1554480"/>
            <a:ext cx="4069080" cy="1298448"/>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18120" y="1691639"/>
            <a:ext cx="1737360" cy="731520"/>
          </a:xfrm>
          <a:prstGeom prst="rect">
            <a:avLst/>
          </a:prstGeom>
          <a:noFill/>
        </p:spPr>
        <p:txBody>
          <a:bodyPr wrap="square" lIns="0" rIns="0" tIns="0" bIns="0" anchor="t">
            <a:spAutoFit/>
          </a:bodyPr>
          <a:lstStyle/>
          <a:p>
            <a:pPr algn="l"/>
            <a:r>
              <a:rPr sz="4000" b="1" i="0">
                <a:solidFill>
                  <a:srgbClr val="EB6834"/>
                </a:solidFill>
                <a:latin typeface="Cambria"/>
              </a:rPr>
              <a:t>28%</a:t>
            </a:r>
          </a:p>
        </p:txBody>
      </p:sp>
      <p:sp>
        <p:nvSpPr>
          <p:cNvPr id="7" name="TextBox 6"/>
          <p:cNvSpPr txBox="1"/>
          <p:nvPr/>
        </p:nvSpPr>
        <p:spPr>
          <a:xfrm>
            <a:off x="9555480" y="1737360"/>
            <a:ext cx="2011680" cy="1005840"/>
          </a:xfrm>
          <a:prstGeom prst="rect">
            <a:avLst/>
          </a:prstGeom>
          <a:noFill/>
        </p:spPr>
        <p:txBody>
          <a:bodyPr wrap="square" lIns="0" rIns="0" tIns="0" bIns="0" anchor="t">
            <a:spAutoFit/>
          </a:bodyPr>
          <a:lstStyle/>
          <a:p>
            <a:pPr algn="l">
              <a:spcAft>
                <a:spcPts val="300"/>
              </a:spcAft>
            </a:pPr>
            <a:r>
              <a:rPr sz="1350" b="0" i="0">
                <a:solidFill>
                  <a:srgbClr val="52514E"/>
                </a:solidFill>
                <a:latin typeface="Calibri"/>
              </a:rPr>
              <a:t>of grade-3 buildings found in the top 10%</a:t>
            </a:r>
          </a:p>
          <a:p>
            <a:pPr algn="l">
              <a:spcAft>
                <a:spcPts val="300"/>
              </a:spcAft>
            </a:pPr>
            <a:r>
              <a:rPr sz="1350" b="1" i="0">
                <a:solidFill>
                  <a:srgbClr val="142340"/>
                </a:solidFill>
                <a:latin typeface="Calibri"/>
              </a:rPr>
              <a:t>2.8× better than random</a:t>
            </a:r>
          </a:p>
        </p:txBody>
      </p:sp>
      <p:sp>
        <p:nvSpPr>
          <p:cNvPr id="8" name="Rounded Rectangle 7"/>
          <p:cNvSpPr/>
          <p:nvPr/>
        </p:nvSpPr>
        <p:spPr>
          <a:xfrm>
            <a:off x="7589520" y="3017520"/>
            <a:ext cx="4069080" cy="1298448"/>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3154679"/>
            <a:ext cx="1737360" cy="731520"/>
          </a:xfrm>
          <a:prstGeom prst="rect">
            <a:avLst/>
          </a:prstGeom>
          <a:noFill/>
        </p:spPr>
        <p:txBody>
          <a:bodyPr wrap="square" lIns="0" rIns="0" tIns="0" bIns="0" anchor="t">
            <a:spAutoFit/>
          </a:bodyPr>
          <a:lstStyle/>
          <a:p>
            <a:pPr algn="l"/>
            <a:r>
              <a:rPr sz="4000" b="1" i="0">
                <a:solidFill>
                  <a:srgbClr val="EB6834"/>
                </a:solidFill>
                <a:latin typeface="Cambria"/>
              </a:rPr>
              <a:t>51%</a:t>
            </a:r>
          </a:p>
        </p:txBody>
      </p:sp>
      <p:sp>
        <p:nvSpPr>
          <p:cNvPr id="10" name="TextBox 9"/>
          <p:cNvSpPr txBox="1"/>
          <p:nvPr/>
        </p:nvSpPr>
        <p:spPr>
          <a:xfrm>
            <a:off x="9555480" y="3200400"/>
            <a:ext cx="2011680" cy="1005840"/>
          </a:xfrm>
          <a:prstGeom prst="rect">
            <a:avLst/>
          </a:prstGeom>
          <a:noFill/>
        </p:spPr>
        <p:txBody>
          <a:bodyPr wrap="square" lIns="0" rIns="0" tIns="0" bIns="0" anchor="t">
            <a:spAutoFit/>
          </a:bodyPr>
          <a:lstStyle/>
          <a:p>
            <a:pPr algn="l">
              <a:spcAft>
                <a:spcPts val="300"/>
              </a:spcAft>
            </a:pPr>
            <a:r>
              <a:rPr sz="1350" b="0" i="0">
                <a:solidFill>
                  <a:srgbClr val="52514E"/>
                </a:solidFill>
                <a:latin typeface="Calibri"/>
              </a:rPr>
              <a:t>of grade-3 buildings found in the top 20%</a:t>
            </a:r>
          </a:p>
          <a:p>
            <a:pPr algn="l">
              <a:spcAft>
                <a:spcPts val="300"/>
              </a:spcAft>
            </a:pPr>
            <a:r>
              <a:rPr sz="1350" b="1" i="0">
                <a:solidFill>
                  <a:srgbClr val="142340"/>
                </a:solidFill>
                <a:latin typeface="Calibri"/>
              </a:rPr>
              <a:t>2.5× better than random</a:t>
            </a:r>
          </a:p>
        </p:txBody>
      </p:sp>
      <p:sp>
        <p:nvSpPr>
          <p:cNvPr id="11" name="Rounded Rectangle 10"/>
          <p:cNvSpPr/>
          <p:nvPr/>
        </p:nvSpPr>
        <p:spPr>
          <a:xfrm>
            <a:off x="7589520" y="4480560"/>
            <a:ext cx="4069080" cy="1298448"/>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617720"/>
            <a:ext cx="1737360" cy="731520"/>
          </a:xfrm>
          <a:prstGeom prst="rect">
            <a:avLst/>
          </a:prstGeom>
          <a:noFill/>
        </p:spPr>
        <p:txBody>
          <a:bodyPr wrap="square" lIns="0" rIns="0" tIns="0" bIns="0" anchor="t">
            <a:spAutoFit/>
          </a:bodyPr>
          <a:lstStyle/>
          <a:p>
            <a:pPr algn="l"/>
            <a:r>
              <a:rPr sz="4000" b="1" i="0">
                <a:solidFill>
                  <a:srgbClr val="EB6834"/>
                </a:solidFill>
                <a:latin typeface="Cambria"/>
              </a:rPr>
              <a:t>67%</a:t>
            </a:r>
          </a:p>
        </p:txBody>
      </p:sp>
      <p:sp>
        <p:nvSpPr>
          <p:cNvPr id="13" name="TextBox 12"/>
          <p:cNvSpPr txBox="1"/>
          <p:nvPr/>
        </p:nvSpPr>
        <p:spPr>
          <a:xfrm>
            <a:off x="9555480" y="4663440"/>
            <a:ext cx="2011680" cy="1005840"/>
          </a:xfrm>
          <a:prstGeom prst="rect">
            <a:avLst/>
          </a:prstGeom>
          <a:noFill/>
        </p:spPr>
        <p:txBody>
          <a:bodyPr wrap="square" lIns="0" rIns="0" tIns="0" bIns="0" anchor="t">
            <a:spAutoFit/>
          </a:bodyPr>
          <a:lstStyle/>
          <a:p>
            <a:pPr algn="l">
              <a:spcAft>
                <a:spcPts val="300"/>
              </a:spcAft>
            </a:pPr>
            <a:r>
              <a:rPr sz="1350" b="0" i="0">
                <a:solidFill>
                  <a:srgbClr val="52514E"/>
                </a:solidFill>
                <a:latin typeface="Calibri"/>
              </a:rPr>
              <a:t>of grade-3 buildings found in the top 30%</a:t>
            </a:r>
          </a:p>
          <a:p>
            <a:pPr algn="l">
              <a:spcAft>
                <a:spcPts val="300"/>
              </a:spcAft>
            </a:pPr>
            <a:r>
              <a:rPr sz="1350" b="1" i="0">
                <a:solidFill>
                  <a:srgbClr val="142340"/>
                </a:solidFill>
                <a:latin typeface="Calibri"/>
              </a:rPr>
              <a:t>2.2× better than random</a:t>
            </a:r>
          </a:p>
        </p:txBody>
      </p:sp>
      <p:sp>
        <p:nvSpPr>
          <p:cNvPr id="14" name="TextBox 13"/>
          <p:cNvSpPr txBox="1"/>
          <p:nvPr/>
        </p:nvSpPr>
        <p:spPr>
          <a:xfrm>
            <a:off x="7589520" y="5943600"/>
            <a:ext cx="4069080" cy="365760"/>
          </a:xfrm>
          <a:prstGeom prst="rect">
            <a:avLst/>
          </a:prstGeom>
          <a:noFill/>
        </p:spPr>
        <p:txBody>
          <a:bodyPr wrap="square" lIns="0" rIns="0" tIns="0" bIns="0" anchor="t">
            <a:spAutoFit/>
          </a:bodyPr>
          <a:lstStyle/>
          <a:p>
            <a:pPr algn="l"/>
            <a:r>
              <a:rPr sz="1200" b="0" i="0">
                <a:solidFill>
                  <a:srgbClr val="8A8984"/>
                </a:solidFill>
                <a:latin typeface="Calibri"/>
              </a:rPr>
              <a:t>HistGradientBoosting (final model); grade-3 ROC-AUC = 0.875</a:t>
            </a:r>
          </a:p>
        </p:txBody>
      </p:sp>
      <p:sp>
        <p:nvSpPr>
          <p:cNvPr id="15" name="TextBox 14"/>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6" name="TextBox 15"/>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EXPERIMENTAL STUDY AND ANALYSIS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What drives the predictions?</a:t>
            </a:r>
          </a:p>
        </p:txBody>
      </p:sp>
      <p:sp>
        <p:nvSpPr>
          <p:cNvPr id="4" name="TextBox 3"/>
          <p:cNvSpPr txBox="1"/>
          <p:nvPr/>
        </p:nvSpPr>
        <p:spPr>
          <a:xfrm>
            <a:off x="548640" y="1371600"/>
            <a:ext cx="5486400" cy="320040"/>
          </a:xfrm>
          <a:prstGeom prst="rect">
            <a:avLst/>
          </a:prstGeom>
          <a:noFill/>
        </p:spPr>
        <p:txBody>
          <a:bodyPr wrap="square" lIns="0" rIns="0" tIns="0" bIns="0" anchor="t">
            <a:spAutoFit/>
          </a:bodyPr>
          <a:lstStyle/>
          <a:p>
            <a:pPr algn="l"/>
            <a:r>
              <a:rPr sz="1500" b="1" i="0">
                <a:solidFill>
                  <a:srgbClr val="142340"/>
                </a:solidFill>
                <a:latin typeface="Calibri"/>
              </a:rPr>
              <a:t>Logistic regression: odds ratios for grade 3</a:t>
            </a:r>
          </a:p>
        </p:txBody>
      </p:sp>
      <p:pic>
        <p:nvPicPr>
          <p:cNvPr id="5" name="Picture 4" descr="fig11b_coefficients_slide.png"/>
          <p:cNvPicPr>
            <a:picLocks noChangeAspect="1"/>
          </p:cNvPicPr>
          <p:nvPr/>
        </p:nvPicPr>
        <p:blipFill>
          <a:blip r:embed="rId2"/>
          <a:stretch>
            <a:fillRect/>
          </a:stretch>
        </p:blipFill>
        <p:spPr>
          <a:xfrm>
            <a:off x="457200" y="1988594"/>
            <a:ext cx="5486400" cy="3703771"/>
          </a:xfrm>
          <a:prstGeom prst="rect">
            <a:avLst/>
          </a:prstGeom>
        </p:spPr>
      </p:pic>
      <p:sp>
        <p:nvSpPr>
          <p:cNvPr id="6" name="TextBox 5"/>
          <p:cNvSpPr txBox="1"/>
          <p:nvPr/>
        </p:nvSpPr>
        <p:spPr>
          <a:xfrm>
            <a:off x="6309360" y="1371600"/>
            <a:ext cx="5394960" cy="320040"/>
          </a:xfrm>
          <a:prstGeom prst="rect">
            <a:avLst/>
          </a:prstGeom>
          <a:noFill/>
        </p:spPr>
        <p:txBody>
          <a:bodyPr wrap="square" lIns="0" rIns="0" tIns="0" bIns="0" anchor="t">
            <a:spAutoFit/>
          </a:bodyPr>
          <a:lstStyle/>
          <a:p>
            <a:pPr algn="l"/>
            <a:r>
              <a:rPr sz="1500" b="1" i="0">
                <a:solidFill>
                  <a:srgbClr val="142340"/>
                </a:solidFill>
                <a:latin typeface="Calibri"/>
              </a:rPr>
              <a:t>All three models: permutation importance</a:t>
            </a:r>
          </a:p>
        </p:txBody>
      </p:sp>
      <p:pic>
        <p:nvPicPr>
          <p:cNvPr id="7" name="Picture 6" descr="fig16b_importance_slide.png"/>
          <p:cNvPicPr>
            <a:picLocks noChangeAspect="1"/>
          </p:cNvPicPr>
          <p:nvPr/>
        </p:nvPicPr>
        <p:blipFill>
          <a:blip r:embed="rId3"/>
          <a:stretch>
            <a:fillRect/>
          </a:stretch>
        </p:blipFill>
        <p:spPr>
          <a:xfrm>
            <a:off x="6217920" y="1930388"/>
            <a:ext cx="5486400" cy="3820182"/>
          </a:xfrm>
          <a:prstGeom prst="rect">
            <a:avLst/>
          </a:prstGeom>
        </p:spPr>
      </p:pic>
      <p:sp>
        <p:nvSpPr>
          <p:cNvPr id="8" name="Rounded Rectangle 7"/>
          <p:cNvSpPr/>
          <p:nvPr/>
        </p:nvSpPr>
        <p:spPr>
          <a:xfrm>
            <a:off x="548640" y="5943600"/>
            <a:ext cx="11109960" cy="384048"/>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980176"/>
            <a:ext cx="10789920" cy="320040"/>
          </a:xfrm>
          <a:prstGeom prst="rect">
            <a:avLst/>
          </a:prstGeom>
          <a:noFill/>
        </p:spPr>
        <p:txBody>
          <a:bodyPr wrap="square" lIns="0" rIns="0" tIns="0" bIns="0" anchor="t">
            <a:spAutoFit/>
          </a:bodyPr>
          <a:lstStyle/>
          <a:p>
            <a:pPr algn="l"/>
            <a:r>
              <a:rPr sz="1300" b="0" i="0">
                <a:solidFill>
                  <a:srgbClr val="52514E"/>
                </a:solidFill>
                <a:latin typeface="Calibri"/>
              </a:rPr>
              <a:t>Mud-mortar stone </a:t>
            </a:r>
            <a:r>
              <a:rPr sz="1300" b="1" i="0">
                <a:solidFill>
                  <a:srgbClr val="EB6834"/>
                </a:solidFill>
                <a:latin typeface="Calibri"/>
              </a:rPr>
              <a:t>×1.38</a:t>
            </a:r>
            <a:r>
              <a:rPr sz="1300" b="0" i="0">
                <a:solidFill>
                  <a:srgbClr val="52514E"/>
                </a:solidFill>
                <a:latin typeface="Calibri"/>
              </a:rPr>
              <a:t>   Engineered RC </a:t>
            </a:r>
            <a:r>
              <a:rPr sz="1300" b="1" i="0">
                <a:solidFill>
                  <a:srgbClr val="104281"/>
                </a:solidFill>
                <a:latin typeface="Calibri"/>
              </a:rPr>
              <a:t>×0.84</a:t>
            </a:r>
            <a:r>
              <a:rPr sz="1300" b="0" i="0">
                <a:solidFill>
                  <a:srgbClr val="52514E"/>
                </a:solidFill>
                <a:latin typeface="Calibri"/>
              </a:rPr>
              <a:t>   ·   location ranks first for every model; trees say how much, LR also says which direction</a:t>
            </a:r>
          </a:p>
        </p:txBody>
      </p:sp>
      <p:sp>
        <p:nvSpPr>
          <p:cNvPr id="10" name="TextBox 9"/>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11" name="TextBox 10"/>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SUMMARY OF PROJECT ACHIEVEMENTS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What we delivered</a:t>
            </a:r>
          </a:p>
        </p:txBody>
      </p:sp>
      <p:sp>
        <p:nvSpPr>
          <p:cNvPr id="4" name="Rounded Rectangle 3"/>
          <p:cNvSpPr/>
          <p:nvPr/>
        </p:nvSpPr>
        <p:spPr>
          <a:xfrm>
            <a:off x="548640" y="160020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3108960" cy="731520"/>
          </a:xfrm>
          <a:prstGeom prst="rect">
            <a:avLst/>
          </a:prstGeom>
          <a:noFill/>
        </p:spPr>
        <p:txBody>
          <a:bodyPr wrap="square" lIns="0" rIns="0" tIns="0" bIns="0" anchor="t">
            <a:spAutoFit/>
          </a:bodyPr>
          <a:lstStyle/>
          <a:p>
            <a:pPr algn="l"/>
            <a:r>
              <a:rPr sz="3600" b="1" i="0">
                <a:solidFill>
                  <a:srgbClr val="EB6834"/>
                </a:solidFill>
                <a:latin typeface="Cambria"/>
              </a:rPr>
              <a:t>0.750</a:t>
            </a:r>
          </a:p>
        </p:txBody>
      </p:sp>
      <p:sp>
        <p:nvSpPr>
          <p:cNvPr id="6" name="TextBox 5"/>
          <p:cNvSpPr txBox="1"/>
          <p:nvPr/>
        </p:nvSpPr>
        <p:spPr>
          <a:xfrm>
            <a:off x="822959" y="2514600"/>
            <a:ext cx="3108960" cy="365760"/>
          </a:xfrm>
          <a:prstGeom prst="rect">
            <a:avLst/>
          </a:prstGeom>
          <a:noFill/>
        </p:spPr>
        <p:txBody>
          <a:bodyPr wrap="square" lIns="0" rIns="0" tIns="0" bIns="0" anchor="t">
            <a:spAutoFit/>
          </a:bodyPr>
          <a:lstStyle/>
          <a:p>
            <a:pPr algn="l"/>
            <a:r>
              <a:rPr sz="1600" b="1" i="0">
                <a:solidFill>
                  <a:srgbClr val="142340"/>
                </a:solidFill>
                <a:latin typeface="Calibri"/>
              </a:rPr>
              <a:t>holdout micro-F1</a:t>
            </a:r>
          </a:p>
        </p:txBody>
      </p:sp>
      <p:sp>
        <p:nvSpPr>
          <p:cNvPr id="7" name="TextBox 6"/>
          <p:cNvSpPr txBox="1"/>
          <p:nvPr/>
        </p:nvSpPr>
        <p:spPr>
          <a:xfrm>
            <a:off x="822959" y="2926080"/>
            <a:ext cx="3108960" cy="731520"/>
          </a:xfrm>
          <a:prstGeom prst="rect">
            <a:avLst/>
          </a:prstGeom>
          <a:noFill/>
        </p:spPr>
        <p:txBody>
          <a:bodyPr wrap="square" lIns="0" rIns="0" tIns="0" bIns="0" anchor="t">
            <a:spAutoFit/>
          </a:bodyPr>
          <a:lstStyle/>
          <a:p>
            <a:pPr algn="l"/>
            <a:r>
              <a:rPr sz="1300" b="0" i="0">
                <a:solidFill>
                  <a:srgbClr val="52514E"/>
                </a:solidFill>
                <a:latin typeface="Calibri"/>
              </a:rPr>
              <a:t>HistGradientBoosting vs 0.569 for the majority baseline</a:t>
            </a:r>
          </a:p>
        </p:txBody>
      </p:sp>
      <p:sp>
        <p:nvSpPr>
          <p:cNvPr id="8" name="Rounded Rectangle 7"/>
          <p:cNvSpPr/>
          <p:nvPr/>
        </p:nvSpPr>
        <p:spPr>
          <a:xfrm>
            <a:off x="4315968" y="160020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0288" y="1783080"/>
            <a:ext cx="3108960" cy="731520"/>
          </a:xfrm>
          <a:prstGeom prst="rect">
            <a:avLst/>
          </a:prstGeom>
          <a:noFill/>
        </p:spPr>
        <p:txBody>
          <a:bodyPr wrap="square" lIns="0" rIns="0" tIns="0" bIns="0" anchor="t">
            <a:spAutoFit/>
          </a:bodyPr>
          <a:lstStyle/>
          <a:p>
            <a:pPr algn="l"/>
            <a:r>
              <a:rPr sz="3600" b="1" i="0">
                <a:solidFill>
                  <a:srgbClr val="EB6834"/>
                </a:solidFill>
                <a:latin typeface="Cambria"/>
              </a:rPr>
              <a:t>51%</a:t>
            </a:r>
          </a:p>
        </p:txBody>
      </p:sp>
      <p:sp>
        <p:nvSpPr>
          <p:cNvPr id="10" name="TextBox 9"/>
          <p:cNvSpPr txBox="1"/>
          <p:nvPr/>
        </p:nvSpPr>
        <p:spPr>
          <a:xfrm>
            <a:off x="4590288" y="2514600"/>
            <a:ext cx="3108960" cy="365760"/>
          </a:xfrm>
          <a:prstGeom prst="rect">
            <a:avLst/>
          </a:prstGeom>
          <a:noFill/>
        </p:spPr>
        <p:txBody>
          <a:bodyPr wrap="square" lIns="0" rIns="0" tIns="0" bIns="0" anchor="t">
            <a:spAutoFit/>
          </a:bodyPr>
          <a:lstStyle/>
          <a:p>
            <a:pPr algn="l"/>
            <a:r>
              <a:rPr sz="1600" b="1" i="0">
                <a:solidFill>
                  <a:srgbClr val="142340"/>
                </a:solidFill>
                <a:latin typeface="Calibri"/>
              </a:rPr>
              <a:t>of destroyed buildings</a:t>
            </a:r>
          </a:p>
        </p:txBody>
      </p:sp>
      <p:sp>
        <p:nvSpPr>
          <p:cNvPr id="11" name="TextBox 10"/>
          <p:cNvSpPr txBox="1"/>
          <p:nvPr/>
        </p:nvSpPr>
        <p:spPr>
          <a:xfrm>
            <a:off x="4590288" y="2926080"/>
            <a:ext cx="3108960" cy="731520"/>
          </a:xfrm>
          <a:prstGeom prst="rect">
            <a:avLst/>
          </a:prstGeom>
          <a:noFill/>
        </p:spPr>
        <p:txBody>
          <a:bodyPr wrap="square" lIns="0" rIns="0" tIns="0" bIns="0" anchor="t">
            <a:spAutoFit/>
          </a:bodyPr>
          <a:lstStyle/>
          <a:p>
            <a:pPr algn="l"/>
            <a:r>
              <a:rPr sz="1300" b="0" i="0">
                <a:solidFill>
                  <a:srgbClr val="52514E"/>
                </a:solidFill>
                <a:latin typeface="Calibri"/>
              </a:rPr>
              <a:t>found by inspecting just the top 20% of the ranked list</a:t>
            </a:r>
          </a:p>
        </p:txBody>
      </p:sp>
      <p:sp>
        <p:nvSpPr>
          <p:cNvPr id="12" name="Rounded Rectangle 11"/>
          <p:cNvSpPr/>
          <p:nvPr/>
        </p:nvSpPr>
        <p:spPr>
          <a:xfrm>
            <a:off x="8083296" y="160020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57616" y="1783080"/>
            <a:ext cx="3108960" cy="731520"/>
          </a:xfrm>
          <a:prstGeom prst="rect">
            <a:avLst/>
          </a:prstGeom>
          <a:noFill/>
        </p:spPr>
        <p:txBody>
          <a:bodyPr wrap="square" lIns="0" rIns="0" tIns="0" bIns="0" anchor="t">
            <a:spAutoFit/>
          </a:bodyPr>
          <a:lstStyle/>
          <a:p>
            <a:pPr algn="l"/>
            <a:r>
              <a:rPr sz="3600" b="1" i="0">
                <a:solidFill>
                  <a:srgbClr val="142340"/>
                </a:solidFill>
                <a:latin typeface="Cambria"/>
              </a:rPr>
              <a:t>+6.3 pp</a:t>
            </a:r>
          </a:p>
        </p:txBody>
      </p:sp>
      <p:sp>
        <p:nvSpPr>
          <p:cNvPr id="14" name="TextBox 13"/>
          <p:cNvSpPr txBox="1"/>
          <p:nvPr/>
        </p:nvSpPr>
        <p:spPr>
          <a:xfrm>
            <a:off x="8357616" y="2514600"/>
            <a:ext cx="3108960" cy="365760"/>
          </a:xfrm>
          <a:prstGeom prst="rect">
            <a:avLst/>
          </a:prstGeom>
          <a:noFill/>
        </p:spPr>
        <p:txBody>
          <a:bodyPr wrap="square" lIns="0" rIns="0" tIns="0" bIns="0" anchor="t">
            <a:spAutoFit/>
          </a:bodyPr>
          <a:lstStyle/>
          <a:p>
            <a:pPr algn="l"/>
            <a:r>
              <a:rPr sz="1600" b="1" i="0">
                <a:solidFill>
                  <a:srgbClr val="142340"/>
                </a:solidFill>
                <a:latin typeface="Calibri"/>
              </a:rPr>
              <a:t>from geo target encoding</a:t>
            </a:r>
          </a:p>
        </p:txBody>
      </p:sp>
      <p:sp>
        <p:nvSpPr>
          <p:cNvPr id="15" name="TextBox 14"/>
          <p:cNvSpPr txBox="1"/>
          <p:nvPr/>
        </p:nvSpPr>
        <p:spPr>
          <a:xfrm>
            <a:off x="8357616" y="2926080"/>
            <a:ext cx="3108960" cy="731520"/>
          </a:xfrm>
          <a:prstGeom prst="rect">
            <a:avLst/>
          </a:prstGeom>
          <a:noFill/>
        </p:spPr>
        <p:txBody>
          <a:bodyPr wrap="square" lIns="0" rIns="0" tIns="0" bIns="0" anchor="t">
            <a:spAutoFit/>
          </a:bodyPr>
          <a:lstStyle/>
          <a:p>
            <a:pPr algn="l"/>
            <a:r>
              <a:rPr sz="1300" b="0" i="0">
                <a:solidFill>
                  <a:srgbClr val="52514E"/>
                </a:solidFill>
                <a:latin typeface="Calibri"/>
              </a:rPr>
              <a:t>leakage-safe encoding of 11,595 villages</a:t>
            </a:r>
          </a:p>
        </p:txBody>
      </p:sp>
      <p:sp>
        <p:nvSpPr>
          <p:cNvPr id="16" name="Rounded Rectangle 15"/>
          <p:cNvSpPr/>
          <p:nvPr/>
        </p:nvSpPr>
        <p:spPr>
          <a:xfrm>
            <a:off x="548640" y="393192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114800"/>
            <a:ext cx="3108960" cy="731520"/>
          </a:xfrm>
          <a:prstGeom prst="rect">
            <a:avLst/>
          </a:prstGeom>
          <a:noFill/>
        </p:spPr>
        <p:txBody>
          <a:bodyPr wrap="square" lIns="0" rIns="0" tIns="0" bIns="0" anchor="t">
            <a:spAutoFit/>
          </a:bodyPr>
          <a:lstStyle/>
          <a:p>
            <a:pPr algn="l"/>
            <a:r>
              <a:rPr sz="3600" b="1" i="0">
                <a:solidFill>
                  <a:srgbClr val="142340"/>
                </a:solidFill>
                <a:latin typeface="Cambria"/>
              </a:rPr>
              <a:t>3</a:t>
            </a:r>
          </a:p>
        </p:txBody>
      </p:sp>
      <p:sp>
        <p:nvSpPr>
          <p:cNvPr id="18" name="TextBox 17"/>
          <p:cNvSpPr txBox="1"/>
          <p:nvPr/>
        </p:nvSpPr>
        <p:spPr>
          <a:xfrm>
            <a:off x="822959" y="4846320"/>
            <a:ext cx="3108960" cy="365760"/>
          </a:xfrm>
          <a:prstGeom prst="rect">
            <a:avLst/>
          </a:prstGeom>
          <a:noFill/>
        </p:spPr>
        <p:txBody>
          <a:bodyPr wrap="square" lIns="0" rIns="0" tIns="0" bIns="0" anchor="t">
            <a:spAutoFit/>
          </a:bodyPr>
          <a:lstStyle/>
          <a:p>
            <a:pPr algn="l"/>
            <a:r>
              <a:rPr sz="1600" b="1" i="0">
                <a:solidFill>
                  <a:srgbClr val="142340"/>
                </a:solidFill>
                <a:latin typeface="Calibri"/>
              </a:rPr>
              <a:t>models compared fairly</a:t>
            </a:r>
          </a:p>
        </p:txBody>
      </p:sp>
      <p:sp>
        <p:nvSpPr>
          <p:cNvPr id="19" name="TextBox 18"/>
          <p:cNvSpPr txBox="1"/>
          <p:nvPr/>
        </p:nvSpPr>
        <p:spPr>
          <a:xfrm>
            <a:off x="822959" y="5257800"/>
            <a:ext cx="3108960" cy="731520"/>
          </a:xfrm>
          <a:prstGeom prst="rect">
            <a:avLst/>
          </a:prstGeom>
          <a:noFill/>
        </p:spPr>
        <p:txBody>
          <a:bodyPr wrap="square" lIns="0" rIns="0" tIns="0" bIns="0" anchor="t">
            <a:spAutoFit/>
          </a:bodyPr>
          <a:lstStyle/>
          <a:p>
            <a:pPr algn="l"/>
            <a:r>
              <a:rPr sz="1300" b="0" i="0">
                <a:solidFill>
                  <a:srgbClr val="52514E"/>
                </a:solidFill>
                <a:latin typeface="Calibri"/>
              </a:rPr>
              <a:t>same features and folds; trees +0.98 pp over LR in CV</a:t>
            </a:r>
          </a:p>
        </p:txBody>
      </p:sp>
      <p:sp>
        <p:nvSpPr>
          <p:cNvPr id="20" name="Rounded Rectangle 19"/>
          <p:cNvSpPr/>
          <p:nvPr/>
        </p:nvSpPr>
        <p:spPr>
          <a:xfrm>
            <a:off x="4315968" y="393192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0288" y="4114800"/>
            <a:ext cx="3108960" cy="731520"/>
          </a:xfrm>
          <a:prstGeom prst="rect">
            <a:avLst/>
          </a:prstGeom>
          <a:noFill/>
        </p:spPr>
        <p:txBody>
          <a:bodyPr wrap="square" lIns="0" rIns="0" tIns="0" bIns="0" anchor="t">
            <a:spAutoFit/>
          </a:bodyPr>
          <a:lstStyle/>
          <a:p>
            <a:pPr algn="l"/>
            <a:r>
              <a:rPr sz="3600" b="1" i="0">
                <a:solidFill>
                  <a:srgbClr val="142340"/>
                </a:solidFill>
                <a:latin typeface="Cambria"/>
              </a:rPr>
              <a:t>7</a:t>
            </a:r>
          </a:p>
        </p:txBody>
      </p:sp>
      <p:sp>
        <p:nvSpPr>
          <p:cNvPr id="22" name="TextBox 21"/>
          <p:cNvSpPr txBox="1"/>
          <p:nvPr/>
        </p:nvSpPr>
        <p:spPr>
          <a:xfrm>
            <a:off x="4590288" y="4846320"/>
            <a:ext cx="3108960" cy="365760"/>
          </a:xfrm>
          <a:prstGeom prst="rect">
            <a:avLst/>
          </a:prstGeom>
          <a:noFill/>
        </p:spPr>
        <p:txBody>
          <a:bodyPr wrap="square" lIns="0" rIns="0" tIns="0" bIns="0" anchor="t">
            <a:spAutoFit/>
          </a:bodyPr>
          <a:lstStyle/>
          <a:p>
            <a:pPr algn="l"/>
            <a:r>
              <a:rPr sz="1600" b="1" i="0">
                <a:solidFill>
                  <a:srgbClr val="142340"/>
                </a:solidFill>
                <a:latin typeface="Calibri"/>
              </a:rPr>
              <a:t>controlled LR experiments</a:t>
            </a:r>
          </a:p>
        </p:txBody>
      </p:sp>
      <p:sp>
        <p:nvSpPr>
          <p:cNvPr id="23" name="TextBox 22"/>
          <p:cNvSpPr txBox="1"/>
          <p:nvPr/>
        </p:nvSpPr>
        <p:spPr>
          <a:xfrm>
            <a:off x="4590288" y="5257800"/>
            <a:ext cx="3108960" cy="731520"/>
          </a:xfrm>
          <a:prstGeom prst="rect">
            <a:avLst/>
          </a:prstGeom>
          <a:noFill/>
        </p:spPr>
        <p:txBody>
          <a:bodyPr wrap="square" lIns="0" rIns="0" tIns="0" bIns="0" anchor="t">
            <a:spAutoFit/>
          </a:bodyPr>
          <a:lstStyle/>
          <a:p>
            <a:pPr algn="l"/>
            <a:r>
              <a:rPr sz="1300" b="0" i="0">
                <a:solidFill>
                  <a:srgbClr val="52514E"/>
                </a:solidFill>
                <a:latin typeface="Calibri"/>
              </a:rPr>
              <a:t>incl. an honest negative result for the ordinal model</a:t>
            </a:r>
          </a:p>
        </p:txBody>
      </p:sp>
      <p:sp>
        <p:nvSpPr>
          <p:cNvPr id="24" name="Rounded Rectangle 23"/>
          <p:cNvSpPr/>
          <p:nvPr/>
        </p:nvSpPr>
        <p:spPr>
          <a:xfrm>
            <a:off x="8083296" y="3931920"/>
            <a:ext cx="3566160" cy="2103120"/>
          </a:xfrm>
          <a:prstGeom prst="roundRect">
            <a:avLst>
              <a:gd name="adj" fmla="val 8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7616" y="4114800"/>
            <a:ext cx="3108960" cy="731520"/>
          </a:xfrm>
          <a:prstGeom prst="rect">
            <a:avLst/>
          </a:prstGeom>
          <a:noFill/>
        </p:spPr>
        <p:txBody>
          <a:bodyPr wrap="square" lIns="0" rIns="0" tIns="0" bIns="0" anchor="t">
            <a:spAutoFit/>
          </a:bodyPr>
          <a:lstStyle/>
          <a:p>
            <a:pPr algn="l"/>
            <a:r>
              <a:rPr sz="3600" b="1" i="0">
                <a:solidFill>
                  <a:srgbClr val="142340"/>
                </a:solidFill>
                <a:latin typeface="Cambria"/>
              </a:rPr>
              <a:t>1</a:t>
            </a:r>
          </a:p>
        </p:txBody>
      </p:sp>
      <p:sp>
        <p:nvSpPr>
          <p:cNvPr id="26" name="TextBox 25"/>
          <p:cNvSpPr txBox="1"/>
          <p:nvPr/>
        </p:nvSpPr>
        <p:spPr>
          <a:xfrm>
            <a:off x="8357616" y="4846320"/>
            <a:ext cx="3108960" cy="365760"/>
          </a:xfrm>
          <a:prstGeom prst="rect">
            <a:avLst/>
          </a:prstGeom>
          <a:noFill/>
        </p:spPr>
        <p:txBody>
          <a:bodyPr wrap="square" lIns="0" rIns="0" tIns="0" bIns="0" anchor="t">
            <a:spAutoFit/>
          </a:bodyPr>
          <a:lstStyle/>
          <a:p>
            <a:pPr algn="l"/>
            <a:r>
              <a:rPr sz="1600" b="1" i="0">
                <a:solidFill>
                  <a:srgbClr val="142340"/>
                </a:solidFill>
                <a:latin typeface="Calibri"/>
              </a:rPr>
              <a:t>command to reproduce</a:t>
            </a:r>
          </a:p>
        </p:txBody>
      </p:sp>
      <p:sp>
        <p:nvSpPr>
          <p:cNvPr id="27" name="TextBox 26"/>
          <p:cNvSpPr txBox="1"/>
          <p:nvPr/>
        </p:nvSpPr>
        <p:spPr>
          <a:xfrm>
            <a:off x="8357616" y="5257800"/>
            <a:ext cx="3108960" cy="731520"/>
          </a:xfrm>
          <a:prstGeom prst="rect">
            <a:avLst/>
          </a:prstGeom>
          <a:noFill/>
        </p:spPr>
        <p:txBody>
          <a:bodyPr wrap="square" lIns="0" rIns="0" tIns="0" bIns="0" anchor="t">
            <a:spAutoFit/>
          </a:bodyPr>
          <a:lstStyle/>
          <a:p>
            <a:pPr algn="l"/>
            <a:r>
              <a:rPr sz="1300" b="0" i="0">
                <a:solidFill>
                  <a:srgbClr val="52514E"/>
                </a:solidFill>
                <a:latin typeface="Calibri"/>
              </a:rPr>
              <a:t>python -m src.run_all → figures, results.json, report, slides</a:t>
            </a:r>
          </a:p>
        </p:txBody>
      </p:sp>
      <p:sp>
        <p:nvSpPr>
          <p:cNvPr id="28" name="TextBox 27"/>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29" name="TextBox 28"/>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ection label"/>
          <p:cNvSpPr txBox="1"/>
          <p:nvPr/>
        </p:nvSpPr>
        <p:spPr>
          <a:xfrm>
            <a:off x="548640" y="347472"/>
            <a:ext cx="9144000" cy="274320"/>
          </a:xfrm>
          <a:prstGeom prst="rect">
            <a:avLst/>
          </a:prstGeom>
          <a:noFill/>
        </p:spPr>
        <p:txBody>
          <a:bodyPr wrap="square" lIns="0" rIns="0" tIns="0" bIns="0" anchor="t">
            <a:spAutoFit/>
          </a:bodyPr>
          <a:lstStyle/>
          <a:p>
            <a:pPr algn="l"/>
            <a:r>
              <a:rPr sz="1200" b="1" i="0">
                <a:solidFill>
                  <a:srgbClr val="EB6834"/>
                </a:solidFill>
                <a:latin typeface="Calibri"/>
              </a:rPr>
              <a:t>FUTURE DIRECTIONS FOR FURTHER IMPROVEMENTS</a:t>
            </a:r>
          </a:p>
        </p:txBody>
      </p:sp>
      <p:sp>
        <p:nvSpPr>
          <p:cNvPr id="3" name="Title"/>
          <p:cNvSpPr txBox="1"/>
          <p:nvPr/>
        </p:nvSpPr>
        <p:spPr>
          <a:xfrm>
            <a:off x="548640" y="621792"/>
            <a:ext cx="11064240" cy="731520"/>
          </a:xfrm>
          <a:prstGeom prst="rect">
            <a:avLst/>
          </a:prstGeom>
          <a:noFill/>
        </p:spPr>
        <p:txBody>
          <a:bodyPr wrap="square" lIns="0" rIns="0" tIns="0" bIns="0" anchor="t">
            <a:spAutoFit/>
          </a:bodyPr>
          <a:lstStyle/>
          <a:p>
            <a:pPr algn="l"/>
            <a:r>
              <a:rPr sz="3000" b="1" i="0">
                <a:solidFill>
                  <a:srgbClr val="142340"/>
                </a:solidFill>
                <a:latin typeface="Cambria"/>
              </a:rPr>
              <a:t>Where we would go next</a:t>
            </a:r>
          </a:p>
        </p:txBody>
      </p:sp>
      <p:sp>
        <p:nvSpPr>
          <p:cNvPr id="4" name="Oval 3"/>
          <p:cNvSpPr/>
          <p:nvPr/>
        </p:nvSpPr>
        <p:spPr>
          <a:xfrm>
            <a:off x="548640" y="160020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143000" y="1554480"/>
            <a:ext cx="4846320" cy="365760"/>
          </a:xfrm>
          <a:prstGeom prst="rect">
            <a:avLst/>
          </a:prstGeom>
          <a:noFill/>
        </p:spPr>
        <p:txBody>
          <a:bodyPr wrap="square" lIns="0" rIns="0" tIns="0" bIns="0" anchor="t">
            <a:spAutoFit/>
          </a:bodyPr>
          <a:lstStyle/>
          <a:p>
            <a:pPr algn="l"/>
            <a:r>
              <a:rPr sz="1700" b="1" i="0">
                <a:solidFill>
                  <a:srgbClr val="142340"/>
                </a:solidFill>
                <a:latin typeface="Calibri"/>
              </a:rPr>
              <a:t>Richer location signal</a:t>
            </a:r>
          </a:p>
        </p:txBody>
      </p:sp>
      <p:sp>
        <p:nvSpPr>
          <p:cNvPr id="6" name="TextBox 5"/>
          <p:cNvSpPr txBox="1"/>
          <p:nvPr/>
        </p:nvSpPr>
        <p:spPr>
          <a:xfrm>
            <a:off x="1143000" y="1938528"/>
            <a:ext cx="4846320" cy="914400"/>
          </a:xfrm>
          <a:prstGeom prst="rect">
            <a:avLst/>
          </a:prstGeom>
          <a:noFill/>
        </p:spPr>
        <p:txBody>
          <a:bodyPr wrap="square" lIns="0" rIns="0" tIns="0" bIns="0" anchor="t">
            <a:spAutoFit/>
          </a:bodyPr>
          <a:lstStyle/>
          <a:p>
            <a:pPr algn="l"/>
            <a:r>
              <a:rPr sz="1400" b="0" i="0">
                <a:solidFill>
                  <a:srgbClr val="52514E"/>
                </a:solidFill>
                <a:latin typeface="Calibri"/>
              </a:rPr>
              <a:t>Add measured ground shaking (USGS ShakeMap PGA) and distance to the epicentre instead of using region ids as proxies.</a:t>
            </a:r>
          </a:p>
        </p:txBody>
      </p:sp>
      <p:sp>
        <p:nvSpPr>
          <p:cNvPr id="7" name="Oval 6"/>
          <p:cNvSpPr/>
          <p:nvPr/>
        </p:nvSpPr>
        <p:spPr>
          <a:xfrm>
            <a:off x="6172200" y="160020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6766560" y="1554480"/>
            <a:ext cx="4846320" cy="365760"/>
          </a:xfrm>
          <a:prstGeom prst="rect">
            <a:avLst/>
          </a:prstGeom>
          <a:noFill/>
        </p:spPr>
        <p:txBody>
          <a:bodyPr wrap="square" lIns="0" rIns="0" tIns="0" bIns="0" anchor="t">
            <a:spAutoFit/>
          </a:bodyPr>
          <a:lstStyle/>
          <a:p>
            <a:pPr algn="l"/>
            <a:r>
              <a:rPr sz="1700" b="1" i="0">
                <a:solidFill>
                  <a:srgbClr val="142340"/>
                </a:solidFill>
                <a:latin typeface="Calibri"/>
              </a:rPr>
              <a:t>Interactions for LR</a:t>
            </a:r>
          </a:p>
        </p:txBody>
      </p:sp>
      <p:sp>
        <p:nvSpPr>
          <p:cNvPr id="9" name="TextBox 8"/>
          <p:cNvSpPr txBox="1"/>
          <p:nvPr/>
        </p:nvSpPr>
        <p:spPr>
          <a:xfrm>
            <a:off x="6766560" y="1938528"/>
            <a:ext cx="4846320" cy="914400"/>
          </a:xfrm>
          <a:prstGeom prst="rect">
            <a:avLst/>
          </a:prstGeom>
          <a:noFill/>
        </p:spPr>
        <p:txBody>
          <a:bodyPr wrap="square" lIns="0" rIns="0" tIns="0" bIns="0" anchor="t">
            <a:spAutoFit/>
          </a:bodyPr>
          <a:lstStyle/>
          <a:p>
            <a:pPr algn="l"/>
            <a:r>
              <a:rPr sz="1400" b="0" i="0">
                <a:solidFill>
                  <a:srgbClr val="52514E"/>
                </a:solidFill>
                <a:latin typeface="Calibri"/>
              </a:rPr>
              <a:t>Material × region and floors × age terms or splines, to close the gap to the trees while staying interpretable.</a:t>
            </a:r>
          </a:p>
        </p:txBody>
      </p:sp>
      <p:sp>
        <p:nvSpPr>
          <p:cNvPr id="10" name="Oval 9"/>
          <p:cNvSpPr/>
          <p:nvPr/>
        </p:nvSpPr>
        <p:spPr>
          <a:xfrm>
            <a:off x="548640" y="3063239"/>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143000" y="3017520"/>
            <a:ext cx="4846320" cy="365760"/>
          </a:xfrm>
          <a:prstGeom prst="rect">
            <a:avLst/>
          </a:prstGeom>
          <a:noFill/>
        </p:spPr>
        <p:txBody>
          <a:bodyPr wrap="square" lIns="0" rIns="0" tIns="0" bIns="0" anchor="t">
            <a:spAutoFit/>
          </a:bodyPr>
          <a:lstStyle/>
          <a:p>
            <a:pPr algn="l"/>
            <a:r>
              <a:rPr sz="1700" b="1" i="0">
                <a:solidFill>
                  <a:srgbClr val="142340"/>
                </a:solidFill>
                <a:latin typeface="Calibri"/>
              </a:rPr>
              <a:t>Explain the ensembles</a:t>
            </a:r>
          </a:p>
        </p:txBody>
      </p:sp>
      <p:sp>
        <p:nvSpPr>
          <p:cNvPr id="12" name="TextBox 11"/>
          <p:cNvSpPr txBox="1"/>
          <p:nvPr/>
        </p:nvSpPr>
        <p:spPr>
          <a:xfrm>
            <a:off x="1143000" y="3401568"/>
            <a:ext cx="4846320" cy="914400"/>
          </a:xfrm>
          <a:prstGeom prst="rect">
            <a:avLst/>
          </a:prstGeom>
          <a:noFill/>
        </p:spPr>
        <p:txBody>
          <a:bodyPr wrap="square" lIns="0" rIns="0" tIns="0" bIns="0" anchor="t">
            <a:spAutoFit/>
          </a:bodyPr>
          <a:lstStyle/>
          <a:p>
            <a:pPr algn="l"/>
            <a:r>
              <a:rPr sz="1400" b="0" i="0">
                <a:solidFill>
                  <a:srgbClr val="52514E"/>
                </a:solidFill>
                <a:latin typeface="Calibri"/>
              </a:rPr>
              <a:t>SHAP values for per-building explanations of the tree models, and wider tuning (LightGBM, CatBoost).</a:t>
            </a:r>
          </a:p>
        </p:txBody>
      </p:sp>
      <p:sp>
        <p:nvSpPr>
          <p:cNvPr id="13" name="Oval 12"/>
          <p:cNvSpPr/>
          <p:nvPr/>
        </p:nvSpPr>
        <p:spPr>
          <a:xfrm>
            <a:off x="6172200" y="3063239"/>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6766560" y="3017520"/>
            <a:ext cx="4846320" cy="365760"/>
          </a:xfrm>
          <a:prstGeom prst="rect">
            <a:avLst/>
          </a:prstGeom>
          <a:noFill/>
        </p:spPr>
        <p:txBody>
          <a:bodyPr wrap="square" lIns="0" rIns="0" tIns="0" bIns="0" anchor="t">
            <a:spAutoFit/>
          </a:bodyPr>
          <a:lstStyle/>
          <a:p>
            <a:pPr algn="l"/>
            <a:r>
              <a:rPr sz="1700" b="1" i="0">
                <a:solidFill>
                  <a:srgbClr val="142340"/>
                </a:solidFill>
                <a:latin typeface="Calibri"/>
              </a:rPr>
              <a:t>Cost-aware decisions</a:t>
            </a:r>
          </a:p>
        </p:txBody>
      </p:sp>
      <p:sp>
        <p:nvSpPr>
          <p:cNvPr id="15" name="TextBox 14"/>
          <p:cNvSpPr txBox="1"/>
          <p:nvPr/>
        </p:nvSpPr>
        <p:spPr>
          <a:xfrm>
            <a:off x="6766560" y="3401568"/>
            <a:ext cx="4846320" cy="914400"/>
          </a:xfrm>
          <a:prstGeom prst="rect">
            <a:avLst/>
          </a:prstGeom>
          <a:noFill/>
        </p:spPr>
        <p:txBody>
          <a:bodyPr wrap="square" lIns="0" rIns="0" tIns="0" bIns="0" anchor="t">
            <a:spAutoFit/>
          </a:bodyPr>
          <a:lstStyle/>
          <a:p>
            <a:pPr algn="l"/>
            <a:r>
              <a:rPr sz="1400" b="0" i="0">
                <a:solidFill>
                  <a:srgbClr val="52514E"/>
                </a:solidFill>
                <a:latin typeface="Calibri"/>
              </a:rPr>
              <a:t>Pick decision thresholds from inspection capacity and the cost of missing a destroyed building.</a:t>
            </a:r>
          </a:p>
        </p:txBody>
      </p:sp>
      <p:sp>
        <p:nvSpPr>
          <p:cNvPr id="16" name="Oval 15"/>
          <p:cNvSpPr/>
          <p:nvPr/>
        </p:nvSpPr>
        <p:spPr>
          <a:xfrm>
            <a:off x="548640" y="452628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143000" y="4480560"/>
            <a:ext cx="4846320" cy="365760"/>
          </a:xfrm>
          <a:prstGeom prst="rect">
            <a:avLst/>
          </a:prstGeom>
          <a:noFill/>
        </p:spPr>
        <p:txBody>
          <a:bodyPr wrap="square" lIns="0" rIns="0" tIns="0" bIns="0" anchor="t">
            <a:spAutoFit/>
          </a:bodyPr>
          <a:lstStyle/>
          <a:p>
            <a:pPr algn="l"/>
            <a:r>
              <a:rPr sz="1700" b="1" i="0">
                <a:solidFill>
                  <a:srgbClr val="142340"/>
                </a:solidFill>
                <a:latin typeface="Calibri"/>
              </a:rPr>
              <a:t>Probability calibration</a:t>
            </a:r>
          </a:p>
        </p:txBody>
      </p:sp>
      <p:sp>
        <p:nvSpPr>
          <p:cNvPr id="18" name="TextBox 17"/>
          <p:cNvSpPr txBox="1"/>
          <p:nvPr/>
        </p:nvSpPr>
        <p:spPr>
          <a:xfrm>
            <a:off x="1143000" y="4864608"/>
            <a:ext cx="4846320" cy="914400"/>
          </a:xfrm>
          <a:prstGeom prst="rect">
            <a:avLst/>
          </a:prstGeom>
          <a:noFill/>
        </p:spPr>
        <p:txBody>
          <a:bodyPr wrap="square" lIns="0" rIns="0" tIns="0" bIns="0" anchor="t">
            <a:spAutoFit/>
          </a:bodyPr>
          <a:lstStyle/>
          <a:p>
            <a:pPr algn="l"/>
            <a:r>
              <a:rPr sz="1400" b="0" i="0">
                <a:solidFill>
                  <a:srgbClr val="52514E"/>
                </a:solidFill>
                <a:latin typeface="Calibri"/>
              </a:rPr>
              <a:t>Check and calibrate predicted risks so that teams can trust the percentages, not only the ranking.</a:t>
            </a:r>
          </a:p>
        </p:txBody>
      </p:sp>
      <p:sp>
        <p:nvSpPr>
          <p:cNvPr id="19" name="Oval 18"/>
          <p:cNvSpPr/>
          <p:nvPr/>
        </p:nvSpPr>
        <p:spPr>
          <a:xfrm>
            <a:off x="6172200" y="4526280"/>
            <a:ext cx="420624" cy="42062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0" name="TextBox 19"/>
          <p:cNvSpPr txBox="1"/>
          <p:nvPr/>
        </p:nvSpPr>
        <p:spPr>
          <a:xfrm>
            <a:off x="6766560" y="4480560"/>
            <a:ext cx="4846320" cy="365760"/>
          </a:xfrm>
          <a:prstGeom prst="rect">
            <a:avLst/>
          </a:prstGeom>
          <a:noFill/>
        </p:spPr>
        <p:txBody>
          <a:bodyPr wrap="square" lIns="0" rIns="0" tIns="0" bIns="0" anchor="t">
            <a:spAutoFit/>
          </a:bodyPr>
          <a:lstStyle/>
          <a:p>
            <a:pPr algn="l"/>
            <a:r>
              <a:rPr sz="1700" b="1" i="0">
                <a:solidFill>
                  <a:srgbClr val="142340"/>
                </a:solidFill>
                <a:latin typeface="Calibri"/>
              </a:rPr>
              <a:t>Validate &amp; deploy</a:t>
            </a:r>
          </a:p>
        </p:txBody>
      </p:sp>
      <p:sp>
        <p:nvSpPr>
          <p:cNvPr id="21" name="TextBox 20"/>
          <p:cNvSpPr txBox="1"/>
          <p:nvPr/>
        </p:nvSpPr>
        <p:spPr>
          <a:xfrm>
            <a:off x="6766560" y="4864608"/>
            <a:ext cx="4846320" cy="914400"/>
          </a:xfrm>
          <a:prstGeom prst="rect">
            <a:avLst/>
          </a:prstGeom>
          <a:noFill/>
        </p:spPr>
        <p:txBody>
          <a:bodyPr wrap="square" lIns="0" rIns="0" tIns="0" bIns="0" anchor="t">
            <a:spAutoFit/>
          </a:bodyPr>
          <a:lstStyle/>
          <a:p>
            <a:pPr algn="l"/>
            <a:r>
              <a:rPr sz="1400" b="0" i="0">
                <a:solidFill>
                  <a:srgbClr val="52514E"/>
                </a:solidFill>
                <a:latin typeface="Calibri"/>
              </a:rPr>
              <a:t>Spatially grouped CV for unseen areas; package the final pipeline as a simple triage tool.</a:t>
            </a:r>
          </a:p>
        </p:txBody>
      </p:sp>
      <p:sp>
        <p:nvSpPr>
          <p:cNvPr id="22" name="TextBox 21"/>
          <p:cNvSpPr txBox="1"/>
          <p:nvPr/>
        </p:nvSpPr>
        <p:spPr>
          <a:xfrm>
            <a:off x="548640" y="5943600"/>
            <a:ext cx="11064240" cy="365760"/>
          </a:xfrm>
          <a:prstGeom prst="rect">
            <a:avLst/>
          </a:prstGeom>
          <a:noFill/>
        </p:spPr>
        <p:txBody>
          <a:bodyPr wrap="square" lIns="0" rIns="0" tIns="0" bIns="0" anchor="t">
            <a:spAutoFit/>
          </a:bodyPr>
          <a:lstStyle/>
          <a:p>
            <a:pPr algn="l"/>
            <a:r>
              <a:rPr sz="1600" b="1" i="0">
                <a:solidFill>
                  <a:srgbClr val="EB6834"/>
                </a:solidFill>
                <a:latin typeface="Calibri"/>
              </a:rPr>
              <a:t>Thank you. Questions are welcome.</a:t>
            </a:r>
          </a:p>
        </p:txBody>
      </p:sp>
      <p:sp>
        <p:nvSpPr>
          <p:cNvPr id="23" name="TextBox 22"/>
          <p:cNvSpPr txBox="1"/>
          <p:nvPr/>
        </p:nvSpPr>
        <p:spPr>
          <a:xfrm>
            <a:off x="548640" y="6400800"/>
            <a:ext cx="7315200" cy="228600"/>
          </a:xfrm>
          <a:prstGeom prst="rect">
            <a:avLst/>
          </a:prstGeom>
          <a:noFill/>
        </p:spPr>
        <p:txBody>
          <a:bodyPr wrap="square" lIns="0" rIns="0" tIns="0" bIns="0" anchor="t">
            <a:spAutoFit/>
          </a:bodyPr>
          <a:lstStyle/>
          <a:p>
            <a:pPr algn="l"/>
            <a:r>
              <a:rPr sz="1000" b="0" i="0">
                <a:solidFill>
                  <a:srgbClr val="8A8984"/>
                </a:solidFill>
                <a:latin typeface="Calibri"/>
              </a:rPr>
              <a:t>Group [XX]  ·  Earthquake damage prediction: logistic regression, random forest, gradient boosting</a:t>
            </a:r>
          </a:p>
        </p:txBody>
      </p:sp>
      <p:sp>
        <p:nvSpPr>
          <p:cNvPr id="24" name="TextBox 23"/>
          <p:cNvSpPr txBox="1"/>
          <p:nvPr/>
        </p:nvSpPr>
        <p:spPr>
          <a:xfrm>
            <a:off x="10881360" y="6400800"/>
            <a:ext cx="777240" cy="228600"/>
          </a:xfrm>
          <a:prstGeom prst="rect">
            <a:avLst/>
          </a:prstGeom>
          <a:noFill/>
        </p:spPr>
        <p:txBody>
          <a:bodyPr wrap="square" lIns="0" rIns="0" tIns="0" bIns="0" anchor="t">
            <a:spAutoFit/>
          </a:bodyPr>
          <a:lstStyle/>
          <a:p>
            <a:pPr algn="r"/>
            <a:r>
              <a:rPr sz="1000" b="0" i="0">
                <a:solidFill>
                  <a:srgbClr val="8A8984"/>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